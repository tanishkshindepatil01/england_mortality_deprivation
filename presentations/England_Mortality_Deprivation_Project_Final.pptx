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d2a39a382b4031" /><Relationship Type="http://schemas.openxmlformats.org/officeDocument/2006/relationships/extended-properties" Target="/docProps/app.xml" Id="R128d3a0e38eb451f" /><Relationship Type="http://schemas.openxmlformats.org/officeDocument/2006/relationships/officeDocument" Target="/ppt/presentation.xml" Id="R7953bb6515d64376" /></Relationships>
</file>

<file path=ppt/presentation.xml><?xml version="1.0" encoding="utf-8"?>
<p:presentation xmlns:p="http://schemas.openxmlformats.org/presentationml/2006/main">
  <p:sldMasterIdLst>
    <p:sldMasterId xmlns:r="http://schemas.openxmlformats.org/officeDocument/2006/relationships" id="2147483648" r:id="R0c1042a1a4f74d52"/>
  </p:sldMasterIdLst>
  <p:notesMasterIdLst>
    <p:notesMasterId xmlns:r="http://schemas.openxmlformats.org/officeDocument/2006/relationships" r:id="R6a8745b4546c4883"/>
  </p:notesMasterIdLst>
  <p:sldIdLst>
    <p:sldId xmlns:r="http://schemas.openxmlformats.org/officeDocument/2006/relationships" id="256" r:id="R31a4d48112144208"/>
    <p:sldId xmlns:r="http://schemas.openxmlformats.org/officeDocument/2006/relationships" id="257" r:id="R81cfb28d90794bdf"/>
    <p:sldId xmlns:r="http://schemas.openxmlformats.org/officeDocument/2006/relationships" id="258" r:id="R71a1942b7afc4e24"/>
    <p:sldId xmlns:r="http://schemas.openxmlformats.org/officeDocument/2006/relationships" id="259" r:id="Rb2e849bf1ddf4bf3"/>
    <p:sldId xmlns:r="http://schemas.openxmlformats.org/officeDocument/2006/relationships" id="260" r:id="Re7da5be6804342c0"/>
    <p:sldId xmlns:r="http://schemas.openxmlformats.org/officeDocument/2006/relationships" id="261" r:id="R70021e13113c4055"/>
    <p:sldId xmlns:r="http://schemas.openxmlformats.org/officeDocument/2006/relationships" id="262" r:id="R73e5a855a6874a9f"/>
    <p:sldId xmlns:r="http://schemas.openxmlformats.org/officeDocument/2006/relationships" id="263" r:id="R554b04c50a2b435b"/>
    <p:sldId xmlns:r="http://schemas.openxmlformats.org/officeDocument/2006/relationships" id="264" r:id="Rc3969f996eea4ea6"/>
    <p:sldId xmlns:r="http://schemas.openxmlformats.org/officeDocument/2006/relationships" id="265" r:id="R972deca875364f90"/>
    <p:sldId xmlns:r="http://schemas.openxmlformats.org/officeDocument/2006/relationships" id="266" r:id="Ra6dbd3c399af4458"/>
    <p:sldId xmlns:r="http://schemas.openxmlformats.org/officeDocument/2006/relationships" id="267" r:id="Re70be6d0add04453"/>
    <p:sldId xmlns:r="http://schemas.openxmlformats.org/officeDocument/2006/relationships" id="268" r:id="R276cf64efec747a8"/>
    <p:sldId xmlns:r="http://schemas.openxmlformats.org/officeDocument/2006/relationships" id="269" r:id="R62083d9001494f4e"/>
    <p:sldId xmlns:r="http://schemas.openxmlformats.org/officeDocument/2006/relationships" id="270" r:id="R6eb42fa6c39d41bf"/>
    <p:sldId xmlns:r="http://schemas.openxmlformats.org/officeDocument/2006/relationships" id="271" r:id="R09d763c7b237489a"/>
    <p:sldId xmlns:r="http://schemas.openxmlformats.org/officeDocument/2006/relationships" id="272" r:id="R6432690a15864fc5"/>
    <p:sldId xmlns:r="http://schemas.openxmlformats.org/officeDocument/2006/relationships" id="273" r:id="R032903cf2da14689"/>
    <p:sldId xmlns:r="http://schemas.openxmlformats.org/officeDocument/2006/relationships" id="274" r:id="Re27192a662e84cd1"/>
    <p:sldId xmlns:r="http://schemas.openxmlformats.org/officeDocument/2006/relationships" id="275" r:id="Rcecfdc915f3f487c"/>
    <p:sldId xmlns:r="http://schemas.openxmlformats.org/officeDocument/2006/relationships" id="276" r:id="R3d75679cc549451c"/>
    <p:sldId xmlns:r="http://schemas.openxmlformats.org/officeDocument/2006/relationships" id="277" r:id="R4ffd0c251f2c408f"/>
    <p:sldId xmlns:r="http://schemas.openxmlformats.org/officeDocument/2006/relationships" id="278" r:id="R624e4f70d6b24913"/>
    <p:sldId xmlns:r="http://schemas.openxmlformats.org/officeDocument/2006/relationships" id="279" r:id="R65d0a1e1f70c41fc"/>
    <p:sldId xmlns:r="http://schemas.openxmlformats.org/officeDocument/2006/relationships" id="280" r:id="Reaf453e3236148c0"/>
    <p:sldId xmlns:r="http://schemas.openxmlformats.org/officeDocument/2006/relationships" id="281" r:id="Rd3abf24ed3de45cb"/>
    <p:sldId xmlns:r="http://schemas.openxmlformats.org/officeDocument/2006/relationships" id="282" r:id="Re99c4620d42d44d0"/>
    <p:sldId xmlns:r="http://schemas.openxmlformats.org/officeDocument/2006/relationships" id="283" r:id="Rd5aceac0350b4b70"/>
    <p:sldId xmlns:r="http://schemas.openxmlformats.org/officeDocument/2006/relationships" id="284" r:id="Re89c36d37ca748a4"/>
    <p:sldId xmlns:r="http://schemas.openxmlformats.org/officeDocument/2006/relationships" id="285" r:id="R33b6c8b6d02d4f0d"/>
    <p:sldId xmlns:r="http://schemas.openxmlformats.org/officeDocument/2006/relationships" id="286" r:id="R27af74191dd14e5e"/>
    <p:sldId xmlns:r="http://schemas.openxmlformats.org/officeDocument/2006/relationships" id="287" r:id="R2fbdc72346be4b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88627895cef4f45" /><Relationship Type="http://schemas.openxmlformats.org/officeDocument/2006/relationships/slideMaster" Target="/ppt/slideMasters/slideMaster1.xml" Id="R0c1042a1a4f74d52" /><Relationship Type="http://schemas.openxmlformats.org/officeDocument/2006/relationships/notesMaster" Target="/ppt/notesMasters/notesMaster1.xml" Id="R6a8745b4546c4883" /><Relationship Type="http://schemas.openxmlformats.org/officeDocument/2006/relationships/presProps" Target="/ppt/presProps.xml" Id="R34a42f77dfeb4382" /><Relationship Type="http://schemas.openxmlformats.org/officeDocument/2006/relationships/viewProps" Target="/ppt/viewProps.xml" Id="R65299333647a4597" /><Relationship Type="http://schemas.openxmlformats.org/officeDocument/2006/relationships/tableStyles" Target="/ppt/tableStyles.xml" Id="Rda5eee402c624aa4" /><Relationship Type="http://schemas.openxmlformats.org/officeDocument/2006/relationships/slide" Target="/ppt/slides/slide1.xml" Id="R31a4d48112144208" /><Relationship Type="http://schemas.openxmlformats.org/officeDocument/2006/relationships/slide" Target="/ppt/slides/slide2.xml" Id="R81cfb28d90794bdf" /><Relationship Type="http://schemas.openxmlformats.org/officeDocument/2006/relationships/slide" Target="/ppt/slides/slide3.xml" Id="R71a1942b7afc4e24" /><Relationship Type="http://schemas.openxmlformats.org/officeDocument/2006/relationships/slide" Target="/ppt/slides/slide4.xml" Id="Rb2e849bf1ddf4bf3" /><Relationship Type="http://schemas.openxmlformats.org/officeDocument/2006/relationships/slide" Target="/ppt/slides/slide5.xml" Id="Re7da5be6804342c0" /><Relationship Type="http://schemas.openxmlformats.org/officeDocument/2006/relationships/slide" Target="/ppt/slides/slide6.xml" Id="R70021e13113c4055" /><Relationship Type="http://schemas.openxmlformats.org/officeDocument/2006/relationships/slide" Target="/ppt/slides/slide7.xml" Id="R73e5a855a6874a9f" /><Relationship Type="http://schemas.openxmlformats.org/officeDocument/2006/relationships/slide" Target="/ppt/slides/slide8.xml" Id="R554b04c50a2b435b" /><Relationship Type="http://schemas.openxmlformats.org/officeDocument/2006/relationships/slide" Target="/ppt/slides/slide9.xml" Id="Rc3969f996eea4ea6" /><Relationship Type="http://schemas.openxmlformats.org/officeDocument/2006/relationships/slide" Target="/ppt/slides/slide10.xml" Id="R972deca875364f90" /><Relationship Type="http://schemas.openxmlformats.org/officeDocument/2006/relationships/slide" Target="/ppt/slides/slide11.xml" Id="Ra6dbd3c399af4458" /><Relationship Type="http://schemas.openxmlformats.org/officeDocument/2006/relationships/slide" Target="/ppt/slides/slide12.xml" Id="Re70be6d0add04453" /><Relationship Type="http://schemas.openxmlformats.org/officeDocument/2006/relationships/slide" Target="/ppt/slides/slide13.xml" Id="R276cf64efec747a8" /><Relationship Type="http://schemas.openxmlformats.org/officeDocument/2006/relationships/slide" Target="/ppt/slides/slide14.xml" Id="R62083d9001494f4e" /><Relationship Type="http://schemas.openxmlformats.org/officeDocument/2006/relationships/slide" Target="/ppt/slides/slide15.xml" Id="R6eb42fa6c39d41bf" /><Relationship Type="http://schemas.openxmlformats.org/officeDocument/2006/relationships/slide" Target="/ppt/slides/slide16.xml" Id="R09d763c7b237489a" /><Relationship Type="http://schemas.openxmlformats.org/officeDocument/2006/relationships/slide" Target="/ppt/slides/slide17.xml" Id="R6432690a15864fc5" /><Relationship Type="http://schemas.openxmlformats.org/officeDocument/2006/relationships/slide" Target="/ppt/slides/slide18.xml" Id="R032903cf2da14689" /><Relationship Type="http://schemas.openxmlformats.org/officeDocument/2006/relationships/slide" Target="/ppt/slides/slide19.xml" Id="Re27192a662e84cd1" /><Relationship Type="http://schemas.openxmlformats.org/officeDocument/2006/relationships/slide" Target="/ppt/slides/slide20.xml" Id="Rcecfdc915f3f487c" /><Relationship Type="http://schemas.openxmlformats.org/officeDocument/2006/relationships/slide" Target="/ppt/slides/slide21.xml" Id="R3d75679cc549451c" /><Relationship Type="http://schemas.openxmlformats.org/officeDocument/2006/relationships/slide" Target="/ppt/slides/slide22.xml" Id="R4ffd0c251f2c408f" /><Relationship Type="http://schemas.openxmlformats.org/officeDocument/2006/relationships/slide" Target="/ppt/slides/slide23.xml" Id="R624e4f70d6b24913" /><Relationship Type="http://schemas.openxmlformats.org/officeDocument/2006/relationships/slide" Target="/ppt/slides/slide24.xml" Id="R65d0a1e1f70c41fc" /><Relationship Type="http://schemas.openxmlformats.org/officeDocument/2006/relationships/slide" Target="/ppt/slides/slide25.xml" Id="Reaf453e3236148c0" /><Relationship Type="http://schemas.openxmlformats.org/officeDocument/2006/relationships/slide" Target="/ppt/slides/slide26.xml" Id="Rd3abf24ed3de45cb" /><Relationship Type="http://schemas.openxmlformats.org/officeDocument/2006/relationships/slide" Target="/ppt/slides/slide27.xml" Id="Re99c4620d42d44d0" /><Relationship Type="http://schemas.openxmlformats.org/officeDocument/2006/relationships/slide" Target="/ppt/slides/slide28.xml" Id="Rd5aceac0350b4b70" /><Relationship Type="http://schemas.openxmlformats.org/officeDocument/2006/relationships/slide" Target="/ppt/slides/slide29.xml" Id="Re89c36d37ca748a4" /><Relationship Type="http://schemas.openxmlformats.org/officeDocument/2006/relationships/slide" Target="/ppt/slides/slide30.xml" Id="R33b6c8b6d02d4f0d" /><Relationship Type="http://schemas.openxmlformats.org/officeDocument/2006/relationships/slide" Target="/ppt/slides/slide31.xml" Id="R27af74191dd14e5e" /><Relationship Type="http://schemas.openxmlformats.org/officeDocument/2006/relationships/slide" Target="/ppt/slides/slide32.xml" Id="R2fbdc72346be4b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45d9784dc448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38a6de96994e5e" /><Relationship Type="http://schemas.openxmlformats.org/officeDocument/2006/relationships/notesMaster" Target="/ppt/notesMasters/notesMaster1.xml" Id="Rce2e11921c654f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7583de3b824720" /><Relationship Type="http://schemas.openxmlformats.org/officeDocument/2006/relationships/notesMaster" Target="/ppt/notesMasters/notesMaster1.xml" Id="Rca969de4b71c49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ae4565719c4036" /><Relationship Type="http://schemas.openxmlformats.org/officeDocument/2006/relationships/notesMaster" Target="/ppt/notesMasters/notesMaster1.xml" Id="Re83fec1fe25a40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259e2073864c94" /><Relationship Type="http://schemas.openxmlformats.org/officeDocument/2006/relationships/notesMaster" Target="/ppt/notesMasters/notesMaster1.xml" Id="R673111f1415344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bd1d41669c4fca" /><Relationship Type="http://schemas.openxmlformats.org/officeDocument/2006/relationships/notesMaster" Target="/ppt/notesMasters/notesMaster1.xml" Id="R18b52e185fc045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c7a809436a4c80" /><Relationship Type="http://schemas.openxmlformats.org/officeDocument/2006/relationships/notesMaster" Target="/ppt/notesMasters/notesMaster1.xml" Id="Rad218854817f46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0dc8d4ff4c496a" /><Relationship Type="http://schemas.openxmlformats.org/officeDocument/2006/relationships/notesMaster" Target="/ppt/notesMasters/notesMaster1.xml" Id="R21228c909df84d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1d28558c5c49d4" /><Relationship Type="http://schemas.openxmlformats.org/officeDocument/2006/relationships/notesMaster" Target="/ppt/notesMasters/notesMaster1.xml" Id="R130860ffddf24d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4a7b62fa3c4863" /><Relationship Type="http://schemas.openxmlformats.org/officeDocument/2006/relationships/notesMaster" Target="/ppt/notesMasters/notesMaster1.xml" Id="R18c158fb6a6647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a03a84184a4964" /><Relationship Type="http://schemas.openxmlformats.org/officeDocument/2006/relationships/notesMaster" Target="/ppt/notesMasters/notesMaster1.xml" Id="R9710841efaeb4f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1c7b8418774bbd" /><Relationship Type="http://schemas.openxmlformats.org/officeDocument/2006/relationships/notesMaster" Target="/ppt/notesMasters/notesMaster1.xml" Id="R9db6c720e2f24e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7500fa85084da0" /><Relationship Type="http://schemas.openxmlformats.org/officeDocument/2006/relationships/notesMaster" Target="/ppt/notesMasters/notesMaster1.xml" Id="Rce19faeb747c46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7f06d7b44049a7" /><Relationship Type="http://schemas.openxmlformats.org/officeDocument/2006/relationships/notesMaster" Target="/ppt/notesMasters/notesMaster1.xml" Id="Rb9fe7408714d45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0d5b0491a940c4" /><Relationship Type="http://schemas.openxmlformats.org/officeDocument/2006/relationships/notesMaster" Target="/ppt/notesMasters/notesMaster1.xml" Id="R57a492da07534a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7ba095f1784ad2" /><Relationship Type="http://schemas.openxmlformats.org/officeDocument/2006/relationships/notesMaster" Target="/ppt/notesMasters/notesMaster1.xml" Id="Rd49a16c97c224d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2fca2355804a24" /><Relationship Type="http://schemas.openxmlformats.org/officeDocument/2006/relationships/notesMaster" Target="/ppt/notesMasters/notesMaster1.xml" Id="R64dc20493d1a41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6685caf40d44e5" /><Relationship Type="http://schemas.openxmlformats.org/officeDocument/2006/relationships/notesMaster" Target="/ppt/notesMasters/notesMaster1.xml" Id="R62108291f81541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74f9c566354258" /><Relationship Type="http://schemas.openxmlformats.org/officeDocument/2006/relationships/notesMaster" Target="/ppt/notesMasters/notesMaster1.xml" Id="R1cda0cbca30846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cbcdafb91e47d6" /><Relationship Type="http://schemas.openxmlformats.org/officeDocument/2006/relationships/notesMaster" Target="/ppt/notesMasters/notesMaster1.xml" Id="R65163484fa1f46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292a41388b4935" /><Relationship Type="http://schemas.openxmlformats.org/officeDocument/2006/relationships/notesMaster" Target="/ppt/notesMasters/notesMaster1.xml" Id="R8f480c9908eb46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320f8c16414643" /><Relationship Type="http://schemas.openxmlformats.org/officeDocument/2006/relationships/notesMaster" Target="/ppt/notesMasters/notesMaster1.xml" Id="R2f8dd87b9f6441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c1afd32c234857" /><Relationship Type="http://schemas.openxmlformats.org/officeDocument/2006/relationships/notesMaster" Target="/ppt/notesMasters/notesMaster1.xml" Id="Rd7df952c08c3427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98f9f9bf30642ce" /><Relationship Type="http://schemas.openxmlformats.org/officeDocument/2006/relationships/notesMaster" Target="/ppt/notesMasters/notesMaster1.xml" Id="Rc5e54086c86041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92ca194a5341ee" /><Relationship Type="http://schemas.openxmlformats.org/officeDocument/2006/relationships/notesMaster" Target="/ppt/notesMasters/notesMaster1.xml" Id="R48073fdf7c9f4d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f3959e2c88c4eed" /><Relationship Type="http://schemas.openxmlformats.org/officeDocument/2006/relationships/notesMaster" Target="/ppt/notesMasters/notesMaster1.xml" Id="Ra0fa7c6c9c4c438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f1446b290ab4074" /><Relationship Type="http://schemas.openxmlformats.org/officeDocument/2006/relationships/notesMaster" Target="/ppt/notesMasters/notesMaster1.xml" Id="R2be72f0d01e5440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9eca19d00284c87" /><Relationship Type="http://schemas.openxmlformats.org/officeDocument/2006/relationships/notesMaster" Target="/ppt/notesMasters/notesMaster1.xml" Id="R1779180b0bd746c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1edcffe7c74a12" /><Relationship Type="http://schemas.openxmlformats.org/officeDocument/2006/relationships/notesMaster" Target="/ppt/notesMasters/notesMaster1.xml" Id="Rda296495e990429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8682f8dda844ccf" /><Relationship Type="http://schemas.openxmlformats.org/officeDocument/2006/relationships/notesMaster" Target="/ppt/notesMasters/notesMaster1.xml" Id="Rbad3acf6327247f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d3a0533c8d43a1" /><Relationship Type="http://schemas.openxmlformats.org/officeDocument/2006/relationships/notesMaster" Target="/ppt/notesMasters/notesMaster1.xml" Id="Ref44bd1e744f448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8943b0caae24491" /><Relationship Type="http://schemas.openxmlformats.org/officeDocument/2006/relationships/notesMaster" Target="/ppt/notesMasters/notesMaster1.xml" Id="R926ec2e2180740d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330b02f7be04041" /><Relationship Type="http://schemas.openxmlformats.org/officeDocument/2006/relationships/notesMaster" Target="/ppt/notesMasters/notesMaster1.xml" Id="R5ff64a8dd35b45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project presentation based on five supplied CSV extracts, fourteen worksheet images and four dashboard images. Design reference: Global_Finance_Operations_Analytics(1).pptx.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indicator_definitions(1).csv, mortality_trends(1).csv and supplied dashboard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Calculations from mortality_trends(1).csv and deprivation_inequality(1).csv. Q1 n=47, Q5 n=51. All rates in final row per 1,000.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data_quality_summary(1).csv and schemas of the supplied analytical CSVs. This describes the evidenced data flow, without asserting an unseen notebook or SQL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complete supplied CSVs. Row counts exclude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indicator_definitions(1).csv. Formal Fingertips definitions were not supplied. Values rounded to two decimals.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local_authority_comparison(1).csv, grouped by IndicatorID. UA and District are supplied AreaType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data_quality_summary(1).csv. Recalculation from local_authority_comparison(1).csv confirms 45 missing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National Mortality Trends(1).png. The trend panel shows neonatal mortality. The other three panels show infant mortality.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S1 - England Mortality Trend(1).png. Source: mortality_trends(1).csv, IndicatorID 92705. Changes use unrounded values. Overlapping periods are not independent annual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S2 - Latest England KPI(1).png and indicator_definitions(1).csv, IndicatorID 92196. The screenshot CI of 4.08–4.27 differs from the CSV interval of 4.069859–4.264029. This presentation uses the supplied CSV for numerical interpretation and retains the original image as visual evidence. The exact cause of the discrepancy cannot be determined from supplied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S3 - Mortality Change(1).png. Source: mortality_trends(1).csv, IndicatorID 92196. Percentage change = (latest / earliest − 1) × 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S4 - Mortality Uncertainty(1).png. Source: mortality_trends(1).csv, IndicatorID 92196. RecentTrend at the latest period is Cannot be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mortality_trends(1).csv. Full-period relative changes use unrounded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Authority Comparison(1).png. Infant mortality, 2022–24. Rankings require confidence intervals and official comparison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S5 - Local Authority Ranking(1).png and local_authority_comparison(1).csv, IndicatorID 92196. The full source ranking is preserved at left. Selected highest values appear in the editable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S6 - Difference from England(1).png. Source: local_authority_comparison(1).csv. DifferenceFromEngland preserves rate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S7 - England Comparison Summary(1).png. Source: local_authority_comparison(1).csv, IndicatorID 92196, ComparedToEngland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S8 - Local Authority Confidence Intervals(1).png. Source: local_authority_comparison(1).csv, IndicatorID 92196. Screenshot uses selected authorities.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Deprivation &amp; Mortality Inequality(1).png. Infant mortality, 2022–24, linked to IMD 2019. Area associations do not establish causation.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S9 - Mortality vs Deprivation(1).png. Source: deprivation_inequality(1).csv and S9 image. Child population weighting refers to ages 0–15 in 2015. Mortality refers to infants in 2022–24.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S10 - Mortality by Deprivation Quintile(1).png. Source: deprivation_inequality(1).csv. Group means reproduce S10 to three decimals: 3.374, 3.574, 3.777, 4.318, 5.096.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deprivation_inequality(1).csv, IndicatorID 92196. Group counts restrict to nonmissing Value and assigned quintile.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S11 - Child Deprivation Exposure(1).png. Source: deprivation_inequality(1).csv, PctChildrenInMostDeprived20pctIDACILSOAs. LSOA = Lower-layer Super Output Area. IDACI = Income Deprivation Affecting Children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S12 - Priority Matrix(1).png. Source: S12 - Priority Matrix(1).png. The horizontal line lies near 3.9 rather than the England infant rate of 4.166. No validated risk score or intervention effect is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 Quality &amp; Methodology(1).png. Suppressed values remain missing. Nomis validates population coverage while Fingertips supplies mortality.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S13 - Data Quality Status(1).png. Source: data_quality_summary(1).csv. The seven unmatched names are Buckinghamshire UA, Cumberland, North Northamptonshire, North Yorkshire UA, Somerset UA, West Northamptonshire, Westmorland and Furness.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S14 - Indicator Definitions(1).png. Source: indicator_definitions(1).csv and S14 - Indicator Definitions(1).png.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CSV fields, metadata notes and dashboard exports. No causal model, forecast or intervention evaluation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derive from the limitations observed in supplied data. The current evidence does not identify causes or establish effectiveness of any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mortality_trends(1).csv, local_authority_comparison(1).csv and deprivation_inequality(1).csv.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numerical claims come from the supplied extracts. No external data refresh. Derived percentage change = (latest / earliest − 1) × 100. Quintile means use available local rates with assigned quintiles and no population weighting.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95a6eede764a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fae022f7b14efe" /><Relationship Type="http://schemas.openxmlformats.org/officeDocument/2006/relationships/slideLayout" Target="/ppt/slideLayouts/slideLayout1.xml" Id="R776f244d853541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6f244d853541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48cc88d341429c" /><Relationship Type="http://schemas.openxmlformats.org/officeDocument/2006/relationships/notesSlide" Target="/ppt/notesSlides/notesSlide1.xml" Id="R20aab8e50d1d46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20297c823045bc" /><Relationship Type="http://schemas.openxmlformats.org/officeDocument/2006/relationships/notesSlide" Target="/ppt/notesSlides/notesSlide2.xml" Id="R8e3f61c4555842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d94cc5cd8a43e6" /><Relationship Type="http://schemas.openxmlformats.org/officeDocument/2006/relationships/notesSlide" Target="/ppt/notesSlides/notesSlide3.xml" Id="Rf5a8cb89a22b49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5a0d9297e84f40" /><Relationship Type="http://schemas.openxmlformats.org/officeDocument/2006/relationships/notesSlide" Target="/ppt/notesSlides/notesSlide4.xml" Id="R3226ed13acf644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5b8f7dab2f4041" /><Relationship Type="http://schemas.openxmlformats.org/officeDocument/2006/relationships/notesSlide" Target="/ppt/notesSlides/notesSlide5.xml" Id="R7a08e18624cf40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05ed0bebb34528" /><Relationship Type="http://schemas.openxmlformats.org/officeDocument/2006/relationships/notesSlide" Target="/ppt/notesSlides/notesSlide6.xml" Id="R86ed12916fbc45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23db947cc947aa" /><Relationship Type="http://schemas.openxmlformats.org/officeDocument/2006/relationships/notesSlide" Target="/ppt/notesSlides/notesSlide7.xml" Id="Rf580ad060a164a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85b11b7a8440c8" /><Relationship Type="http://schemas.openxmlformats.org/officeDocument/2006/relationships/notesSlide" Target="/ppt/notesSlides/notesSlide8.xml" Id="Ra38e6b76840c4b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b099e7a41ac421d" /><Relationship Type="http://schemas.openxmlformats.org/officeDocument/2006/relationships/image" Target="/ppt/media/image.png" Id="R702ddae4b7b34195" /><Relationship Type="http://schemas.openxmlformats.org/officeDocument/2006/relationships/notesSlide" Target="/ppt/notesSlides/notesSlide9.xml" Id="R2da7966ca61844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46704133924e50" /><Relationship Type="http://schemas.openxmlformats.org/officeDocument/2006/relationships/image" Target="/ppt/media/image2.png" Id="Rac72aec618aa46c1" /><Relationship Type="http://schemas.openxmlformats.org/officeDocument/2006/relationships/notesSlide" Target="/ppt/notesSlides/notesSlide10.xml" Id="R53cab8b2d2414b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28adeb1b3040ef" /><Relationship Type="http://schemas.openxmlformats.org/officeDocument/2006/relationships/image" Target="/ppt/media/image3.png" Id="Rc256ec95a8d04689" /><Relationship Type="http://schemas.openxmlformats.org/officeDocument/2006/relationships/notesSlide" Target="/ppt/notesSlides/notesSlide11.xml" Id="Raa1898b117d74b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1a8ab8e1324d78" /><Relationship Type="http://schemas.openxmlformats.org/officeDocument/2006/relationships/image" Target="/ppt/media/image4.png" Id="R20250c68a447404f" /><Relationship Type="http://schemas.openxmlformats.org/officeDocument/2006/relationships/notesSlide" Target="/ppt/notesSlides/notesSlide12.xml" Id="R6e22e76c42d34f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eb7e8ef987648d8" /><Relationship Type="http://schemas.openxmlformats.org/officeDocument/2006/relationships/image" Target="/ppt/media/image5.png" Id="R3f0a87b8cefd4ad1" /><Relationship Type="http://schemas.openxmlformats.org/officeDocument/2006/relationships/notesSlide" Target="/ppt/notesSlides/notesSlide13.xml" Id="Rdd91b5f4fddf47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e7693fd2c794450" /><Relationship Type="http://schemas.openxmlformats.org/officeDocument/2006/relationships/notesSlide" Target="/ppt/notesSlides/notesSlide14.xml" Id="Rf9be701cd63941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6c008493a45419f" /><Relationship Type="http://schemas.openxmlformats.org/officeDocument/2006/relationships/image" Target="/ppt/media/image6.png" Id="R30503aa5b4be47cb" /><Relationship Type="http://schemas.openxmlformats.org/officeDocument/2006/relationships/notesSlide" Target="/ppt/notesSlides/notesSlide15.xml" Id="Rc02dc408fb3b4e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44861beeb8e4497" /><Relationship Type="http://schemas.openxmlformats.org/officeDocument/2006/relationships/image" Target="/ppt/media/image7.png" Id="Rda53d419b3f14fa3" /><Relationship Type="http://schemas.openxmlformats.org/officeDocument/2006/relationships/notesSlide" Target="/ppt/notesSlides/notesSlide16.xml" Id="R1b24f83054d147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02b583919a457e" /><Relationship Type="http://schemas.openxmlformats.org/officeDocument/2006/relationships/image" Target="/ppt/media/image8.png" Id="Rd13391f6c451480a" /><Relationship Type="http://schemas.openxmlformats.org/officeDocument/2006/relationships/notesSlide" Target="/ppt/notesSlides/notesSlide17.xml" Id="R69af788ca27949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76b9982abf5455d" /><Relationship Type="http://schemas.openxmlformats.org/officeDocument/2006/relationships/image" Target="/ppt/media/image9.png" Id="R3f90e5c589784dce" /><Relationship Type="http://schemas.openxmlformats.org/officeDocument/2006/relationships/notesSlide" Target="/ppt/notesSlides/notesSlide18.xml" Id="R7837f593f79746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dbf5477d3364fd1" /><Relationship Type="http://schemas.openxmlformats.org/officeDocument/2006/relationships/image" Target="/ppt/media/image10.png" Id="R5fad258e408342ee" /><Relationship Type="http://schemas.openxmlformats.org/officeDocument/2006/relationships/notesSlide" Target="/ppt/notesSlides/notesSlide19.xml" Id="R1569713df4144d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3e8c5571f8f419b" /><Relationship Type="http://schemas.openxmlformats.org/officeDocument/2006/relationships/image" Target="/ppt/media/image11.png" Id="Rbe465cba02984ae2" /><Relationship Type="http://schemas.openxmlformats.org/officeDocument/2006/relationships/notesSlide" Target="/ppt/notesSlides/notesSlide20.xml" Id="R7bd3ec00be7b43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62a0abce35447cc" /><Relationship Type="http://schemas.openxmlformats.org/officeDocument/2006/relationships/image" Target="/ppt/media/image12.png" Id="R364dd9028c884856" /><Relationship Type="http://schemas.openxmlformats.org/officeDocument/2006/relationships/notesSlide" Target="/ppt/notesSlides/notesSlide21.xml" Id="Rbe5dcf90d2a445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48d9a7a6797410d" /><Relationship Type="http://schemas.openxmlformats.org/officeDocument/2006/relationships/image" Target="/ppt/media/image13.png" Id="Re6cf7313130447cb" /><Relationship Type="http://schemas.openxmlformats.org/officeDocument/2006/relationships/notesSlide" Target="/ppt/notesSlides/notesSlide22.xml" Id="R1f9973e8ab73429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13041664fe04a12" /><Relationship Type="http://schemas.openxmlformats.org/officeDocument/2006/relationships/notesSlide" Target="/ppt/notesSlides/notesSlide23.xml" Id="Rb08b8273c18e47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a74ca9e5e184a64" /><Relationship Type="http://schemas.openxmlformats.org/officeDocument/2006/relationships/image" Target="/ppt/media/image14.png" Id="Rde809b6a480d4cfe" /><Relationship Type="http://schemas.openxmlformats.org/officeDocument/2006/relationships/notesSlide" Target="/ppt/notesSlides/notesSlide24.xml" Id="Rd1acb831f802468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8f635e9b65f4301" /><Relationship Type="http://schemas.openxmlformats.org/officeDocument/2006/relationships/image" Target="/ppt/media/image15.png" Id="Rf829d1e87ab84e6e" /><Relationship Type="http://schemas.openxmlformats.org/officeDocument/2006/relationships/notesSlide" Target="/ppt/notesSlides/notesSlide25.xml" Id="Rb25f86f295084a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2034ccdc49f404e" /><Relationship Type="http://schemas.openxmlformats.org/officeDocument/2006/relationships/image" Target="/ppt/media/image16.png" Id="Rb84547f29dd04696" /><Relationship Type="http://schemas.openxmlformats.org/officeDocument/2006/relationships/notesSlide" Target="/ppt/notesSlides/notesSlide26.xml" Id="Rd4fb75e518fb422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e8aa50c57d34600" /><Relationship Type="http://schemas.openxmlformats.org/officeDocument/2006/relationships/image" Target="/ppt/media/image17.png" Id="R68b5f2213f5d4e7a" /><Relationship Type="http://schemas.openxmlformats.org/officeDocument/2006/relationships/notesSlide" Target="/ppt/notesSlides/notesSlide27.xml" Id="R24a2788305584d7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9f50e5618b24bb1" /><Relationship Type="http://schemas.openxmlformats.org/officeDocument/2006/relationships/image" Target="/ppt/media/image18.png" Id="Rb08de43866dd4714" /><Relationship Type="http://schemas.openxmlformats.org/officeDocument/2006/relationships/notesSlide" Target="/ppt/notesSlides/notesSlide28.xml" Id="Rde86609ffb56446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e8e7909279044d0" /><Relationship Type="http://schemas.openxmlformats.org/officeDocument/2006/relationships/notesSlide" Target="/ppt/notesSlides/notesSlide29.xml" Id="R22193823b9804ce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5807211d35640c6" /><Relationship Type="http://schemas.openxmlformats.org/officeDocument/2006/relationships/notesSlide" Target="/ppt/notesSlides/notesSlide30.xml" Id="Rb40ccd9a1831472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6f8808fb38648a5" /><Relationship Type="http://schemas.openxmlformats.org/officeDocument/2006/relationships/notesSlide" Target="/ppt/notesSlides/notesSlide31.xml" Id="R8664ac1638924e0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8abd631cd274dfe" /><Relationship Type="http://schemas.openxmlformats.org/officeDocument/2006/relationships/notesSlide" Target="/ppt/notesSlides/notesSlide32.xml" Id="Rb12a0fa92c154b6b" /></Relationships>
</file>

<file path=ppt/slides/slide1.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E7BB4B50-12B6-484F-93F7-D99DB5DE1C0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AA409E40-842B-4FE7-9D8B-1C760360F17D}"/>
              </a:ext>
            </a:extLst>
          </p:cNvPr>
          <p:cNvSpPr>
            <a:spLocks xmlns:a="http://schemas.openxmlformats.org/drawingml/2006/main" noGrp="1"/>
          </p:cNvSpPr>
          <p:nvPr/>
        </p:nvSpPr>
        <p:spPr>
          <a:xfrm xmlns:a="http://schemas.openxmlformats.org/drawingml/2006/main">
            <a:off x="9048750" y="323850"/>
            <a:ext cx="2571750" cy="2571750"/>
          </a:xfrm>
          <a:prstGeom xmlns:a="http://schemas.openxmlformats.org/drawingml/2006/main" prst="ellipse">
            <a:avLst/>
          </a:prstGeom>
          <a:solidFill xmlns:a="http://schemas.openxmlformats.org/drawingml/2006/main">
            <a:srgbClr val="FFE0C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3F5EF6DB-A4BD-4EF3-9529-B6BDAE397335}"/>
              </a:ext>
            </a:extLst>
          </p:cNvPr>
          <p:cNvSpPr>
            <a:spLocks xmlns:a="http://schemas.openxmlformats.org/drawingml/2006/main" noGrp="1"/>
          </p:cNvSpPr>
          <p:nvPr/>
        </p:nvSpPr>
        <p:spPr>
          <a:xfrm xmlns:a="http://schemas.openxmlformats.org/drawingml/2006/main">
            <a:off x="9810750" y="1028700"/>
            <a:ext cx="1619250" cy="1619250"/>
          </a:xfrm>
          <a:prstGeom xmlns:a="http://schemas.openxmlformats.org/drawingml/2006/main" prst="ellipse">
            <a:avLst/>
          </a:prstGeom>
          <a:solidFill xmlns:a="http://schemas.openxmlformats.org/drawingml/2006/main">
            <a:srgbClr val="FDBA7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22EDA3E-8077-4A4B-88A9-9C4CB7781697}"/>
              </a:ext>
            </a:extLst>
          </p:cNvPr>
          <p:cNvSpPr>
            <a:spLocks xmlns:a="http://schemas.openxmlformats.org/drawingml/2006/main" noGrp="1"/>
          </p:cNvSpPr>
          <p:nvPr/>
        </p:nvSpPr>
        <p:spPr>
          <a:xfrm xmlns:a="http://schemas.openxmlformats.org/drawingml/2006/main">
            <a:off x="762000" y="952500"/>
            <a:ext cx="942975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5775" b="1" i="0">
                <a:solidFill>
                  <a:srgbClr val="262626"/>
                </a:solidFill>
                <a:latin typeface="Calibri"/>
                <a:ea typeface="Calibri"/>
                <a:cs typeface="Calibri"/>
              </a:defRPr>
            </a:pPr>
            <a:r>
              <a:rPr sz="5775" b="1" i="0">
                <a:solidFill>
                  <a:srgbClr val="262626"/>
                </a:solidFill>
                <a:latin typeface="Calibri"/>
                <a:ea typeface="Calibri"/>
                <a:cs typeface="Calibri"/>
              </a:rPr>
              <a:t>ENGLAND</a:t>
            </a:r>
          </a:p>
          <a:p xmlns:a="http://schemas.openxmlformats.org/drawingml/2006/main">
            <a:pPr>
              <a:buNone/>
              <a:defRPr sz="5775" b="1" i="0">
                <a:solidFill>
                  <a:srgbClr val="262626"/>
                </a:solidFill>
                <a:latin typeface="Calibri"/>
                <a:ea typeface="Calibri"/>
                <a:cs typeface="Calibri"/>
              </a:defRPr>
            </a:pPr>
            <a:r>
              <a:rPr sz="5775" b="1" i="0">
                <a:solidFill>
                  <a:srgbClr val="262626"/>
                </a:solidFill>
                <a:latin typeface="Calibri"/>
                <a:ea typeface="Calibri"/>
                <a:cs typeface="Calibri"/>
              </a:rPr>
              <a:t>MORTALITY &amp;</a:t>
            </a:r>
          </a:p>
          <a:p xmlns:a="http://schemas.openxmlformats.org/drawingml/2006/main">
            <a:pPr>
              <a:buNone/>
              <a:defRPr sz="5775" b="1" i="0">
                <a:solidFill>
                  <a:srgbClr val="262626"/>
                </a:solidFill>
                <a:latin typeface="Calibri"/>
                <a:ea typeface="Calibri"/>
                <a:cs typeface="Calibri"/>
              </a:defRPr>
            </a:pPr>
            <a:r>
              <a:rPr sz="5775" b="1" i="0">
                <a:solidFill>
                  <a:srgbClr val="262626"/>
                </a:solidFill>
                <a:latin typeface="Calibri"/>
                <a:ea typeface="Calibri"/>
                <a:cs typeface="Calibri"/>
              </a:rPr>
              <a:t>DEPRIVATION</a:t>
            </a:r>
          </a:p>
          <a:p xmlns:a="http://schemas.openxmlformats.org/drawingml/2006/main">
            <a:pPr>
              <a:buNone/>
              <a:defRPr sz="5775" b="1" i="0">
                <a:solidFill>
                  <a:srgbClr val="262626"/>
                </a:solidFill>
                <a:latin typeface="Calibri"/>
                <a:ea typeface="Calibri"/>
                <a:cs typeface="Calibri"/>
              </a:defRPr>
            </a:pPr>
            <a:r>
              <a:rPr sz="5775" b="1" i="0">
                <a:solidFill>
                  <a:srgbClr val="262626"/>
                </a:solidFill>
                <a:latin typeface="Calibri"/>
                <a:ea typeface="Calibri"/>
                <a:cs typeface="Calibri"/>
              </a:rPr>
              <a:t>ANALYTICS</a:t>
            </a:r>
          </a:p>
        </p:txBody>
      </p:sp>
      <p:sp>
        <p:nvSpPr>
          <p:cNvPr id="6" name="">
            <a:extLst xmlns:a="http://schemas.openxmlformats.org/drawingml/2006/main">
              <a:ext uri="{FF2B5EF4-FFF2-40B4-BE49-F238E27FC236}">
                <a16:creationId xmlns:a16="http://schemas.microsoft.com/office/drawing/2014/main" id="{36C5A52D-4579-4E2E-B8E8-13C59FBCAA76}"/>
              </a:ext>
            </a:extLst>
          </p:cNvPr>
          <p:cNvSpPr>
            <a:spLocks xmlns:a="http://schemas.openxmlformats.org/drawingml/2006/main" noGrp="1"/>
          </p:cNvSpPr>
          <p:nvPr/>
        </p:nvSpPr>
        <p:spPr>
          <a:xfrm xmlns:a="http://schemas.openxmlformats.org/drawingml/2006/main">
            <a:off x="781050" y="55149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626262"/>
                </a:solidFill>
                <a:latin typeface="Calibri"/>
                <a:ea typeface="Calibri"/>
                <a:cs typeface="Calibri"/>
              </a:defRPr>
            </a:pPr>
            <a:r>
              <a:rPr sz="1875" b="0">
                <a:solidFill>
                  <a:srgbClr val="626262"/>
                </a:solidFill>
                <a:latin typeface="Calibri"/>
                <a:ea typeface="Calibri"/>
                <a:cs typeface="Calibri"/>
              </a:rPr>
              <a:t>National trends and local inequalities, 2001–03 to 2022–24</a:t>
            </a:r>
          </a:p>
        </p:txBody>
      </p:sp>
      <p:sp>
        <p:nvSpPr>
          <p:cNvPr id="7" name="">
            <a:extLst xmlns:a="http://schemas.openxmlformats.org/drawingml/2006/main">
              <a:ext uri="{FF2B5EF4-FFF2-40B4-BE49-F238E27FC236}">
                <a16:creationId xmlns:a16="http://schemas.microsoft.com/office/drawing/2014/main" id="{6A0E73BA-AA6E-445F-8085-697C4F9BE476}"/>
              </a:ext>
            </a:extLst>
          </p:cNvPr>
          <p:cNvSpPr>
            <a:spLocks xmlns:a="http://schemas.openxmlformats.org/drawingml/2006/main" noGrp="1"/>
          </p:cNvSpPr>
          <p:nvPr/>
        </p:nvSpPr>
        <p:spPr>
          <a:xfrm xmlns:a="http://schemas.openxmlformats.org/drawingml/2006/main">
            <a:off x="781050" y="6048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B54D13"/>
                </a:solidFill>
                <a:latin typeface="Calibri"/>
                <a:ea typeface="Calibri"/>
                <a:cs typeface="Calibri"/>
              </a:defRPr>
            </a:pPr>
            <a:r>
              <a:rPr sz="1575" b="0">
                <a:solidFill>
                  <a:srgbClr val="B54D13"/>
                </a:solidFill>
                <a:latin typeface="Calibri"/>
                <a:ea typeface="Calibri"/>
                <a:cs typeface="Calibri"/>
              </a:rPr>
              <a:t>Tanishk Nanasaheb Shinde</a:t>
            </a:r>
          </a:p>
        </p:txBody>
      </p:sp>
    </p:spTree>
    <p:extLst>
      <p:ext uri="{BB962C8B-B14F-4D97-AF65-F5344CB8AC3E}">
        <p14:creationId xmlns:p14="http://schemas.microsoft.com/office/powerpoint/2010/main" val="1956025065"/>
      </p:ext>
    </p:extLst>
  </p:cSld>
</p:sld>
</file>

<file path=ppt/slides/slide2.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Project overview</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OVERVIEW</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02</a:t>
            </a:r>
          </a:p>
        </p:txBody>
      </p:sp>
      <p:sp>
        <p:nvSpPr>
          <p:cNvPr id="16" name="">
            <a:extLst xmlns:a="http://schemas.openxmlformats.org/drawingml/2006/main">
              <a:ext uri="{FF2B5EF4-FFF2-40B4-BE49-F238E27FC236}">
                <a16:creationId xmlns:a16="http://schemas.microsoft.com/office/drawing/2014/main" id="{032631EE-0ECD-46BF-897B-733BF6B1C7E3}"/>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Objective</a:t>
            </a:r>
          </a:p>
        </p:txBody>
      </p:sp>
      <p:sp>
        <p:nvSpPr>
          <p:cNvPr id="17" name="">
            <a:extLst xmlns:a="http://schemas.openxmlformats.org/drawingml/2006/main">
              <a:ext uri="{FF2B5EF4-FFF2-40B4-BE49-F238E27FC236}">
                <a16:creationId xmlns:a16="http://schemas.microsoft.com/office/drawing/2014/main" id="{1BDA63E1-78D8-445C-8514-B448FC9153FD}"/>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Describe changes in England mortality and compare local outcomes with deprivation and the national benchmark.</a:t>
            </a:r>
          </a:p>
        </p:txBody>
      </p:sp>
      <p:sp>
        <p:nvSpPr>
          <p:cNvPr id="18" name="">
            <a:extLst xmlns:a="http://schemas.openxmlformats.org/drawingml/2006/main">
              <a:ext uri="{FF2B5EF4-FFF2-40B4-BE49-F238E27FC236}">
                <a16:creationId xmlns:a16="http://schemas.microsoft.com/office/drawing/2014/main" id="{B33A5B84-726C-4D7A-9DF1-28520C3E75AB}"/>
              </a:ext>
            </a:extLst>
          </p:cNvPr>
          <p:cNvSpPr>
            <a:spLocks xmlns:a="http://schemas.openxmlformats.org/drawingml/2006/main" noGrp="1"/>
          </p:cNvSpPr>
          <p:nvPr/>
        </p:nvSpPr>
        <p:spPr>
          <a:xfrm xmlns:a="http://schemas.openxmlformats.org/drawingml/2006/main">
            <a:off x="704850" y="2514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Scope</a:t>
            </a:r>
          </a:p>
        </p:txBody>
      </p:sp>
      <p:sp>
        <p:nvSpPr>
          <p:cNvPr id="19" name="">
            <a:extLst xmlns:a="http://schemas.openxmlformats.org/drawingml/2006/main">
              <a:ext uri="{FF2B5EF4-FFF2-40B4-BE49-F238E27FC236}">
                <a16:creationId xmlns:a16="http://schemas.microsoft.com/office/drawing/2014/main" id="{2361E001-239F-4E0F-B800-B22E50A07894}"/>
              </a:ext>
            </a:extLst>
          </p:cNvPr>
          <p:cNvSpPr>
            <a:spLocks xmlns:a="http://schemas.openxmlformats.org/drawingml/2006/main" noGrp="1"/>
          </p:cNvSpPr>
          <p:nvPr/>
        </p:nvSpPr>
        <p:spPr>
          <a:xfrm xmlns:a="http://schemas.openxmlformats.org/drawingml/2006/main">
            <a:off x="3143250" y="2514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Five mortality indicators across 22 rolling periods. Local comparisons use the latest period, 2022–24.</a:t>
            </a:r>
          </a:p>
        </p:txBody>
      </p:sp>
      <p:sp>
        <p:nvSpPr>
          <p:cNvPr id="20" name="">
            <a:extLst xmlns:a="http://schemas.openxmlformats.org/drawingml/2006/main">
              <a:ext uri="{FF2B5EF4-FFF2-40B4-BE49-F238E27FC236}">
                <a16:creationId xmlns:a16="http://schemas.microsoft.com/office/drawing/2014/main" id="{2B3063B3-B987-4CAB-A29D-1706604F149E}"/>
              </a:ext>
            </a:extLst>
          </p:cNvPr>
          <p:cNvSpPr>
            <a:spLocks xmlns:a="http://schemas.openxmlformats.org/drawingml/2006/main" noGrp="1"/>
          </p:cNvSpPr>
          <p:nvPr/>
        </p:nvSpPr>
        <p:spPr>
          <a:xfrm xmlns:a="http://schemas.openxmlformats.org/drawingml/2006/main">
            <a:off x="704850" y="38862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Deliverables</a:t>
            </a:r>
          </a:p>
        </p:txBody>
      </p:sp>
      <p:sp>
        <p:nvSpPr>
          <p:cNvPr id="21" name="">
            <a:extLst xmlns:a="http://schemas.openxmlformats.org/drawingml/2006/main">
              <a:ext uri="{FF2B5EF4-FFF2-40B4-BE49-F238E27FC236}">
                <a16:creationId xmlns:a16="http://schemas.microsoft.com/office/drawing/2014/main" id="{FC38467E-1E49-41D1-8FE9-D04B037716D0}"/>
              </a:ext>
            </a:extLst>
          </p:cNvPr>
          <p:cNvSpPr>
            <a:spLocks xmlns:a="http://schemas.openxmlformats.org/drawingml/2006/main" noGrp="1"/>
          </p:cNvSpPr>
          <p:nvPr/>
        </p:nvSpPr>
        <p:spPr>
          <a:xfrm xmlns:a="http://schemas.openxmlformats.org/drawingml/2006/main">
            <a:off x="3143250" y="38862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Five analytical CSVs support fourteen Tableau worksheets and four dashboards.</a:t>
            </a:r>
          </a:p>
        </p:txBody>
      </p:sp>
      <p:sp>
        <p:nvSpPr>
          <p:cNvPr id="22" name="">
            <a:extLst xmlns:a="http://schemas.openxmlformats.org/drawingml/2006/main">
              <a:ext uri="{FF2B5EF4-FFF2-40B4-BE49-F238E27FC236}">
                <a16:creationId xmlns:a16="http://schemas.microsoft.com/office/drawing/2014/main" id="{F1DEEB82-9225-4AB4-B59A-6D929A044942}"/>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The analysis describes population patterns and supports further local investigation.</a:t>
            </a:r>
          </a:p>
        </p:txBody>
      </p:sp>
    </p:spTree>
    <p:extLst>
      <p:ext uri="{BB962C8B-B14F-4D97-AF65-F5344CB8AC3E}">
        <p14:creationId xmlns:p14="http://schemas.microsoft.com/office/powerpoint/2010/main" val="2017125607"/>
      </p:ext>
    </p:extLst>
  </p:cSld>
</p:sld>
</file>

<file path=ppt/slides/slide3.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Long-term improvement coexists with recent increases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KEY FINDINGS</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03</a:t>
            </a:r>
          </a:p>
        </p:txBody>
      </p:sp>
      <p:sp>
        <p:nvSpPr>
          <p:cNvPr id="16" name="">
            <a:extLst xmlns:a="http://schemas.openxmlformats.org/drawingml/2006/main">
              <a:ext uri="{FF2B5EF4-FFF2-40B4-BE49-F238E27FC236}">
                <a16:creationId xmlns:a16="http://schemas.microsoft.com/office/drawing/2014/main" id="{FEC3D5CB-9799-4E7C-90F6-B8AC2C3CA98A}"/>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National change</a:t>
            </a:r>
          </a:p>
        </p:txBody>
      </p:sp>
      <p:sp>
        <p:nvSpPr>
          <p:cNvPr id="17" name="">
            <a:extLst xmlns:a="http://schemas.openxmlformats.org/drawingml/2006/main">
              <a:ext uri="{FF2B5EF4-FFF2-40B4-BE49-F238E27FC236}">
                <a16:creationId xmlns:a16="http://schemas.microsoft.com/office/drawing/2014/main" id="{7D31288D-AE36-4BA2-A620-86765BD0C6E8}"/>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Infant mortality fell from 5.36 to 4.17 per 1,000 between 2001–03 and 2022–24, a 22.2% reduction.</a:t>
            </a:r>
          </a:p>
        </p:txBody>
      </p:sp>
      <p:sp>
        <p:nvSpPr>
          <p:cNvPr id="18" name="">
            <a:extLst xmlns:a="http://schemas.openxmlformats.org/drawingml/2006/main">
              <a:ext uri="{FF2B5EF4-FFF2-40B4-BE49-F238E27FC236}">
                <a16:creationId xmlns:a16="http://schemas.microsoft.com/office/drawing/2014/main" id="{ABBB6DC2-ABB7-4E20-AE9A-AB863E36CBD9}"/>
              </a:ext>
            </a:extLst>
          </p:cNvPr>
          <p:cNvSpPr>
            <a:spLocks xmlns:a="http://schemas.openxmlformats.org/drawingml/2006/main" noGrp="1"/>
          </p:cNvSpPr>
          <p:nvPr/>
        </p:nvSpPr>
        <p:spPr>
          <a:xfrm xmlns:a="http://schemas.openxmlformats.org/drawingml/2006/main">
            <a:off x="704850" y="2514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Recent direction</a:t>
            </a:r>
          </a:p>
        </p:txBody>
      </p:sp>
      <p:sp>
        <p:nvSpPr>
          <p:cNvPr id="19" name="">
            <a:extLst xmlns:a="http://schemas.openxmlformats.org/drawingml/2006/main">
              <a:ext uri="{FF2B5EF4-FFF2-40B4-BE49-F238E27FC236}">
                <a16:creationId xmlns:a16="http://schemas.microsoft.com/office/drawing/2014/main" id="{240E0CE8-2F1C-4D4F-AA46-2EDDBB02E361}"/>
              </a:ext>
            </a:extLst>
          </p:cNvPr>
          <p:cNvSpPr>
            <a:spLocks xmlns:a="http://schemas.openxmlformats.org/drawingml/2006/main" noGrp="1"/>
          </p:cNvSpPr>
          <p:nvPr/>
        </p:nvSpPr>
        <p:spPr>
          <a:xfrm xmlns:a="http://schemas.openxmlformats.org/drawingml/2006/main">
            <a:off x="3143250" y="2514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The latest infant rate is 7.5% above the 2014–16 low. Child mortality is 15.4% above its 2019–21 low.</a:t>
            </a:r>
          </a:p>
        </p:txBody>
      </p:sp>
      <p:sp>
        <p:nvSpPr>
          <p:cNvPr id="20" name="">
            <a:extLst xmlns:a="http://schemas.openxmlformats.org/drawingml/2006/main">
              <a:ext uri="{FF2B5EF4-FFF2-40B4-BE49-F238E27FC236}">
                <a16:creationId xmlns:a16="http://schemas.microsoft.com/office/drawing/2014/main" id="{C31BF8AC-577D-4459-93E8-EFCCB74792BE}"/>
              </a:ext>
            </a:extLst>
          </p:cNvPr>
          <p:cNvSpPr>
            <a:spLocks xmlns:a="http://schemas.openxmlformats.org/drawingml/2006/main" noGrp="1"/>
          </p:cNvSpPr>
          <p:nvPr/>
        </p:nvSpPr>
        <p:spPr>
          <a:xfrm xmlns:a="http://schemas.openxmlformats.org/drawingml/2006/main">
            <a:off x="704850" y="38862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Local inequality</a:t>
            </a:r>
          </a:p>
        </p:txBody>
      </p:sp>
      <p:sp>
        <p:nvSpPr>
          <p:cNvPr id="21" name="">
            <a:extLst xmlns:a="http://schemas.openxmlformats.org/drawingml/2006/main">
              <a:ext uri="{FF2B5EF4-FFF2-40B4-BE49-F238E27FC236}">
                <a16:creationId xmlns:a16="http://schemas.microsoft.com/office/drawing/2014/main" id="{9CC18CCD-A803-475C-BB83-55ED05345074}"/>
              </a:ext>
            </a:extLst>
          </p:cNvPr>
          <p:cNvSpPr>
            <a:spLocks xmlns:a="http://schemas.openxmlformats.org/drawingml/2006/main" noGrp="1"/>
          </p:cNvSpPr>
          <p:nvPr/>
        </p:nvSpPr>
        <p:spPr>
          <a:xfrm xmlns:a="http://schemas.openxmlformats.org/drawingml/2006/main">
            <a:off x="3143250" y="38862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Mean infant mortality is 5.10 in Q5 and 3.37 in Q1, a 1.51× ratio across authorities with assigned quintiles.</a:t>
            </a:r>
          </a:p>
        </p:txBody>
      </p:sp>
      <p:sp>
        <p:nvSpPr>
          <p:cNvPr id="22" name="">
            <a:extLst xmlns:a="http://schemas.openxmlformats.org/drawingml/2006/main">
              <a:ext uri="{FF2B5EF4-FFF2-40B4-BE49-F238E27FC236}">
                <a16:creationId xmlns:a16="http://schemas.microsoft.com/office/drawing/2014/main" id="{E65CFF14-4955-4507-B8FD-8613B82F3C2E}"/>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Quintile results are unweighted authority means and describe association.</a:t>
            </a:r>
          </a:p>
        </p:txBody>
      </p:sp>
    </p:spTree>
    <p:extLst>
      <p:ext uri="{BB962C8B-B14F-4D97-AF65-F5344CB8AC3E}">
        <p14:creationId xmlns:p14="http://schemas.microsoft.com/office/powerpoint/2010/main" val="2017125607"/>
      </p:ext>
    </p:extLst>
  </p:cSld>
</p:sld>
</file>

<file path=ppt/slides/slide4.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Analytical workflow</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METHODOLOGY</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04</a:t>
            </a:r>
          </a:p>
        </p:txBody>
      </p:sp>
      <p:sp>
        <p:nvSpPr>
          <p:cNvPr id="16" name="">
            <a:extLst xmlns:a="http://schemas.openxmlformats.org/drawingml/2006/main">
              <a:ext uri="{FF2B5EF4-FFF2-40B4-BE49-F238E27FC236}">
                <a16:creationId xmlns:a16="http://schemas.microsoft.com/office/drawing/2014/main" id="{0A905229-8170-4D22-BD96-7E586366F1CB}"/>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Source measures</a:t>
            </a:r>
          </a:p>
        </p:txBody>
      </p:sp>
      <p:sp>
        <p:nvSpPr>
          <p:cNvPr id="17" name="">
            <a:extLst xmlns:a="http://schemas.openxmlformats.org/drawingml/2006/main">
              <a:ext uri="{FF2B5EF4-FFF2-40B4-BE49-F238E27FC236}">
                <a16:creationId xmlns:a16="http://schemas.microsoft.com/office/drawing/2014/main" id="{E4AECBBE-4C76-4C49-B1E1-80FA0E1F8315}"/>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Fingertips supplies mortality values, counts, denominators and confidence intervals.</a:t>
            </a:r>
          </a:p>
        </p:txBody>
      </p:sp>
      <p:sp>
        <p:nvSpPr>
          <p:cNvPr id="18" name="">
            <a:extLst xmlns:a="http://schemas.openxmlformats.org/drawingml/2006/main">
              <a:ext uri="{FF2B5EF4-FFF2-40B4-BE49-F238E27FC236}">
                <a16:creationId xmlns:a16="http://schemas.microsoft.com/office/drawing/2014/main" id="{5E86BFB4-45A0-49CB-9A05-68C0BE969796}"/>
              </a:ext>
            </a:extLst>
          </p:cNvPr>
          <p:cNvSpPr>
            <a:spLocks xmlns:a="http://schemas.openxmlformats.org/drawingml/2006/main" noGrp="1"/>
          </p:cNvSpPr>
          <p:nvPr/>
        </p:nvSpPr>
        <p:spPr>
          <a:xfrm xmlns:a="http://schemas.openxmlformats.org/drawingml/2006/main">
            <a:off x="704850" y="22098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Population checks</a:t>
            </a:r>
          </a:p>
        </p:txBody>
      </p:sp>
      <p:sp>
        <p:nvSpPr>
          <p:cNvPr id="19" name="">
            <a:extLst xmlns:a="http://schemas.openxmlformats.org/drawingml/2006/main">
              <a:ext uri="{FF2B5EF4-FFF2-40B4-BE49-F238E27FC236}">
                <a16:creationId xmlns:a16="http://schemas.microsoft.com/office/drawing/2014/main" id="{03F75CDD-1DF8-486D-92D8-3322EAAE70D3}"/>
              </a:ext>
            </a:extLst>
          </p:cNvPr>
          <p:cNvSpPr>
            <a:spLocks xmlns:a="http://schemas.openxmlformats.org/drawingml/2006/main" noGrp="1"/>
          </p:cNvSpPr>
          <p:nvPr/>
        </p:nvSpPr>
        <p:spPr>
          <a:xfrm xmlns:a="http://schemas.openxmlformats.org/drawingml/2006/main">
            <a:off x="3143250" y="22098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Nomis population estimates validate the child mortality denominator using official area codes.</a:t>
            </a:r>
          </a:p>
        </p:txBody>
      </p:sp>
      <p:sp>
        <p:nvSpPr>
          <p:cNvPr id="20" name="">
            <a:extLst xmlns:a="http://schemas.openxmlformats.org/drawingml/2006/main">
              <a:ext uri="{FF2B5EF4-FFF2-40B4-BE49-F238E27FC236}">
                <a16:creationId xmlns:a16="http://schemas.microsoft.com/office/drawing/2014/main" id="{F9E75004-2C9E-4C60-A2FE-F01530203D31}"/>
              </a:ext>
            </a:extLst>
          </p:cNvPr>
          <p:cNvSpPr>
            <a:spLocks xmlns:a="http://schemas.openxmlformats.org/drawingml/2006/main" noGrp="1"/>
          </p:cNvSpPr>
          <p:nvPr/>
        </p:nvSpPr>
        <p:spPr>
          <a:xfrm xmlns:a="http://schemas.openxmlformats.org/drawingml/2006/main">
            <a:off x="704850" y="3276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Deprivation join</a:t>
            </a:r>
          </a:p>
        </p:txBody>
      </p:sp>
      <p:sp>
        <p:nvSpPr>
          <p:cNvPr id="21" name="">
            <a:extLst xmlns:a="http://schemas.openxmlformats.org/drawingml/2006/main">
              <a:ext uri="{FF2B5EF4-FFF2-40B4-BE49-F238E27FC236}">
                <a16:creationId xmlns:a16="http://schemas.microsoft.com/office/drawing/2014/main" id="{17F44E5C-070D-472F-AA96-41806D519AFA}"/>
              </a:ext>
            </a:extLst>
          </p:cNvPr>
          <p:cNvSpPr>
            <a:spLocks xmlns:a="http://schemas.openxmlformats.org/drawingml/2006/main" noGrp="1"/>
          </p:cNvSpPr>
          <p:nvPr/>
        </p:nvSpPr>
        <p:spPr>
          <a:xfrm xmlns:a="http://schemas.openxmlformats.org/drawingml/2006/main">
            <a:off x="3143250" y="3276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IMD 2019 fields add child-population-weighted scores and exposure measures. Boundary mismatches remain null.</a:t>
            </a:r>
          </a:p>
        </p:txBody>
      </p:sp>
      <p:sp>
        <p:nvSpPr>
          <p:cNvPr id="22" name="">
            <a:extLst xmlns:a="http://schemas.openxmlformats.org/drawingml/2006/main">
              <a:ext uri="{FF2B5EF4-FFF2-40B4-BE49-F238E27FC236}">
                <a16:creationId xmlns:a16="http://schemas.microsoft.com/office/drawing/2014/main" id="{5F9C993B-A031-4E9D-812A-4EE77F8C5322}"/>
              </a:ext>
            </a:extLst>
          </p:cNvPr>
          <p:cNvSpPr>
            <a:spLocks xmlns:a="http://schemas.openxmlformats.org/drawingml/2006/main" noGrp="1"/>
          </p:cNvSpPr>
          <p:nvPr/>
        </p:nvSpPr>
        <p:spPr>
          <a:xfrm xmlns:a="http://schemas.openxmlformats.org/drawingml/2006/main">
            <a:off x="704850" y="43434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Tableau reporting</a:t>
            </a:r>
          </a:p>
        </p:txBody>
      </p:sp>
      <p:sp>
        <p:nvSpPr>
          <p:cNvPr id="23" name="">
            <a:extLst xmlns:a="http://schemas.openxmlformats.org/drawingml/2006/main">
              <a:ext uri="{FF2B5EF4-FFF2-40B4-BE49-F238E27FC236}">
                <a16:creationId xmlns:a16="http://schemas.microsoft.com/office/drawing/2014/main" id="{4C583573-AA80-4CCE-A026-C10887EDB50F}"/>
              </a:ext>
            </a:extLst>
          </p:cNvPr>
          <p:cNvSpPr>
            <a:spLocks xmlns:a="http://schemas.openxmlformats.org/drawingml/2006/main" noGrp="1"/>
          </p:cNvSpPr>
          <p:nvPr/>
        </p:nvSpPr>
        <p:spPr>
          <a:xfrm xmlns:a="http://schemas.openxmlformats.org/drawingml/2006/main">
            <a:off x="3143250" y="43434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Separate extracts support national trends, local comparison, deprivation analysis and quality reporting.</a:t>
            </a:r>
          </a:p>
        </p:txBody>
      </p:sp>
      <p:sp>
        <p:nvSpPr>
          <p:cNvPr id="24" name="">
            <a:extLst xmlns:a="http://schemas.openxmlformats.org/drawingml/2006/main">
              <a:ext uri="{FF2B5EF4-FFF2-40B4-BE49-F238E27FC236}">
                <a16:creationId xmlns:a16="http://schemas.microsoft.com/office/drawing/2014/main" id="{09AAA092-7B1B-463D-9AE4-6A3EC28DD673}"/>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Fingertips remains the authoritative source for the reported mortality rate.</a:t>
            </a:r>
          </a:p>
        </p:txBody>
      </p:sp>
    </p:spTree>
    <p:extLst>
      <p:ext uri="{BB962C8B-B14F-4D97-AF65-F5344CB8AC3E}">
        <p14:creationId xmlns:p14="http://schemas.microsoft.com/office/powerpoint/2010/main" val="2017125607"/>
      </p:ext>
    </p:extLst>
  </p:cSld>
</p:sld>
</file>

<file path=ppt/slides/slide5.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Five extracts define the reporting layer</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DATA SCOPE</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05</a:t>
            </a:r>
          </a:p>
        </p:txBody>
      </p:sp>
      <p:graphicFrame>
        <p:nvGraphicFramePr>
          <p:cNvPr id="25" name=""/>
          <p:cNvGraphicFramePr/>
          <p:nvPr/>
        </p:nvGraphicFramePr>
        <p:xfrm>
          <a:off xmlns:a="http://schemas.openxmlformats.org/drawingml/2006/main" x="666750" y="1238250"/>
          <a:ext xmlns:a="http://schemas.openxmlformats.org/drawingml/2006/main" cx="10858500" cy="3714750"/>
        </p:xfrm>
        <a:graphic xmlns:a="http://schemas.openxmlformats.org/drawingml/2006/main">
          <a:graphicData uri="http://schemas.openxmlformats.org/drawingml/2006/table">
            <a:tbl>
              <a:tblPr/>
              <a:tblGrid>
                <a:gridCol w="3714750"/>
                <a:gridCol w="952500"/>
                <a:gridCol w="6191250"/>
              </a:tblGrid>
              <a:tr h="619125">
                <a:tc>
                  <a:txBody>
                    <a:bodyPr/>
                    <a:lstStyle/>
                    <a:p>
                      <a:r>
                        <a:rPr sz="1500" b="1">
                          <a:solidFill>
                            <a:srgbClr val="FFFFFF"/>
                          </a:solidFill>
                          <a:latin typeface="Calibri"/>
                          <a:ea typeface="Calibri"/>
                          <a:cs typeface="Calibri"/>
                        </a:rPr>
                        <a:t>Extract</a:t>
                      </a:r>
                    </a:p>
                  </a:txBody>
                  <a:tcPr marL="91440" marR="91440" marT="45720" marB="45720">
                    <a:solidFill>
                      <a:srgbClr val="F87812"/>
                    </a:solidFill>
                  </a:tcPr>
                </a:tc>
                <a:tc>
                  <a:txBody>
                    <a:bodyPr/>
                    <a:lstStyle/>
                    <a:p>
                      <a:r>
                        <a:rPr sz="1500" b="1">
                          <a:solidFill>
                            <a:srgbClr val="FFFFFF"/>
                          </a:solidFill>
                          <a:latin typeface="Calibri"/>
                          <a:ea typeface="Calibri"/>
                          <a:cs typeface="Calibri"/>
                        </a:rPr>
                        <a:t>Rows</a:t>
                      </a:r>
                    </a:p>
                  </a:txBody>
                  <a:tcPr marL="91440" marR="91440" marT="45720" marB="45720">
                    <a:solidFill>
                      <a:srgbClr val="F87812"/>
                    </a:solidFill>
                  </a:tcPr>
                </a:tc>
                <a:tc>
                  <a:txBody>
                    <a:bodyPr/>
                    <a:lstStyle/>
                    <a:p>
                      <a:r>
                        <a:rPr sz="1500" b="1">
                          <a:solidFill>
                            <a:srgbClr val="FFFFFF"/>
                          </a:solidFill>
                          <a:latin typeface="Calibri"/>
                          <a:ea typeface="Calibri"/>
                          <a:cs typeface="Calibri"/>
                        </a:rPr>
                        <a:t>Analytical grain</a:t>
                      </a:r>
                    </a:p>
                  </a:txBody>
                  <a:tcPr marL="91440" marR="91440" marT="45720" marB="45720">
                    <a:solidFill>
                      <a:srgbClr val="F87812"/>
                    </a:solidFill>
                  </a:tcPr>
                </a:tc>
              </a:tr>
              <a:tr h="619125">
                <a:tc>
                  <a:txBody>
                    <a:bodyPr/>
                    <a:lstStyle/>
                    <a:p>
                      <a:r>
                        <a:rPr sz="1650" b="0">
                          <a:solidFill>
                            <a:srgbClr val="262626"/>
                          </a:solidFill>
                          <a:latin typeface="Calibri"/>
                          <a:ea typeface="Calibri"/>
                          <a:cs typeface="Calibri"/>
                        </a:rPr>
                        <a:t>mortality_trends</a:t>
                      </a:r>
                    </a:p>
                  </a:txBody>
                  <a:tcPr marL="91440" marR="91440" marT="45720" marB="45720">
                    <a:solidFill>
                      <a:srgbClr val="FFFCF8"/>
                    </a:solidFill>
                  </a:tcPr>
                </a:tc>
                <a:tc>
                  <a:txBody>
                    <a:bodyPr/>
                    <a:lstStyle/>
                    <a:p>
                      <a:r>
                        <a:rPr sz="1650" b="0">
                          <a:solidFill>
                            <a:srgbClr val="262626"/>
                          </a:solidFill>
                          <a:latin typeface="Calibri"/>
                          <a:ea typeface="Calibri"/>
                          <a:cs typeface="Calibri"/>
                        </a:rPr>
                        <a:t>110</a:t>
                      </a:r>
                    </a:p>
                  </a:txBody>
                  <a:tcPr marL="91440" marR="91440" marT="45720" marB="45720">
                    <a:solidFill>
                      <a:srgbClr val="FFFCF8"/>
                    </a:solidFill>
                  </a:tcPr>
                </a:tc>
                <a:tc>
                  <a:txBody>
                    <a:bodyPr/>
                    <a:lstStyle/>
                    <a:p>
                      <a:r>
                        <a:rPr sz="1650" b="0">
                          <a:solidFill>
                            <a:srgbClr val="262626"/>
                          </a:solidFill>
                          <a:latin typeface="Calibri"/>
                          <a:ea typeface="Calibri"/>
                          <a:cs typeface="Calibri"/>
                        </a:rPr>
                        <a:t>Indicator × England reporting period</a:t>
                      </a:r>
                    </a:p>
                  </a:txBody>
                  <a:tcPr marL="91440" marR="91440" marT="45720" marB="45720">
                    <a:solidFill>
                      <a:srgbClr val="FFFCF8"/>
                    </a:solidFill>
                  </a:tcPr>
                </a:tc>
              </a:tr>
              <a:tr h="619125">
                <a:tc>
                  <a:txBody>
                    <a:bodyPr/>
                    <a:lstStyle/>
                    <a:p>
                      <a:r>
                        <a:rPr sz="1650" b="0">
                          <a:solidFill>
                            <a:srgbClr val="262626"/>
                          </a:solidFill>
                          <a:latin typeface="Calibri"/>
                          <a:ea typeface="Calibri"/>
                          <a:cs typeface="Calibri"/>
                        </a:rPr>
                        <a:t>local_authority_comparison</a:t>
                      </a:r>
                    </a:p>
                  </a:txBody>
                  <a:tcPr marL="91440" marR="91440" marT="45720" marB="45720">
                    <a:solidFill>
                      <a:srgbClr val="FFE3C6"/>
                    </a:solidFill>
                  </a:tcPr>
                </a:tc>
                <a:tc>
                  <a:txBody>
                    <a:bodyPr/>
                    <a:lstStyle/>
                    <a:p>
                      <a:r>
                        <a:rPr sz="1650" b="0">
                          <a:solidFill>
                            <a:srgbClr val="262626"/>
                          </a:solidFill>
                          <a:latin typeface="Calibri"/>
                          <a:ea typeface="Calibri"/>
                          <a:cs typeface="Calibri"/>
                        </a:rPr>
                        <a:t>988</a:t>
                      </a:r>
                    </a:p>
                  </a:txBody>
                  <a:tcPr marL="91440" marR="91440" marT="45720" marB="45720">
                    <a:solidFill>
                      <a:srgbClr val="FFE3C6"/>
                    </a:solidFill>
                  </a:tcPr>
                </a:tc>
                <a:tc>
                  <a:txBody>
                    <a:bodyPr/>
                    <a:lstStyle/>
                    <a:p>
                      <a:r>
                        <a:rPr sz="1650" b="0">
                          <a:solidFill>
                            <a:srgbClr val="262626"/>
                          </a:solidFill>
                          <a:latin typeface="Calibri"/>
                          <a:ea typeface="Calibri"/>
                          <a:cs typeface="Calibri"/>
                        </a:rPr>
                        <a:t>Indicator × latest local authority</a:t>
                      </a:r>
                    </a:p>
                  </a:txBody>
                  <a:tcPr marL="91440" marR="91440" marT="45720" marB="45720">
                    <a:solidFill>
                      <a:srgbClr val="FFE3C6"/>
                    </a:solidFill>
                  </a:tcPr>
                </a:tc>
              </a:tr>
              <a:tr h="619125">
                <a:tc>
                  <a:txBody>
                    <a:bodyPr/>
                    <a:lstStyle/>
                    <a:p>
                      <a:r>
                        <a:rPr sz="1650" b="0">
                          <a:solidFill>
                            <a:srgbClr val="262626"/>
                          </a:solidFill>
                          <a:latin typeface="Calibri"/>
                          <a:ea typeface="Calibri"/>
                          <a:cs typeface="Calibri"/>
                        </a:rPr>
                        <a:t>deprivation_inequality</a:t>
                      </a:r>
                    </a:p>
                  </a:txBody>
                  <a:tcPr marL="91440" marR="91440" marT="45720" marB="45720">
                    <a:solidFill>
                      <a:srgbClr val="FFFCF8"/>
                    </a:solidFill>
                  </a:tcPr>
                </a:tc>
                <a:tc>
                  <a:txBody>
                    <a:bodyPr/>
                    <a:lstStyle/>
                    <a:p>
                      <a:r>
                        <a:rPr sz="1650" b="0">
                          <a:solidFill>
                            <a:srgbClr val="262626"/>
                          </a:solidFill>
                          <a:latin typeface="Calibri"/>
                          <a:ea typeface="Calibri"/>
                          <a:cs typeface="Calibri"/>
                        </a:rPr>
                        <a:t>988</a:t>
                      </a:r>
                    </a:p>
                  </a:txBody>
                  <a:tcPr marL="91440" marR="91440" marT="45720" marB="45720">
                    <a:solidFill>
                      <a:srgbClr val="FFFCF8"/>
                    </a:solidFill>
                  </a:tcPr>
                </a:tc>
                <a:tc>
                  <a:txBody>
                    <a:bodyPr/>
                    <a:lstStyle/>
                    <a:p>
                      <a:r>
                        <a:rPr sz="1650" b="0">
                          <a:solidFill>
                            <a:srgbClr val="262626"/>
                          </a:solidFill>
                          <a:latin typeface="Calibri"/>
                          <a:ea typeface="Calibri"/>
                          <a:cs typeface="Calibri"/>
                        </a:rPr>
                        <a:t>Local mortality row with deprivation fields</a:t>
                      </a:r>
                    </a:p>
                  </a:txBody>
                  <a:tcPr marL="91440" marR="91440" marT="45720" marB="45720">
                    <a:solidFill>
                      <a:srgbClr val="FFFCF8"/>
                    </a:solidFill>
                  </a:tcPr>
                </a:tc>
              </a:tr>
              <a:tr h="619125">
                <a:tc>
                  <a:txBody>
                    <a:bodyPr/>
                    <a:lstStyle/>
                    <a:p>
                      <a:r>
                        <a:rPr sz="1650" b="0">
                          <a:solidFill>
                            <a:srgbClr val="262626"/>
                          </a:solidFill>
                          <a:latin typeface="Calibri"/>
                          <a:ea typeface="Calibri"/>
                          <a:cs typeface="Calibri"/>
                        </a:rPr>
                        <a:t>indicator_definitions</a:t>
                      </a:r>
                    </a:p>
                  </a:txBody>
                  <a:tcPr marL="91440" marR="91440" marT="45720" marB="45720">
                    <a:solidFill>
                      <a:srgbClr val="FFE3C6"/>
                    </a:solidFill>
                  </a:tcPr>
                </a:tc>
                <a:tc>
                  <a:txBody>
                    <a:bodyPr/>
                    <a:lstStyle/>
                    <a:p>
                      <a:r>
                        <a:rPr sz="1650" b="0">
                          <a:solidFill>
                            <a:srgbClr val="262626"/>
                          </a:solidFill>
                          <a:latin typeface="Calibri"/>
                          <a:ea typeface="Calibri"/>
                          <a:cs typeface="Calibri"/>
                        </a:rPr>
                        <a:t>5</a:t>
                      </a:r>
                    </a:p>
                  </a:txBody>
                  <a:tcPr marL="91440" marR="91440" marT="45720" marB="45720">
                    <a:solidFill>
                      <a:srgbClr val="FFE3C6"/>
                    </a:solidFill>
                  </a:tcPr>
                </a:tc>
                <a:tc>
                  <a:txBody>
                    <a:bodyPr/>
                    <a:lstStyle/>
                    <a:p>
                      <a:r>
                        <a:rPr sz="1650" b="0">
                          <a:solidFill>
                            <a:srgbClr val="262626"/>
                          </a:solidFill>
                          <a:latin typeface="Calibri"/>
                          <a:ea typeface="Calibri"/>
                          <a:cs typeface="Calibri"/>
                        </a:rPr>
                        <a:t>One summary per mortality indicator</a:t>
                      </a:r>
                    </a:p>
                  </a:txBody>
                  <a:tcPr marL="91440" marR="91440" marT="45720" marB="45720">
                    <a:solidFill>
                      <a:srgbClr val="FFE3C6"/>
                    </a:solidFill>
                  </a:tcPr>
                </a:tc>
              </a:tr>
              <a:tr h="619125">
                <a:tc>
                  <a:txBody>
                    <a:bodyPr/>
                    <a:lstStyle/>
                    <a:p>
                      <a:r>
                        <a:rPr sz="1650" b="0">
                          <a:solidFill>
                            <a:srgbClr val="262626"/>
                          </a:solidFill>
                          <a:latin typeface="Calibri"/>
                          <a:ea typeface="Calibri"/>
                          <a:cs typeface="Calibri"/>
                        </a:rPr>
                        <a:t>data_quality_summary</a:t>
                      </a:r>
                    </a:p>
                  </a:txBody>
                  <a:tcPr marL="91440" marR="91440" marT="45720" marB="45720">
                    <a:solidFill>
                      <a:srgbClr val="FFFCF8"/>
                    </a:solidFill>
                  </a:tcPr>
                </a:tc>
                <a:tc>
                  <a:txBody>
                    <a:bodyPr/>
                    <a:lstStyle/>
                    <a:p>
                      <a:r>
                        <a:rPr sz="1650" b="0">
                          <a:solidFill>
                            <a:srgbClr val="262626"/>
                          </a:solidFill>
                          <a:latin typeface="Calibri"/>
                          <a:ea typeface="Calibri"/>
                          <a:cs typeface="Calibri"/>
                        </a:rPr>
                        <a:t>15</a:t>
                      </a:r>
                    </a:p>
                  </a:txBody>
                  <a:tcPr marL="91440" marR="91440" marT="45720" marB="45720">
                    <a:solidFill>
                      <a:srgbClr val="FFFCF8"/>
                    </a:solidFill>
                  </a:tcPr>
                </a:tc>
                <a:tc>
                  <a:txBody>
                    <a:bodyPr/>
                    <a:lstStyle/>
                    <a:p>
                      <a:r>
                        <a:rPr sz="1650" b="0">
                          <a:solidFill>
                            <a:srgbClr val="262626"/>
                          </a:solidFill>
                          <a:latin typeface="Calibri"/>
                          <a:ea typeface="Calibri"/>
                          <a:cs typeface="Calibri"/>
                        </a:rPr>
                        <a:t>One row per validation metric</a:t>
                      </a:r>
                    </a:p>
                  </a:txBody>
                  <a:tcPr marL="91440" marR="91440" marT="45720" marB="45720">
                    <a:solidFill>
                      <a:srgbClr val="FFFCF8"/>
                    </a:solidFill>
                  </a:tcPr>
                </a:tc>
              </a:tr>
            </a:tbl>
          </a:graphicData>
        </a:graphic>
      </p:graphicFrame>
      <p:sp>
        <p:nvSpPr>
          <p:cNvPr id="17" name="">
            <a:extLst xmlns:a="http://schemas.openxmlformats.org/drawingml/2006/main">
              <a:ext uri="{FF2B5EF4-FFF2-40B4-BE49-F238E27FC236}">
                <a16:creationId xmlns:a16="http://schemas.microsoft.com/office/drawing/2014/main" id="{41F537A7-F2CD-499E-B88B-FC0D0D372B8E}"/>
              </a:ext>
            </a:extLst>
          </p:cNvPr>
          <p:cNvSpPr>
            <a:spLocks xmlns:a="http://schemas.openxmlformats.org/drawingml/2006/main" noGrp="1"/>
          </p:cNvSpPr>
          <p:nvPr/>
        </p:nvSpPr>
        <p:spPr>
          <a:xfrm xmlns:a="http://schemas.openxmlformats.org/drawingml/2006/main">
            <a:off x="714375" y="5391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54D13"/>
                </a:solidFill>
                <a:latin typeface="Calibri"/>
                <a:ea typeface="Calibri"/>
                <a:cs typeface="Calibri"/>
              </a:defRPr>
            </a:pPr>
            <a:r>
              <a:rPr sz="1800" b="1">
                <a:solidFill>
                  <a:srgbClr val="B54D13"/>
                </a:solidFill>
                <a:latin typeface="Calibri"/>
                <a:ea typeface="Calibri"/>
                <a:cs typeface="Calibri"/>
              </a:rPr>
              <a:t>The two local extracts describe the same 988 mortality records.</a:t>
            </a:r>
          </a:p>
        </p:txBody>
      </p:sp>
    </p:spTree>
    <p:extLst>
      <p:ext uri="{BB962C8B-B14F-4D97-AF65-F5344CB8AC3E}">
        <p14:creationId xmlns:p14="http://schemas.microsoft.com/office/powerpoint/2010/main" val="2017125607"/>
      </p:ext>
    </p:extLst>
  </p:cSld>
</p:sld>
</file>

<file path=ppt/slides/slide6.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Latest England mortality indicators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INDICATOR SCOPE</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06</a:t>
            </a:r>
          </a:p>
        </p:txBody>
      </p:sp>
      <p:graphicFrame>
        <p:nvGraphicFramePr>
          <p:cNvPr id="25" name=""/>
          <p:cNvGraphicFramePr/>
          <p:nvPr/>
        </p:nvGraphicFramePr>
        <p:xfrm>
          <a:off xmlns:a="http://schemas.openxmlformats.org/drawingml/2006/main" x="666750" y="1190625"/>
          <a:ext xmlns:a="http://schemas.openxmlformats.org/drawingml/2006/main" cx="10858500" cy="3905250"/>
        </p:xfrm>
        <a:graphic xmlns:a="http://schemas.openxmlformats.org/drawingml/2006/main">
          <a:graphicData uri="http://schemas.openxmlformats.org/drawingml/2006/table">
            <a:tbl>
              <a:tblPr/>
              <a:tblGrid>
                <a:gridCol w="3238500"/>
                <a:gridCol w="3381375"/>
                <a:gridCol w="2333625"/>
                <a:gridCol w="1905000"/>
              </a:tblGrid>
              <a:tr h="650875">
                <a:tc>
                  <a:txBody>
                    <a:bodyPr/>
                    <a:lstStyle/>
                    <a:p>
                      <a:r>
                        <a:rPr sz="1500" b="1">
                          <a:solidFill>
                            <a:srgbClr val="FFFFFF"/>
                          </a:solidFill>
                          <a:latin typeface="Calibri"/>
                          <a:ea typeface="Calibri"/>
                          <a:cs typeface="Calibri"/>
                        </a:rPr>
                        <a:t>Indicator</a:t>
                      </a:r>
                    </a:p>
                  </a:txBody>
                  <a:tcPr marL="91440" marR="91440" marT="45720" marB="45720">
                    <a:solidFill>
                      <a:srgbClr val="F87812"/>
                    </a:solidFill>
                  </a:tcPr>
                </a:tc>
                <a:tc>
                  <a:txBody>
                    <a:bodyPr/>
                    <a:lstStyle/>
                    <a:p>
                      <a:r>
                        <a:rPr sz="1500" b="1">
                          <a:solidFill>
                            <a:srgbClr val="FFFFFF"/>
                          </a:solidFill>
                          <a:latin typeface="Calibri"/>
                          <a:ea typeface="Calibri"/>
                          <a:cs typeface="Calibri"/>
                        </a:rPr>
                        <a:t>Age</a:t>
                      </a:r>
                    </a:p>
                  </a:txBody>
                  <a:tcPr marL="91440" marR="91440" marT="45720" marB="45720">
                    <a:solidFill>
                      <a:srgbClr val="F87812"/>
                    </a:solidFill>
                  </a:tcPr>
                </a:tc>
                <a:tc>
                  <a:txBody>
                    <a:bodyPr/>
                    <a:lstStyle/>
                    <a:p>
                      <a:r>
                        <a:rPr sz="1500" b="1">
                          <a:solidFill>
                            <a:srgbClr val="FFFFFF"/>
                          </a:solidFill>
                          <a:latin typeface="Calibri"/>
                          <a:ea typeface="Calibri"/>
                          <a:cs typeface="Calibri"/>
                        </a:rPr>
                        <a:t>Rate scale</a:t>
                      </a:r>
                    </a:p>
                  </a:txBody>
                  <a:tcPr marL="91440" marR="91440" marT="45720" marB="45720">
                    <a:solidFill>
                      <a:srgbClr val="F87812"/>
                    </a:solidFill>
                  </a:tcPr>
                </a:tc>
                <a:tc>
                  <a:txBody>
                    <a:bodyPr/>
                    <a:lstStyle/>
                    <a:p>
                      <a:r>
                        <a:rPr sz="1500" b="1">
                          <a:solidFill>
                            <a:srgbClr val="FFFFFF"/>
                          </a:solidFill>
                          <a:latin typeface="Calibri"/>
                          <a:ea typeface="Calibri"/>
                          <a:cs typeface="Calibri"/>
                        </a:rPr>
                        <a:t>2022–24</a:t>
                      </a:r>
                    </a:p>
                  </a:txBody>
                  <a:tcPr marL="91440" marR="91440" marT="45720" marB="45720">
                    <a:solidFill>
                      <a:srgbClr val="F87812"/>
                    </a:solidFill>
                  </a:tcPr>
                </a:tc>
              </a:tr>
              <a:tr h="650875">
                <a:tc>
                  <a:txBody>
                    <a:bodyPr/>
                    <a:lstStyle/>
                    <a:p>
                      <a:r>
                        <a:rPr sz="1650" b="0">
                          <a:solidFill>
                            <a:srgbClr val="262626"/>
                          </a:solidFill>
                          <a:latin typeface="Calibri"/>
                          <a:ea typeface="Calibri"/>
                          <a:cs typeface="Calibri"/>
                        </a:rPr>
                        <a:t>Child mortality</a:t>
                      </a:r>
                    </a:p>
                  </a:txBody>
                  <a:tcPr marL="91440" marR="91440" marT="45720" marB="45720">
                    <a:solidFill>
                      <a:srgbClr val="FFFCF8"/>
                    </a:solidFill>
                  </a:tcPr>
                </a:tc>
                <a:tc>
                  <a:txBody>
                    <a:bodyPr/>
                    <a:lstStyle/>
                    <a:p>
                      <a:r>
                        <a:rPr sz="1650" b="0">
                          <a:solidFill>
                            <a:srgbClr val="262626"/>
                          </a:solidFill>
                          <a:latin typeface="Calibri"/>
                          <a:ea typeface="Calibri"/>
                          <a:cs typeface="Calibri"/>
                        </a:rPr>
                        <a:t>1–17 years</a:t>
                      </a:r>
                    </a:p>
                  </a:txBody>
                  <a:tcPr marL="91440" marR="91440" marT="45720" marB="45720">
                    <a:solidFill>
                      <a:srgbClr val="FFFCF8"/>
                    </a:solidFill>
                  </a:tcPr>
                </a:tc>
                <a:tc>
                  <a:txBody>
                    <a:bodyPr/>
                    <a:lstStyle/>
                    <a:p>
                      <a:r>
                        <a:rPr sz="1650" b="0">
                          <a:solidFill>
                            <a:srgbClr val="262626"/>
                          </a:solidFill>
                          <a:latin typeface="Calibri"/>
                          <a:ea typeface="Calibri"/>
                          <a:cs typeface="Calibri"/>
                        </a:rPr>
                        <a:t>per 100,000</a:t>
                      </a:r>
                    </a:p>
                  </a:txBody>
                  <a:tcPr marL="91440" marR="91440" marT="45720" marB="45720">
                    <a:solidFill>
                      <a:srgbClr val="FFFCF8"/>
                    </a:solidFill>
                  </a:tcPr>
                </a:tc>
                <a:tc>
                  <a:txBody>
                    <a:bodyPr/>
                    <a:lstStyle/>
                    <a:p>
                      <a:r>
                        <a:rPr sz="1650" b="0">
                          <a:solidFill>
                            <a:srgbClr val="262626"/>
                          </a:solidFill>
                          <a:latin typeface="Calibri"/>
                          <a:ea typeface="Calibri"/>
                          <a:cs typeface="Calibri"/>
                        </a:rPr>
                        <a:t>11.59</a:t>
                      </a:r>
                    </a:p>
                  </a:txBody>
                  <a:tcPr marL="91440" marR="91440" marT="45720" marB="45720">
                    <a:solidFill>
                      <a:srgbClr val="FFFCF8"/>
                    </a:solidFill>
                  </a:tcPr>
                </a:tc>
              </a:tr>
              <a:tr h="650875">
                <a:tc>
                  <a:txBody>
                    <a:bodyPr/>
                    <a:lstStyle/>
                    <a:p>
                      <a:r>
                        <a:rPr sz="1650" b="0">
                          <a:solidFill>
                            <a:srgbClr val="262626"/>
                          </a:solidFill>
                          <a:latin typeface="Calibri"/>
                          <a:ea typeface="Calibri"/>
                          <a:cs typeface="Calibri"/>
                        </a:rPr>
                        <a:t>Infant mortality</a:t>
                      </a:r>
                    </a:p>
                  </a:txBody>
                  <a:tcPr marL="91440" marR="91440" marT="45720" marB="45720">
                    <a:solidFill>
                      <a:srgbClr val="FFE3C6"/>
                    </a:solidFill>
                  </a:tcPr>
                </a:tc>
                <a:tc>
                  <a:txBody>
                    <a:bodyPr/>
                    <a:lstStyle/>
                    <a:p>
                      <a:r>
                        <a:rPr sz="1650" b="0">
                          <a:solidFill>
                            <a:srgbClr val="262626"/>
                          </a:solidFill>
                          <a:latin typeface="Calibri"/>
                          <a:ea typeface="Calibri"/>
                          <a:cs typeface="Calibri"/>
                        </a:rPr>
                        <a:t>Under 1 year</a:t>
                      </a:r>
                    </a:p>
                  </a:txBody>
                  <a:tcPr marL="91440" marR="91440" marT="45720" marB="45720">
                    <a:solidFill>
                      <a:srgbClr val="FFE3C6"/>
                    </a:solidFill>
                  </a:tcPr>
                </a:tc>
                <a:tc>
                  <a:txBody>
                    <a:bodyPr/>
                    <a:lstStyle/>
                    <a:p>
                      <a:r>
                        <a:rPr sz="1650" b="0">
                          <a:solidFill>
                            <a:srgbClr val="262626"/>
                          </a:solidFill>
                          <a:latin typeface="Calibri"/>
                          <a:ea typeface="Calibri"/>
                          <a:cs typeface="Calibri"/>
                        </a:rPr>
                        <a:t>per 1,000</a:t>
                      </a:r>
                    </a:p>
                  </a:txBody>
                  <a:tcPr marL="91440" marR="91440" marT="45720" marB="45720">
                    <a:solidFill>
                      <a:srgbClr val="FFE3C6"/>
                    </a:solidFill>
                  </a:tcPr>
                </a:tc>
                <a:tc>
                  <a:txBody>
                    <a:bodyPr/>
                    <a:lstStyle/>
                    <a:p>
                      <a:r>
                        <a:rPr sz="1650" b="0">
                          <a:solidFill>
                            <a:srgbClr val="262626"/>
                          </a:solidFill>
                          <a:latin typeface="Calibri"/>
                          <a:ea typeface="Calibri"/>
                          <a:cs typeface="Calibri"/>
                        </a:rPr>
                        <a:t>4.17</a:t>
                      </a:r>
                    </a:p>
                  </a:txBody>
                  <a:tcPr marL="91440" marR="91440" marT="45720" marB="45720">
                    <a:solidFill>
                      <a:srgbClr val="FFE3C6"/>
                    </a:solidFill>
                  </a:tcPr>
                </a:tc>
              </a:tr>
              <a:tr h="650875">
                <a:tc>
                  <a:txBody>
                    <a:bodyPr/>
                    <a:lstStyle/>
                    <a:p>
                      <a:r>
                        <a:rPr sz="1650" b="0">
                          <a:solidFill>
                            <a:srgbClr val="262626"/>
                          </a:solidFill>
                          <a:latin typeface="Calibri"/>
                          <a:ea typeface="Calibri"/>
                          <a:cs typeface="Calibri"/>
                        </a:rPr>
                        <a:t>Neonatal mortality</a:t>
                      </a:r>
                    </a:p>
                  </a:txBody>
                  <a:tcPr marL="91440" marR="91440" marT="45720" marB="45720">
                    <a:solidFill>
                      <a:srgbClr val="FFFCF8"/>
                    </a:solidFill>
                  </a:tcPr>
                </a:tc>
                <a:tc>
                  <a:txBody>
                    <a:bodyPr/>
                    <a:lstStyle/>
                    <a:p>
                      <a:r>
                        <a:rPr sz="1650" b="0">
                          <a:solidFill>
                            <a:srgbClr val="262626"/>
                          </a:solidFill>
                          <a:latin typeface="Calibri"/>
                          <a:ea typeface="Calibri"/>
                          <a:cs typeface="Calibri"/>
                        </a:rPr>
                        <a:t>Under 28 days</a:t>
                      </a:r>
                    </a:p>
                  </a:txBody>
                  <a:tcPr marL="91440" marR="91440" marT="45720" marB="45720">
                    <a:solidFill>
                      <a:srgbClr val="FFFCF8"/>
                    </a:solidFill>
                  </a:tcPr>
                </a:tc>
                <a:tc>
                  <a:txBody>
                    <a:bodyPr/>
                    <a:lstStyle/>
                    <a:p>
                      <a:r>
                        <a:rPr sz="1650" b="0">
                          <a:solidFill>
                            <a:srgbClr val="262626"/>
                          </a:solidFill>
                          <a:latin typeface="Calibri"/>
                          <a:ea typeface="Calibri"/>
                          <a:cs typeface="Calibri"/>
                        </a:rPr>
                        <a:t>per 1,000</a:t>
                      </a:r>
                    </a:p>
                  </a:txBody>
                  <a:tcPr marL="91440" marR="91440" marT="45720" marB="45720">
                    <a:solidFill>
                      <a:srgbClr val="FFFCF8"/>
                    </a:solidFill>
                  </a:tcPr>
                </a:tc>
                <a:tc>
                  <a:txBody>
                    <a:bodyPr/>
                    <a:lstStyle/>
                    <a:p>
                      <a:r>
                        <a:rPr sz="1650" b="0">
                          <a:solidFill>
                            <a:srgbClr val="262626"/>
                          </a:solidFill>
                          <a:latin typeface="Calibri"/>
                          <a:ea typeface="Calibri"/>
                          <a:cs typeface="Calibri"/>
                        </a:rPr>
                        <a:t>3.07</a:t>
                      </a:r>
                    </a:p>
                  </a:txBody>
                  <a:tcPr marL="91440" marR="91440" marT="45720" marB="45720">
                    <a:solidFill>
                      <a:srgbClr val="FFFCF8"/>
                    </a:solidFill>
                  </a:tcPr>
                </a:tc>
              </a:tr>
              <a:tr h="650875">
                <a:tc>
                  <a:txBody>
                    <a:bodyPr/>
                    <a:lstStyle/>
                    <a:p>
                      <a:r>
                        <a:rPr sz="1650" b="0">
                          <a:solidFill>
                            <a:srgbClr val="262626"/>
                          </a:solidFill>
                          <a:latin typeface="Calibri"/>
                          <a:ea typeface="Calibri"/>
                          <a:cs typeface="Calibri"/>
                        </a:rPr>
                        <a:t>Post-neonatal mortality</a:t>
                      </a:r>
                    </a:p>
                  </a:txBody>
                  <a:tcPr marL="91440" marR="91440" marT="45720" marB="45720">
                    <a:solidFill>
                      <a:srgbClr val="FFE3C6"/>
                    </a:solidFill>
                  </a:tcPr>
                </a:tc>
                <a:tc>
                  <a:txBody>
                    <a:bodyPr/>
                    <a:lstStyle/>
                    <a:p>
                      <a:r>
                        <a:rPr sz="1650" b="0">
                          <a:solidFill>
                            <a:srgbClr val="262626"/>
                          </a:solidFill>
                          <a:latin typeface="Calibri"/>
                          <a:ea typeface="Calibri"/>
                          <a:cs typeface="Calibri"/>
                        </a:rPr>
                        <a:t>28 days to under 1 year</a:t>
                      </a:r>
                    </a:p>
                  </a:txBody>
                  <a:tcPr marL="91440" marR="91440" marT="45720" marB="45720">
                    <a:solidFill>
                      <a:srgbClr val="FFE3C6"/>
                    </a:solidFill>
                  </a:tcPr>
                </a:tc>
                <a:tc>
                  <a:txBody>
                    <a:bodyPr/>
                    <a:lstStyle/>
                    <a:p>
                      <a:r>
                        <a:rPr sz="1650" b="0">
                          <a:solidFill>
                            <a:srgbClr val="262626"/>
                          </a:solidFill>
                          <a:latin typeface="Calibri"/>
                          <a:ea typeface="Calibri"/>
                          <a:cs typeface="Calibri"/>
                        </a:rPr>
                        <a:t>per 1,000</a:t>
                      </a:r>
                    </a:p>
                  </a:txBody>
                  <a:tcPr marL="91440" marR="91440" marT="45720" marB="45720">
                    <a:solidFill>
                      <a:srgbClr val="FFE3C6"/>
                    </a:solidFill>
                  </a:tcPr>
                </a:tc>
                <a:tc>
                  <a:txBody>
                    <a:bodyPr/>
                    <a:lstStyle/>
                    <a:p>
                      <a:r>
                        <a:rPr sz="1650" b="0">
                          <a:solidFill>
                            <a:srgbClr val="262626"/>
                          </a:solidFill>
                          <a:latin typeface="Calibri"/>
                          <a:ea typeface="Calibri"/>
                          <a:cs typeface="Calibri"/>
                        </a:rPr>
                        <a:t>1.10</a:t>
                      </a:r>
                    </a:p>
                  </a:txBody>
                  <a:tcPr marL="91440" marR="91440" marT="45720" marB="45720">
                    <a:solidFill>
                      <a:srgbClr val="FFE3C6"/>
                    </a:solidFill>
                  </a:tcPr>
                </a:tc>
              </a:tr>
              <a:tr h="650875">
                <a:tc>
                  <a:txBody>
                    <a:bodyPr/>
                    <a:lstStyle/>
                    <a:p>
                      <a:r>
                        <a:rPr sz="1650" b="0">
                          <a:solidFill>
                            <a:srgbClr val="262626"/>
                          </a:solidFill>
                          <a:latin typeface="Calibri"/>
                          <a:ea typeface="Calibri"/>
                          <a:cs typeface="Calibri"/>
                        </a:rPr>
                        <a:t>Stillbirth</a:t>
                      </a:r>
                    </a:p>
                  </a:txBody>
                  <a:tcPr marL="91440" marR="91440" marT="45720" marB="45720">
                    <a:solidFill>
                      <a:srgbClr val="FFFCF8"/>
                    </a:solidFill>
                  </a:tcPr>
                </a:tc>
                <a:tc>
                  <a:txBody>
                    <a:bodyPr/>
                    <a:lstStyle/>
                    <a:p>
                      <a:r>
                        <a:rPr sz="1650" b="0">
                          <a:solidFill>
                            <a:srgbClr val="262626"/>
                          </a:solidFill>
                          <a:latin typeface="Calibri"/>
                          <a:ea typeface="Calibri"/>
                          <a:cs typeface="Calibri"/>
                        </a:rPr>
                        <a:t>Source age: 0 years</a:t>
                      </a:r>
                    </a:p>
                  </a:txBody>
                  <a:tcPr marL="91440" marR="91440" marT="45720" marB="45720">
                    <a:solidFill>
                      <a:srgbClr val="FFFCF8"/>
                    </a:solidFill>
                  </a:tcPr>
                </a:tc>
                <a:tc>
                  <a:txBody>
                    <a:bodyPr/>
                    <a:lstStyle/>
                    <a:p>
                      <a:r>
                        <a:rPr sz="1650" b="0">
                          <a:solidFill>
                            <a:srgbClr val="262626"/>
                          </a:solidFill>
                          <a:latin typeface="Calibri"/>
                          <a:ea typeface="Calibri"/>
                          <a:cs typeface="Calibri"/>
                        </a:rPr>
                        <a:t>per 1,000</a:t>
                      </a:r>
                    </a:p>
                  </a:txBody>
                  <a:tcPr marL="91440" marR="91440" marT="45720" marB="45720">
                    <a:solidFill>
                      <a:srgbClr val="FFFCF8"/>
                    </a:solidFill>
                  </a:tcPr>
                </a:tc>
                <a:tc>
                  <a:txBody>
                    <a:bodyPr/>
                    <a:lstStyle/>
                    <a:p>
                      <a:r>
                        <a:rPr sz="1650" b="0">
                          <a:solidFill>
                            <a:srgbClr val="262626"/>
                          </a:solidFill>
                          <a:latin typeface="Calibri"/>
                          <a:ea typeface="Calibri"/>
                          <a:cs typeface="Calibri"/>
                        </a:rPr>
                        <a:t>3.90</a:t>
                      </a:r>
                    </a:p>
                  </a:txBody>
                  <a:tcPr marL="91440" marR="91440" marT="45720" marB="45720">
                    <a:solidFill>
                      <a:srgbClr val="FFFCF8"/>
                    </a:solidFill>
                  </a:tcPr>
                </a:tc>
              </a:tr>
            </a:tbl>
          </a:graphicData>
        </a:graphic>
      </p:graphicFrame>
      <p:sp>
        <p:nvSpPr>
          <p:cNvPr id="17" name="">
            <a:extLst xmlns:a="http://schemas.openxmlformats.org/drawingml/2006/main">
              <a:ext uri="{FF2B5EF4-FFF2-40B4-BE49-F238E27FC236}">
                <a16:creationId xmlns:a16="http://schemas.microsoft.com/office/drawing/2014/main" id="{D69E51DE-8031-4466-92B1-F9B6A4B785C1}"/>
              </a:ext>
            </a:extLst>
          </p:cNvPr>
          <p:cNvSpPr>
            <a:spLocks xmlns:a="http://schemas.openxmlformats.org/drawingml/2006/main" noGrp="1"/>
          </p:cNvSpPr>
          <p:nvPr/>
        </p:nvSpPr>
        <p:spPr>
          <a:xfrm xmlns:a="http://schemas.openxmlformats.org/drawingml/2006/main">
            <a:off x="714375" y="54102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B54D13"/>
                </a:solidFill>
                <a:latin typeface="Calibri"/>
                <a:ea typeface="Calibri"/>
                <a:cs typeface="Calibri"/>
              </a:defRPr>
            </a:pPr>
            <a:r>
              <a:rPr sz="1725" b="1">
                <a:solidFill>
                  <a:srgbClr val="B54D13"/>
                </a:solidFill>
                <a:latin typeface="Calibri"/>
                <a:ea typeface="Calibri"/>
                <a:cs typeface="Calibri"/>
              </a:rPr>
              <a:t>Indicator scales and denominators differ. Values should retain their original units.</a:t>
            </a:r>
          </a:p>
        </p:txBody>
      </p:sp>
    </p:spTree>
    <p:extLst>
      <p:ext uri="{BB962C8B-B14F-4D97-AF65-F5344CB8AC3E}">
        <p14:creationId xmlns:p14="http://schemas.microsoft.com/office/powerpoint/2010/main" val="2017125607"/>
      </p:ext>
    </p:extLst>
  </p:cSld>
</p:sld>
</file>

<file path=ppt/slides/slide7.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Local coverage differs by indicator</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DATA COVERAGE</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07</a:t>
            </a:r>
          </a:p>
        </p:txBody>
      </p:sp>
      <p:graphicFrame>
        <p:nvGraphicFramePr>
          <p:cNvPr id="25" name=""/>
          <p:cNvGraphicFramePr/>
          <p:nvPr/>
        </p:nvGraphicFramePr>
        <p:xfrm>
          <a:off xmlns:a="http://schemas.openxmlformats.org/drawingml/2006/main" x="666750" y="1190625"/>
          <a:ext xmlns:a="http://schemas.openxmlformats.org/drawingml/2006/main" cx="10858500" cy="3667125"/>
        </p:xfrm>
        <a:graphic xmlns:a="http://schemas.openxmlformats.org/drawingml/2006/main">
          <a:graphicData uri="http://schemas.openxmlformats.org/drawingml/2006/table">
            <a:tbl>
              <a:tblPr/>
              <a:tblGrid>
                <a:gridCol w="4857750"/>
                <a:gridCol w="2000250"/>
                <a:gridCol w="2000250"/>
                <a:gridCol w="2000250"/>
              </a:tblGrid>
              <a:tr h="611188">
                <a:tc>
                  <a:txBody>
                    <a:bodyPr/>
                    <a:lstStyle/>
                    <a:p>
                      <a:r>
                        <a:rPr sz="1500" b="1">
                          <a:solidFill>
                            <a:srgbClr val="FFFFFF"/>
                          </a:solidFill>
                          <a:latin typeface="Calibri"/>
                          <a:ea typeface="Calibri"/>
                          <a:cs typeface="Calibri"/>
                        </a:rPr>
                        <a:t>Indicator</a:t>
                      </a:r>
                    </a:p>
                  </a:txBody>
                  <a:tcPr marL="91440" marR="91440" marT="45720" marB="45720">
                    <a:solidFill>
                      <a:srgbClr val="F87812"/>
                    </a:solidFill>
                  </a:tcPr>
                </a:tc>
                <a:tc>
                  <a:txBody>
                    <a:bodyPr/>
                    <a:lstStyle/>
                    <a:p>
                      <a:r>
                        <a:rPr sz="1500" b="1">
                          <a:solidFill>
                            <a:srgbClr val="FFFFFF"/>
                          </a:solidFill>
                          <a:latin typeface="Calibri"/>
                          <a:ea typeface="Calibri"/>
                          <a:cs typeface="Calibri"/>
                        </a:rPr>
                        <a:t>Authorities</a:t>
                      </a:r>
                    </a:p>
                  </a:txBody>
                  <a:tcPr marL="91440" marR="91440" marT="45720" marB="45720">
                    <a:solidFill>
                      <a:srgbClr val="F87812"/>
                    </a:solidFill>
                  </a:tcPr>
                </a:tc>
                <a:tc>
                  <a:txBody>
                    <a:bodyPr/>
                    <a:lstStyle/>
                    <a:p>
                      <a:r>
                        <a:rPr sz="1500" b="1">
                          <a:solidFill>
                            <a:srgbClr val="FFFFFF"/>
                          </a:solidFill>
                          <a:latin typeface="Calibri"/>
                          <a:ea typeface="Calibri"/>
                          <a:cs typeface="Calibri"/>
                        </a:rPr>
                        <a:t>Available</a:t>
                      </a:r>
                    </a:p>
                  </a:txBody>
                  <a:tcPr marL="91440" marR="91440" marT="45720" marB="45720">
                    <a:solidFill>
                      <a:srgbClr val="F87812"/>
                    </a:solidFill>
                  </a:tcPr>
                </a:tc>
                <a:tc>
                  <a:txBody>
                    <a:bodyPr/>
                    <a:lstStyle/>
                    <a:p>
                      <a:r>
                        <a:rPr sz="1500" b="1">
                          <a:solidFill>
                            <a:srgbClr val="FFFFFF"/>
                          </a:solidFill>
                          <a:latin typeface="Calibri"/>
                          <a:ea typeface="Calibri"/>
                          <a:cs typeface="Calibri"/>
                        </a:rPr>
                        <a:t>Missing</a:t>
                      </a:r>
                    </a:p>
                  </a:txBody>
                  <a:tcPr marL="91440" marR="91440" marT="45720" marB="45720">
                    <a:solidFill>
                      <a:srgbClr val="F87812"/>
                    </a:solidFill>
                  </a:tcPr>
                </a:tc>
              </a:tr>
              <a:tr h="611188">
                <a:tc>
                  <a:txBody>
                    <a:bodyPr/>
                    <a:lstStyle/>
                    <a:p>
                      <a:r>
                        <a:rPr sz="1650" b="0">
                          <a:solidFill>
                            <a:srgbClr val="262626"/>
                          </a:solidFill>
                          <a:latin typeface="Calibri"/>
                          <a:ea typeface="Calibri"/>
                          <a:cs typeface="Calibri"/>
                        </a:rPr>
                        <a:t>Child mortality</a:t>
                      </a:r>
                    </a:p>
                  </a:txBody>
                  <a:tcPr marL="91440" marR="91440" marT="45720" marB="45720">
                    <a:solidFill>
                      <a:srgbClr val="FFFCF8"/>
                    </a:solidFill>
                  </a:tcPr>
                </a:tc>
                <a:tc>
                  <a:txBody>
                    <a:bodyPr/>
                    <a:lstStyle/>
                    <a:p>
                      <a:r>
                        <a:rPr sz="1650" b="0">
                          <a:solidFill>
                            <a:srgbClr val="262626"/>
                          </a:solidFill>
                          <a:latin typeface="Calibri"/>
                          <a:ea typeface="Calibri"/>
                          <a:cs typeface="Calibri"/>
                        </a:rPr>
                        <a:t>132</a:t>
                      </a:r>
                    </a:p>
                  </a:txBody>
                  <a:tcPr marL="91440" marR="91440" marT="45720" marB="45720">
                    <a:solidFill>
                      <a:srgbClr val="FFFCF8"/>
                    </a:solidFill>
                  </a:tcPr>
                </a:tc>
                <a:tc>
                  <a:txBody>
                    <a:bodyPr/>
                    <a:lstStyle/>
                    <a:p>
                      <a:r>
                        <a:rPr sz="1650" b="0">
                          <a:solidFill>
                            <a:srgbClr val="262626"/>
                          </a:solidFill>
                          <a:latin typeface="Calibri"/>
                          <a:ea typeface="Calibri"/>
                          <a:cs typeface="Calibri"/>
                        </a:rPr>
                        <a:t>114</a:t>
                      </a:r>
                    </a:p>
                  </a:txBody>
                  <a:tcPr marL="91440" marR="91440" marT="45720" marB="45720">
                    <a:solidFill>
                      <a:srgbClr val="FFFCF8"/>
                    </a:solidFill>
                  </a:tcPr>
                </a:tc>
                <a:tc>
                  <a:txBody>
                    <a:bodyPr/>
                    <a:lstStyle/>
                    <a:p>
                      <a:r>
                        <a:rPr sz="1650" b="0">
                          <a:solidFill>
                            <a:srgbClr val="262626"/>
                          </a:solidFill>
                          <a:latin typeface="Calibri"/>
                          <a:ea typeface="Calibri"/>
                          <a:cs typeface="Calibri"/>
                        </a:rPr>
                        <a:t>18</a:t>
                      </a:r>
                    </a:p>
                  </a:txBody>
                  <a:tcPr marL="91440" marR="91440" marT="45720" marB="45720">
                    <a:solidFill>
                      <a:srgbClr val="FFFCF8"/>
                    </a:solidFill>
                  </a:tcPr>
                </a:tc>
              </a:tr>
              <a:tr h="611188">
                <a:tc>
                  <a:txBody>
                    <a:bodyPr/>
                    <a:lstStyle/>
                    <a:p>
                      <a:r>
                        <a:rPr sz="1650" b="0">
                          <a:solidFill>
                            <a:srgbClr val="262626"/>
                          </a:solidFill>
                          <a:latin typeface="Calibri"/>
                          <a:ea typeface="Calibri"/>
                          <a:cs typeface="Calibri"/>
                        </a:rPr>
                        <a:t>Infant mortality</a:t>
                      </a:r>
                    </a:p>
                  </a:txBody>
                  <a:tcPr marL="91440" marR="91440" marT="45720" marB="45720">
                    <a:solidFill>
                      <a:srgbClr val="FFE3C6"/>
                    </a:solidFill>
                  </a:tcPr>
                </a:tc>
                <a:tc>
                  <a:txBody>
                    <a:bodyPr/>
                    <a:lstStyle/>
                    <a:p>
                      <a:r>
                        <a:rPr sz="1650" b="0">
                          <a:solidFill>
                            <a:srgbClr val="262626"/>
                          </a:solidFill>
                          <a:latin typeface="Calibri"/>
                          <a:ea typeface="Calibri"/>
                          <a:cs typeface="Calibri"/>
                        </a:rPr>
                        <a:t>296</a:t>
                      </a:r>
                    </a:p>
                  </a:txBody>
                  <a:tcPr marL="91440" marR="91440" marT="45720" marB="45720">
                    <a:solidFill>
                      <a:srgbClr val="FFE3C6"/>
                    </a:solidFill>
                  </a:tcPr>
                </a:tc>
                <a:tc>
                  <a:txBody>
                    <a:bodyPr/>
                    <a:lstStyle/>
                    <a:p>
                      <a:r>
                        <a:rPr sz="1650" b="0">
                          <a:solidFill>
                            <a:srgbClr val="262626"/>
                          </a:solidFill>
                          <a:latin typeface="Calibri"/>
                          <a:ea typeface="Calibri"/>
                          <a:cs typeface="Calibri"/>
                        </a:rPr>
                        <a:t>291</a:t>
                      </a:r>
                    </a:p>
                  </a:txBody>
                  <a:tcPr marL="91440" marR="91440" marT="45720" marB="45720">
                    <a:solidFill>
                      <a:srgbClr val="FFE3C6"/>
                    </a:solidFill>
                  </a:tcPr>
                </a:tc>
                <a:tc>
                  <a:txBody>
                    <a:bodyPr/>
                    <a:lstStyle/>
                    <a:p>
                      <a:r>
                        <a:rPr sz="1650" b="0">
                          <a:solidFill>
                            <a:srgbClr val="262626"/>
                          </a:solidFill>
                          <a:latin typeface="Calibri"/>
                          <a:ea typeface="Calibri"/>
                          <a:cs typeface="Calibri"/>
                        </a:rPr>
                        <a:t>5</a:t>
                      </a:r>
                    </a:p>
                  </a:txBody>
                  <a:tcPr marL="91440" marR="91440" marT="45720" marB="45720">
                    <a:solidFill>
                      <a:srgbClr val="FFE3C6"/>
                    </a:solidFill>
                  </a:tcPr>
                </a:tc>
              </a:tr>
              <a:tr h="611188">
                <a:tc>
                  <a:txBody>
                    <a:bodyPr/>
                    <a:lstStyle/>
                    <a:p>
                      <a:r>
                        <a:rPr sz="1650" b="0">
                          <a:solidFill>
                            <a:srgbClr val="262626"/>
                          </a:solidFill>
                          <a:latin typeface="Calibri"/>
                          <a:ea typeface="Calibri"/>
                          <a:cs typeface="Calibri"/>
                        </a:rPr>
                        <a:t>Neonatal mortality</a:t>
                      </a:r>
                    </a:p>
                  </a:txBody>
                  <a:tcPr marL="91440" marR="91440" marT="45720" marB="45720">
                    <a:solidFill>
                      <a:srgbClr val="FFFCF8"/>
                    </a:solidFill>
                  </a:tcPr>
                </a:tc>
                <a:tc>
                  <a:txBody>
                    <a:bodyPr/>
                    <a:lstStyle/>
                    <a:p>
                      <a:r>
                        <a:rPr sz="1650" b="0">
                          <a:solidFill>
                            <a:srgbClr val="262626"/>
                          </a:solidFill>
                          <a:latin typeface="Calibri"/>
                          <a:ea typeface="Calibri"/>
                          <a:cs typeface="Calibri"/>
                        </a:rPr>
                        <a:t>132</a:t>
                      </a:r>
                    </a:p>
                  </a:txBody>
                  <a:tcPr marL="91440" marR="91440" marT="45720" marB="45720">
                    <a:solidFill>
                      <a:srgbClr val="FFFCF8"/>
                    </a:solidFill>
                  </a:tcPr>
                </a:tc>
                <a:tc>
                  <a:txBody>
                    <a:bodyPr/>
                    <a:lstStyle/>
                    <a:p>
                      <a:r>
                        <a:rPr sz="1650" b="0">
                          <a:solidFill>
                            <a:srgbClr val="262626"/>
                          </a:solidFill>
                          <a:latin typeface="Calibri"/>
                          <a:ea typeface="Calibri"/>
                          <a:cs typeface="Calibri"/>
                        </a:rPr>
                        <a:t>130</a:t>
                      </a:r>
                    </a:p>
                  </a:txBody>
                  <a:tcPr marL="91440" marR="91440" marT="45720" marB="45720">
                    <a:solidFill>
                      <a:srgbClr val="FFFCF8"/>
                    </a:solidFill>
                  </a:tcPr>
                </a:tc>
                <a:tc>
                  <a:txBody>
                    <a:bodyPr/>
                    <a:lstStyle/>
                    <a:p>
                      <a:r>
                        <a:rPr sz="1650" b="0">
                          <a:solidFill>
                            <a:srgbClr val="262626"/>
                          </a:solidFill>
                          <a:latin typeface="Calibri"/>
                          <a:ea typeface="Calibri"/>
                          <a:cs typeface="Calibri"/>
                        </a:rPr>
                        <a:t>2</a:t>
                      </a:r>
                    </a:p>
                  </a:txBody>
                  <a:tcPr marL="91440" marR="91440" marT="45720" marB="45720">
                    <a:solidFill>
                      <a:srgbClr val="FFFCF8"/>
                    </a:solidFill>
                  </a:tcPr>
                </a:tc>
              </a:tr>
              <a:tr h="611188">
                <a:tc>
                  <a:txBody>
                    <a:bodyPr/>
                    <a:lstStyle/>
                    <a:p>
                      <a:r>
                        <a:rPr sz="1650" b="0">
                          <a:solidFill>
                            <a:srgbClr val="262626"/>
                          </a:solidFill>
                          <a:latin typeface="Calibri"/>
                          <a:ea typeface="Calibri"/>
                          <a:cs typeface="Calibri"/>
                        </a:rPr>
                        <a:t>Post-neonatal mortality</a:t>
                      </a:r>
                    </a:p>
                  </a:txBody>
                  <a:tcPr marL="91440" marR="91440" marT="45720" marB="45720">
                    <a:solidFill>
                      <a:srgbClr val="FFE3C6"/>
                    </a:solidFill>
                  </a:tcPr>
                </a:tc>
                <a:tc>
                  <a:txBody>
                    <a:bodyPr/>
                    <a:lstStyle/>
                    <a:p>
                      <a:r>
                        <a:rPr sz="1650" b="0">
                          <a:solidFill>
                            <a:srgbClr val="262626"/>
                          </a:solidFill>
                          <a:latin typeface="Calibri"/>
                          <a:ea typeface="Calibri"/>
                          <a:cs typeface="Calibri"/>
                        </a:rPr>
                        <a:t>132</a:t>
                      </a:r>
                    </a:p>
                  </a:txBody>
                  <a:tcPr marL="91440" marR="91440" marT="45720" marB="45720">
                    <a:solidFill>
                      <a:srgbClr val="FFE3C6"/>
                    </a:solidFill>
                  </a:tcPr>
                </a:tc>
                <a:tc>
                  <a:txBody>
                    <a:bodyPr/>
                    <a:lstStyle/>
                    <a:p>
                      <a:r>
                        <a:rPr sz="1650" b="0">
                          <a:solidFill>
                            <a:srgbClr val="262626"/>
                          </a:solidFill>
                          <a:latin typeface="Calibri"/>
                          <a:ea typeface="Calibri"/>
                          <a:cs typeface="Calibri"/>
                        </a:rPr>
                        <a:t>121</a:t>
                      </a:r>
                    </a:p>
                  </a:txBody>
                  <a:tcPr marL="91440" marR="91440" marT="45720" marB="45720">
                    <a:solidFill>
                      <a:srgbClr val="FFE3C6"/>
                    </a:solidFill>
                  </a:tcPr>
                </a:tc>
                <a:tc>
                  <a:txBody>
                    <a:bodyPr/>
                    <a:lstStyle/>
                    <a:p>
                      <a:r>
                        <a:rPr sz="1650" b="0">
                          <a:solidFill>
                            <a:srgbClr val="262626"/>
                          </a:solidFill>
                          <a:latin typeface="Calibri"/>
                          <a:ea typeface="Calibri"/>
                          <a:cs typeface="Calibri"/>
                        </a:rPr>
                        <a:t>11</a:t>
                      </a:r>
                    </a:p>
                  </a:txBody>
                  <a:tcPr marL="91440" marR="91440" marT="45720" marB="45720">
                    <a:solidFill>
                      <a:srgbClr val="FFE3C6"/>
                    </a:solidFill>
                  </a:tcPr>
                </a:tc>
              </a:tr>
              <a:tr h="611188">
                <a:tc>
                  <a:txBody>
                    <a:bodyPr/>
                    <a:lstStyle/>
                    <a:p>
                      <a:r>
                        <a:rPr sz="1650" b="0">
                          <a:solidFill>
                            <a:srgbClr val="262626"/>
                          </a:solidFill>
                          <a:latin typeface="Calibri"/>
                          <a:ea typeface="Calibri"/>
                          <a:cs typeface="Calibri"/>
                        </a:rPr>
                        <a:t>Stillbirth</a:t>
                      </a:r>
                    </a:p>
                  </a:txBody>
                  <a:tcPr marL="91440" marR="91440" marT="45720" marB="45720">
                    <a:solidFill>
                      <a:srgbClr val="FFFCF8"/>
                    </a:solidFill>
                  </a:tcPr>
                </a:tc>
                <a:tc>
                  <a:txBody>
                    <a:bodyPr/>
                    <a:lstStyle/>
                    <a:p>
                      <a:r>
                        <a:rPr sz="1650" b="0">
                          <a:solidFill>
                            <a:srgbClr val="262626"/>
                          </a:solidFill>
                          <a:latin typeface="Calibri"/>
                          <a:ea typeface="Calibri"/>
                          <a:cs typeface="Calibri"/>
                        </a:rPr>
                        <a:t>296</a:t>
                      </a:r>
                    </a:p>
                  </a:txBody>
                  <a:tcPr marL="91440" marR="91440" marT="45720" marB="45720">
                    <a:solidFill>
                      <a:srgbClr val="FFFCF8"/>
                    </a:solidFill>
                  </a:tcPr>
                </a:tc>
                <a:tc>
                  <a:txBody>
                    <a:bodyPr/>
                    <a:lstStyle/>
                    <a:p>
                      <a:r>
                        <a:rPr sz="1650" b="0">
                          <a:solidFill>
                            <a:srgbClr val="262626"/>
                          </a:solidFill>
                          <a:latin typeface="Calibri"/>
                          <a:ea typeface="Calibri"/>
                          <a:cs typeface="Calibri"/>
                        </a:rPr>
                        <a:t>287</a:t>
                      </a:r>
                    </a:p>
                  </a:txBody>
                  <a:tcPr marL="91440" marR="91440" marT="45720" marB="45720">
                    <a:solidFill>
                      <a:srgbClr val="FFFCF8"/>
                    </a:solidFill>
                  </a:tcPr>
                </a:tc>
                <a:tc>
                  <a:txBody>
                    <a:bodyPr/>
                    <a:lstStyle/>
                    <a:p>
                      <a:r>
                        <a:rPr sz="1650" b="0">
                          <a:solidFill>
                            <a:srgbClr val="262626"/>
                          </a:solidFill>
                          <a:latin typeface="Calibri"/>
                          <a:ea typeface="Calibri"/>
                          <a:cs typeface="Calibri"/>
                        </a:rPr>
                        <a:t>9</a:t>
                      </a:r>
                    </a:p>
                  </a:txBody>
                  <a:tcPr marL="91440" marR="91440" marT="45720" marB="45720">
                    <a:solidFill>
                      <a:srgbClr val="FFFCF8"/>
                    </a:solidFill>
                  </a:tcPr>
                </a:tc>
              </a:tr>
            </a:tbl>
          </a:graphicData>
        </a:graphic>
      </p:graphicFrame>
      <p:sp>
        <p:nvSpPr>
          <p:cNvPr id="17" name="">
            <a:extLst xmlns:a="http://schemas.openxmlformats.org/drawingml/2006/main">
              <a:ext uri="{FF2B5EF4-FFF2-40B4-BE49-F238E27FC236}">
                <a16:creationId xmlns:a16="http://schemas.microsoft.com/office/drawing/2014/main" id="{BA38A0F1-ED43-4C0B-9C7E-39976D358929}"/>
              </a:ext>
            </a:extLst>
          </p:cNvPr>
          <p:cNvSpPr>
            <a:spLocks xmlns:a="http://schemas.openxmlformats.org/drawingml/2006/main" noGrp="1"/>
          </p:cNvSpPr>
          <p:nvPr/>
        </p:nvSpPr>
        <p:spPr>
          <a:xfrm xmlns:a="http://schemas.openxmlformats.org/drawingml/2006/main">
            <a:off x="714375" y="5238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Infant mortality and stillbirth cover 164 Districts and 132 UAs. The other indicators cover 132 UAs.</a:t>
            </a:r>
          </a:p>
        </p:txBody>
      </p:sp>
    </p:spTree>
    <p:extLst>
      <p:ext uri="{BB962C8B-B14F-4D97-AF65-F5344CB8AC3E}">
        <p14:creationId xmlns:p14="http://schemas.microsoft.com/office/powerpoint/2010/main" val="2017125607"/>
      </p:ext>
    </p:extLst>
  </p:cSld>
</p:sld>
</file>

<file path=ppt/slides/slide8.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Quality rules retain the evidence</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DATA PREPARATION</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08</a:t>
            </a:r>
          </a:p>
        </p:txBody>
      </p:sp>
      <p:sp>
        <p:nvSpPr>
          <p:cNvPr id="16" name="">
            <a:extLst xmlns:a="http://schemas.openxmlformats.org/drawingml/2006/main">
              <a:ext uri="{FF2B5EF4-FFF2-40B4-BE49-F238E27FC236}">
                <a16:creationId xmlns:a16="http://schemas.microsoft.com/office/drawing/2014/main" id="{BB76D622-3F15-42EA-9EA8-EA3FB273C6F1}"/>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Unique records</a:t>
            </a:r>
          </a:p>
        </p:txBody>
      </p:sp>
      <p:sp>
        <p:nvSpPr>
          <p:cNvPr id="17" name="">
            <a:extLst xmlns:a="http://schemas.openxmlformats.org/drawingml/2006/main">
              <a:ext uri="{FF2B5EF4-FFF2-40B4-BE49-F238E27FC236}">
                <a16:creationId xmlns:a16="http://schemas.microsoft.com/office/drawing/2014/main" id="{073FB7E5-EFAE-443F-90FB-4C75FC7BEA76}"/>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Zero duplicate national indicator-period keys and zero duplicate local indicator-area keys.</a:t>
            </a:r>
          </a:p>
        </p:txBody>
      </p:sp>
      <p:sp>
        <p:nvSpPr>
          <p:cNvPr id="18" name="">
            <a:extLst xmlns:a="http://schemas.openxmlformats.org/drawingml/2006/main">
              <a:ext uri="{FF2B5EF4-FFF2-40B4-BE49-F238E27FC236}">
                <a16:creationId xmlns:a16="http://schemas.microsoft.com/office/drawing/2014/main" id="{2F5EF765-5F14-42AE-ABDC-532810DFCFB3}"/>
              </a:ext>
            </a:extLst>
          </p:cNvPr>
          <p:cNvSpPr>
            <a:spLocks xmlns:a="http://schemas.openxmlformats.org/drawingml/2006/main" noGrp="1"/>
          </p:cNvSpPr>
          <p:nvPr/>
        </p:nvSpPr>
        <p:spPr>
          <a:xfrm xmlns:a="http://schemas.openxmlformats.org/drawingml/2006/main">
            <a:off x="704850" y="22098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Missing mortality</a:t>
            </a:r>
          </a:p>
        </p:txBody>
      </p:sp>
      <p:sp>
        <p:nvSpPr>
          <p:cNvPr id="19" name="">
            <a:extLst xmlns:a="http://schemas.openxmlformats.org/drawingml/2006/main">
              <a:ext uri="{FF2B5EF4-FFF2-40B4-BE49-F238E27FC236}">
                <a16:creationId xmlns:a16="http://schemas.microsoft.com/office/drawing/2014/main" id="{85314C99-471B-4084-A4EF-58191B85B799}"/>
              </a:ext>
            </a:extLst>
          </p:cNvPr>
          <p:cNvSpPr>
            <a:spLocks xmlns:a="http://schemas.openxmlformats.org/drawingml/2006/main" noGrp="1"/>
          </p:cNvSpPr>
          <p:nvPr/>
        </p:nvSpPr>
        <p:spPr>
          <a:xfrm xmlns:a="http://schemas.openxmlformats.org/drawingml/2006/main">
            <a:off x="3143250" y="22098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45 of 988 local rows have unavailable or suppressed rates. These values remain missing.</a:t>
            </a:r>
          </a:p>
        </p:txBody>
      </p:sp>
      <p:sp>
        <p:nvSpPr>
          <p:cNvPr id="20" name="">
            <a:extLst xmlns:a="http://schemas.openxmlformats.org/drawingml/2006/main">
              <a:ext uri="{FF2B5EF4-FFF2-40B4-BE49-F238E27FC236}">
                <a16:creationId xmlns:a16="http://schemas.microsoft.com/office/drawing/2014/main" id="{2064E2C8-1BEF-42E7-95A4-FEB47F97B0FF}"/>
              </a:ext>
            </a:extLst>
          </p:cNvPr>
          <p:cNvSpPr>
            <a:spLocks xmlns:a="http://schemas.openxmlformats.org/drawingml/2006/main" noGrp="1"/>
          </p:cNvSpPr>
          <p:nvPr/>
        </p:nvSpPr>
        <p:spPr>
          <a:xfrm xmlns:a="http://schemas.openxmlformats.org/drawingml/2006/main">
            <a:off x="704850" y="3276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Valid intervals</a:t>
            </a:r>
          </a:p>
        </p:txBody>
      </p:sp>
      <p:sp>
        <p:nvSpPr>
          <p:cNvPr id="21" name="">
            <a:extLst xmlns:a="http://schemas.openxmlformats.org/drawingml/2006/main">
              <a:ext uri="{FF2B5EF4-FFF2-40B4-BE49-F238E27FC236}">
                <a16:creationId xmlns:a16="http://schemas.microsoft.com/office/drawing/2014/main" id="{91BE4E6E-295B-46B9-AB30-5A53513839DF}"/>
              </a:ext>
            </a:extLst>
          </p:cNvPr>
          <p:cNvSpPr>
            <a:spLocks xmlns:a="http://schemas.openxmlformats.org/drawingml/2006/main" noGrp="1"/>
          </p:cNvSpPr>
          <p:nvPr/>
        </p:nvSpPr>
        <p:spPr>
          <a:xfrm xmlns:a="http://schemas.openxmlformats.org/drawingml/2006/main">
            <a:off x="3143250" y="3276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No reported interval violates LowerCI95 ≤ Value ≤ UpperCI95.</a:t>
            </a:r>
          </a:p>
        </p:txBody>
      </p:sp>
      <p:sp>
        <p:nvSpPr>
          <p:cNvPr id="22" name="">
            <a:extLst xmlns:a="http://schemas.openxmlformats.org/drawingml/2006/main">
              <a:ext uri="{FF2B5EF4-FFF2-40B4-BE49-F238E27FC236}">
                <a16:creationId xmlns:a16="http://schemas.microsoft.com/office/drawing/2014/main" id="{1540D4F0-658A-4CE3-9150-4D4D550B7D4E}"/>
              </a:ext>
            </a:extLst>
          </p:cNvPr>
          <p:cNvSpPr>
            <a:spLocks xmlns:a="http://schemas.openxmlformats.org/drawingml/2006/main" noGrp="1"/>
          </p:cNvSpPr>
          <p:nvPr/>
        </p:nvSpPr>
        <p:spPr>
          <a:xfrm xmlns:a="http://schemas.openxmlformats.org/drawingml/2006/main">
            <a:off x="704850" y="43434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Area matching</a:t>
            </a:r>
          </a:p>
        </p:txBody>
      </p:sp>
      <p:sp>
        <p:nvSpPr>
          <p:cNvPr id="23" name="">
            <a:extLst xmlns:a="http://schemas.openxmlformats.org/drawingml/2006/main">
              <a:ext uri="{FF2B5EF4-FFF2-40B4-BE49-F238E27FC236}">
                <a16:creationId xmlns:a16="http://schemas.microsoft.com/office/drawing/2014/main" id="{18E14612-F1A2-47B5-B389-F52ADEFADBFA}"/>
              </a:ext>
            </a:extLst>
          </p:cNvPr>
          <p:cNvSpPr>
            <a:spLocks xmlns:a="http://schemas.openxmlformats.org/drawingml/2006/main" noGrp="1"/>
          </p:cNvSpPr>
          <p:nvPr/>
        </p:nvSpPr>
        <p:spPr>
          <a:xfrm xmlns:a="http://schemas.openxmlformats.org/drawingml/2006/main">
            <a:off x="3143250" y="43434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Nomis matches all 296 area codes. IMD 2019 matches 289, leaving seven current authorities unmatched.</a:t>
            </a:r>
          </a:p>
        </p:txBody>
      </p:sp>
      <p:sp>
        <p:nvSpPr>
          <p:cNvPr id="24" name="">
            <a:extLst xmlns:a="http://schemas.openxmlformats.org/drawingml/2006/main">
              <a:ext uri="{FF2B5EF4-FFF2-40B4-BE49-F238E27FC236}">
                <a16:creationId xmlns:a16="http://schemas.microsoft.com/office/drawing/2014/main" id="{206AC8C5-72BD-4178-9842-F870968EA88D}"/>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A missing or suppressed value does not imply zero mortality.</a:t>
            </a:r>
          </a:p>
        </p:txBody>
      </p:sp>
    </p:spTree>
    <p:extLst>
      <p:ext uri="{BB962C8B-B14F-4D97-AF65-F5344CB8AC3E}">
        <p14:creationId xmlns:p14="http://schemas.microsoft.com/office/powerpoint/2010/main" val="2017125607"/>
      </p:ext>
    </p:extLst>
  </p:cSld>
</p:sld>
</file>

<file path=ppt/slides/slide9.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National mortality trends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DASHBOARD 1</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02ddae4b7b34195"/>
          <a:stretch xmlns:a="http://schemas.openxmlformats.org/drawingml/2006/main"/>
        </p:blipFill>
        <p:spPr>
          <a:xfrm xmlns:a="http://schemas.openxmlformats.org/drawingml/2006/main">
            <a:off x="1537457" y="809625"/>
            <a:ext cx="8993261" cy="52387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AB33A758-BB57-4600-8028-B9973F9D8D42}"/>
              </a:ext>
            </a:extLst>
          </p:cNvPr>
          <p:cNvSpPr>
            <a:spLocks xmlns:a="http://schemas.openxmlformats.org/drawingml/2006/main" noGrp="1"/>
          </p:cNvSpPr>
          <p:nvPr/>
        </p:nvSpPr>
        <p:spPr>
          <a:xfrm xmlns:a="http://schemas.openxmlformats.org/drawingml/2006/main">
            <a:off x="628650" y="6105525"/>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54D13"/>
                </a:solidFill>
                <a:latin typeface="Calibri"/>
                <a:ea typeface="Calibri"/>
                <a:cs typeface="Calibri"/>
              </a:defRPr>
            </a:pPr>
            <a:r>
              <a:rPr sz="1350" b="0">
                <a:solidFill>
                  <a:srgbClr val="B54D13"/>
                </a:solidFill>
                <a:latin typeface="Calibri"/>
                <a:ea typeface="Calibri"/>
                <a:cs typeface="Calibri"/>
              </a:rPr>
              <a:t>Trend: neonatal mortality. Other panels: infant mortality. KPI interval discrepancy: see slide 11.</a:t>
            </a:r>
          </a:p>
        </p:txBody>
      </p:sp>
    </p:spTree>
    <p:extLst>
      <p:ext uri="{BB962C8B-B14F-4D97-AF65-F5344CB8AC3E}">
        <p14:creationId xmlns:p14="http://schemas.microsoft.com/office/powerpoint/2010/main" val="2017125607"/>
      </p:ext>
    </p:extLst>
  </p:cSld>
</p:sld>
</file>

<file path=ppt/slides/slide10.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Neonatal mortality declined, then increased</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S1</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10</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c72aec618aa46c1"/>
          <a:stretch xmlns:a="http://schemas.openxmlformats.org/drawingml/2006/main"/>
        </p:blipFill>
        <p:spPr>
          <a:xfrm xmlns:a="http://schemas.openxmlformats.org/drawingml/2006/main">
            <a:off x="883437" y="952500"/>
            <a:ext cx="7377126" cy="5095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F9D50C95-31CE-4FEB-A2BA-04A4D8A2D59E}"/>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2CFA1D58-570A-4E0D-9A79-BE3F5A173A9F}"/>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England neonatal mortality across 22 rolling three-year periods.</a:t>
            </a:r>
          </a:p>
        </p:txBody>
      </p:sp>
      <p:sp>
        <p:nvSpPr>
          <p:cNvPr id="19" name="">
            <a:extLst xmlns:a="http://schemas.openxmlformats.org/drawingml/2006/main">
              <a:ext uri="{FF2B5EF4-FFF2-40B4-BE49-F238E27FC236}">
                <a16:creationId xmlns:a16="http://schemas.microsoft.com/office/drawing/2014/main" id="{410ED792-2AC9-435B-AF0F-11F5507CCFC1}"/>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RESULT</a:t>
            </a:r>
          </a:p>
        </p:txBody>
      </p:sp>
      <p:sp>
        <p:nvSpPr>
          <p:cNvPr id="20" name="">
            <a:extLst xmlns:a="http://schemas.openxmlformats.org/drawingml/2006/main">
              <a:ext uri="{FF2B5EF4-FFF2-40B4-BE49-F238E27FC236}">
                <a16:creationId xmlns:a16="http://schemas.microsoft.com/office/drawing/2014/main" id="{987E5702-3A5C-4004-94B3-86CEB63602C8}"/>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rate fell from 3.61 to 3.07 per 1,000 over the full period.</a:t>
            </a:r>
          </a:p>
        </p:txBody>
      </p:sp>
      <p:sp>
        <p:nvSpPr>
          <p:cNvPr id="21" name="">
            <a:extLst xmlns:a="http://schemas.openxmlformats.org/drawingml/2006/main">
              <a:ext uri="{FF2B5EF4-FFF2-40B4-BE49-F238E27FC236}">
                <a16:creationId xmlns:a16="http://schemas.microsoft.com/office/drawing/2014/main" id="{6F9B4EDF-A43A-4749-AF3E-0FF433894F78}"/>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INTERPRETATION</a:t>
            </a:r>
          </a:p>
        </p:txBody>
      </p:sp>
      <p:sp>
        <p:nvSpPr>
          <p:cNvPr id="22" name="">
            <a:extLst xmlns:a="http://schemas.openxmlformats.org/drawingml/2006/main">
              <a:ext uri="{FF2B5EF4-FFF2-40B4-BE49-F238E27FC236}">
                <a16:creationId xmlns:a16="http://schemas.microsoft.com/office/drawing/2014/main" id="{480220F0-6256-4599-8A8F-B24E11CF778C}"/>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latest rate is 13.2% above the 2013–15 low of 2.71.</a:t>
            </a:r>
          </a:p>
        </p:txBody>
      </p:sp>
    </p:spTree>
    <p:extLst>
      <p:ext uri="{BB962C8B-B14F-4D97-AF65-F5344CB8AC3E}">
        <p14:creationId xmlns:p14="http://schemas.microsoft.com/office/powerpoint/2010/main" val="2017125607"/>
      </p:ext>
    </p:extLst>
  </p:cSld>
</p:sld>
</file>

<file path=ppt/slides/slide11.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England infant mortality reached 4.17 per 1,000</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S2</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11</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256ec95a8d04689"/>
          <a:stretch xmlns:a="http://schemas.openxmlformats.org/drawingml/2006/main"/>
        </p:blipFill>
        <p:spPr>
          <a:xfrm xmlns:a="http://schemas.openxmlformats.org/drawingml/2006/main">
            <a:off x="523875" y="1003962"/>
            <a:ext cx="8096250" cy="4992951"/>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F647F8E9-96C9-4B82-BDDC-66F0DDA8AC80}"/>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59BA6FBC-4D2C-4C0D-9989-0EFB75696B48}"/>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latest infant mortality rate for England, covering 2022–24.</a:t>
            </a:r>
          </a:p>
        </p:txBody>
      </p:sp>
      <p:sp>
        <p:nvSpPr>
          <p:cNvPr id="19" name="">
            <a:extLst xmlns:a="http://schemas.openxmlformats.org/drawingml/2006/main">
              <a:ext uri="{FF2B5EF4-FFF2-40B4-BE49-F238E27FC236}">
                <a16:creationId xmlns:a16="http://schemas.microsoft.com/office/drawing/2014/main" id="{1F03AAB0-A948-4567-89FB-BC05804E41E7}"/>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PRECISION</a:t>
            </a:r>
          </a:p>
        </p:txBody>
      </p:sp>
      <p:sp>
        <p:nvSpPr>
          <p:cNvPr id="20" name="">
            <a:extLst xmlns:a="http://schemas.openxmlformats.org/drawingml/2006/main">
              <a:ext uri="{FF2B5EF4-FFF2-40B4-BE49-F238E27FC236}">
                <a16:creationId xmlns:a16="http://schemas.microsoft.com/office/drawing/2014/main" id="{32586B9D-BE9B-4B9C-BC83-4F938F29B2F5}"/>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CSV 95% CI: 4.07–4.26. The image shows 4.08–4.27. Count: 7,117 deaths.</a:t>
            </a:r>
          </a:p>
        </p:txBody>
      </p:sp>
      <p:sp>
        <p:nvSpPr>
          <p:cNvPr id="21" name="">
            <a:extLst xmlns:a="http://schemas.openxmlformats.org/drawingml/2006/main">
              <a:ext uri="{FF2B5EF4-FFF2-40B4-BE49-F238E27FC236}">
                <a16:creationId xmlns:a16="http://schemas.microsoft.com/office/drawing/2014/main" id="{901D0A99-11B2-4301-A0F9-C6C35C342353}"/>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INTERPRETATION</a:t>
            </a:r>
          </a:p>
        </p:txBody>
      </p:sp>
      <p:sp>
        <p:nvSpPr>
          <p:cNvPr id="22" name="">
            <a:extLst xmlns:a="http://schemas.openxmlformats.org/drawingml/2006/main">
              <a:ext uri="{FF2B5EF4-FFF2-40B4-BE49-F238E27FC236}">
                <a16:creationId xmlns:a16="http://schemas.microsoft.com/office/drawing/2014/main" id="{0A39C708-D502-43C0-868D-A1EF9B8E3683}"/>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This national benchmark provides context for local authority comparisons.</a:t>
            </a:r>
          </a:p>
        </p:txBody>
      </p:sp>
    </p:spTree>
    <p:extLst>
      <p:ext uri="{BB962C8B-B14F-4D97-AF65-F5344CB8AC3E}">
        <p14:creationId xmlns:p14="http://schemas.microsoft.com/office/powerpoint/2010/main" val="2017125607"/>
      </p:ext>
    </p:extLst>
  </p:cSld>
</p:sld>
</file>

<file path=ppt/slides/slide12.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Infant mortality fell 22.2% over the full period</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S3</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12</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0250c68a447404f"/>
          <a:stretch xmlns:a="http://schemas.openxmlformats.org/drawingml/2006/main"/>
        </p:blipFill>
        <p:spPr>
          <a:xfrm xmlns:a="http://schemas.openxmlformats.org/drawingml/2006/main">
            <a:off x="883437" y="952500"/>
            <a:ext cx="7377126" cy="5095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3F051BAA-22D6-490A-A9D6-4D7E631C40F9}"/>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COMPARISON</a:t>
            </a:r>
          </a:p>
        </p:txBody>
      </p:sp>
      <p:sp>
        <p:nvSpPr>
          <p:cNvPr id="18" name="">
            <a:extLst xmlns:a="http://schemas.openxmlformats.org/drawingml/2006/main">
              <a:ext uri="{FF2B5EF4-FFF2-40B4-BE49-F238E27FC236}">
                <a16:creationId xmlns:a16="http://schemas.microsoft.com/office/drawing/2014/main" id="{FD87C46B-5ADD-4CF3-9BD2-55D12D50D279}"/>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5.36 per 1,000 in 2001–03 compared with 4.17 in 2022–24.</a:t>
            </a:r>
          </a:p>
        </p:txBody>
      </p:sp>
      <p:sp>
        <p:nvSpPr>
          <p:cNvPr id="19" name="">
            <a:extLst xmlns:a="http://schemas.openxmlformats.org/drawingml/2006/main">
              <a:ext uri="{FF2B5EF4-FFF2-40B4-BE49-F238E27FC236}">
                <a16:creationId xmlns:a16="http://schemas.microsoft.com/office/drawing/2014/main" id="{CCCBC795-6B87-411B-89CC-C14D69867B5F}"/>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ABSOLUTE CHANGE</a:t>
            </a:r>
          </a:p>
        </p:txBody>
      </p:sp>
      <p:sp>
        <p:nvSpPr>
          <p:cNvPr id="20" name="">
            <a:extLst xmlns:a="http://schemas.openxmlformats.org/drawingml/2006/main">
              <a:ext uri="{FF2B5EF4-FFF2-40B4-BE49-F238E27FC236}">
                <a16:creationId xmlns:a16="http://schemas.microsoft.com/office/drawing/2014/main" id="{CF641108-127F-4D50-A4DE-45C76069645C}"/>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A reduction of 1.19 deaths per 1,000 in the reported rate.</a:t>
            </a:r>
          </a:p>
        </p:txBody>
      </p:sp>
      <p:sp>
        <p:nvSpPr>
          <p:cNvPr id="21" name="">
            <a:extLst xmlns:a="http://schemas.openxmlformats.org/drawingml/2006/main">
              <a:ext uri="{FF2B5EF4-FFF2-40B4-BE49-F238E27FC236}">
                <a16:creationId xmlns:a16="http://schemas.microsoft.com/office/drawing/2014/main" id="{8BF98FFE-4210-456B-9196-4F28963B03B5}"/>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INTERPRETATION</a:t>
            </a:r>
          </a:p>
        </p:txBody>
      </p:sp>
      <p:sp>
        <p:nvSpPr>
          <p:cNvPr id="22" name="">
            <a:extLst xmlns:a="http://schemas.openxmlformats.org/drawingml/2006/main">
              <a:ext uri="{FF2B5EF4-FFF2-40B4-BE49-F238E27FC236}">
                <a16:creationId xmlns:a16="http://schemas.microsoft.com/office/drawing/2014/main" id="{88296257-3390-4595-95F1-F2C6DACBDC91}"/>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endpoint comparison hides the decline followed by a recent increase.</a:t>
            </a:r>
          </a:p>
        </p:txBody>
      </p:sp>
    </p:spTree>
    <p:extLst>
      <p:ext uri="{BB962C8B-B14F-4D97-AF65-F5344CB8AC3E}">
        <p14:creationId xmlns:p14="http://schemas.microsoft.com/office/powerpoint/2010/main" val="2017125607"/>
      </p:ext>
    </p:extLst>
  </p:cSld>
</p:sld>
</file>

<file path=ppt/slides/slide13.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Confidence intervals add context to the trend</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S4</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13</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f0a87b8cefd4ad1"/>
          <a:stretch xmlns:a="http://schemas.openxmlformats.org/drawingml/2006/main"/>
        </p:blipFill>
        <p:spPr>
          <a:xfrm xmlns:a="http://schemas.openxmlformats.org/drawingml/2006/main">
            <a:off x="666180" y="952500"/>
            <a:ext cx="7811641" cy="5095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05CAE27-A8D8-4E7E-8DEB-CE118A105CE3}"/>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5B070D79-BB7F-41AA-B215-FF79200DAFCD}"/>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Infant mortality estimates with their reported 95% confidence intervals.</a:t>
            </a:r>
          </a:p>
        </p:txBody>
      </p:sp>
      <p:sp>
        <p:nvSpPr>
          <p:cNvPr id="19" name="">
            <a:extLst xmlns:a="http://schemas.openxmlformats.org/drawingml/2006/main">
              <a:ext uri="{FF2B5EF4-FFF2-40B4-BE49-F238E27FC236}">
                <a16:creationId xmlns:a16="http://schemas.microsoft.com/office/drawing/2014/main" id="{036CC01F-E78C-4C53-B6C8-6473EC214253}"/>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RECENT CHANGE</a:t>
            </a:r>
          </a:p>
        </p:txBody>
      </p:sp>
      <p:sp>
        <p:nvSpPr>
          <p:cNvPr id="20" name="">
            <a:extLst xmlns:a="http://schemas.openxmlformats.org/drawingml/2006/main">
              <a:ext uri="{FF2B5EF4-FFF2-40B4-BE49-F238E27FC236}">
                <a16:creationId xmlns:a16="http://schemas.microsoft.com/office/drawing/2014/main" id="{ED36C371-FD8E-40A0-8C71-1991714680DF}"/>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4.17 in 2022–24 compared with the 2014–16 low of 3.88 per 1,000.</a:t>
            </a:r>
          </a:p>
        </p:txBody>
      </p:sp>
      <p:sp>
        <p:nvSpPr>
          <p:cNvPr id="21" name="">
            <a:extLst xmlns:a="http://schemas.openxmlformats.org/drawingml/2006/main">
              <a:ext uri="{FF2B5EF4-FFF2-40B4-BE49-F238E27FC236}">
                <a16:creationId xmlns:a16="http://schemas.microsoft.com/office/drawing/2014/main" id="{87E94B1E-1184-434D-800C-047D403097C5}"/>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CAUTION</a:t>
            </a:r>
          </a:p>
        </p:txBody>
      </p:sp>
      <p:sp>
        <p:nvSpPr>
          <p:cNvPr id="22" name="">
            <a:extLst xmlns:a="http://schemas.openxmlformats.org/drawingml/2006/main">
              <a:ext uri="{FF2B5EF4-FFF2-40B4-BE49-F238E27FC236}">
                <a16:creationId xmlns:a16="http://schemas.microsoft.com/office/drawing/2014/main" id="{9559451D-8F1E-415D-A55E-0FC32FF70B56}"/>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Adjacent periods share two years of data. No independent annual trend test is supplied.</a:t>
            </a:r>
          </a:p>
        </p:txBody>
      </p:sp>
    </p:spTree>
    <p:extLst>
      <p:ext uri="{BB962C8B-B14F-4D97-AF65-F5344CB8AC3E}">
        <p14:creationId xmlns:p14="http://schemas.microsoft.com/office/powerpoint/2010/main" val="2017125607"/>
      </p:ext>
    </p:extLst>
  </p:cSld>
</p:sld>
</file>

<file path=ppt/slides/slide14.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All five indicators remain below their first-period rates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NATIONAL SUMMARY</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14</a:t>
            </a:r>
          </a:p>
        </p:txBody>
      </p:sp>
      <p:graphicFrame>
        <p:nvGraphicFramePr>
          <p:cNvPr id="25" name=""/>
          <p:cNvGraphicFramePr/>
          <p:nvPr/>
        </p:nvGraphicFramePr>
        <p:xfrm>
          <a:off xmlns:a="http://schemas.openxmlformats.org/drawingml/2006/main" x="666750" y="1190625"/>
          <a:ext xmlns:a="http://schemas.openxmlformats.org/drawingml/2006/main" cx="10858500" cy="3667125"/>
        </p:xfrm>
        <a:graphic xmlns:a="http://schemas.openxmlformats.org/drawingml/2006/main">
          <a:graphicData uri="http://schemas.openxmlformats.org/drawingml/2006/table">
            <a:tbl>
              <a:tblPr/>
              <a:tblGrid>
                <a:gridCol w="4857750"/>
                <a:gridCol w="2000250"/>
                <a:gridCol w="2000250"/>
                <a:gridCol w="2000250"/>
              </a:tblGrid>
              <a:tr h="611188">
                <a:tc>
                  <a:txBody>
                    <a:bodyPr/>
                    <a:lstStyle/>
                    <a:p>
                      <a:r>
                        <a:rPr sz="1500" b="1">
                          <a:solidFill>
                            <a:srgbClr val="FFFFFF"/>
                          </a:solidFill>
                          <a:latin typeface="Calibri"/>
                          <a:ea typeface="Calibri"/>
                          <a:cs typeface="Calibri"/>
                        </a:rPr>
                        <a:t>Indicator</a:t>
                      </a:r>
                    </a:p>
                  </a:txBody>
                  <a:tcPr marL="91440" marR="91440" marT="45720" marB="45720">
                    <a:solidFill>
                      <a:srgbClr val="F87812"/>
                    </a:solidFill>
                  </a:tcPr>
                </a:tc>
                <a:tc>
                  <a:txBody>
                    <a:bodyPr/>
                    <a:lstStyle/>
                    <a:p>
                      <a:r>
                        <a:rPr sz="1500" b="1">
                          <a:solidFill>
                            <a:srgbClr val="FFFFFF"/>
                          </a:solidFill>
                          <a:latin typeface="Calibri"/>
                          <a:ea typeface="Calibri"/>
                          <a:cs typeface="Calibri"/>
                        </a:rPr>
                        <a:t>2001–03</a:t>
                      </a:r>
                    </a:p>
                  </a:txBody>
                  <a:tcPr marL="91440" marR="91440" marT="45720" marB="45720">
                    <a:solidFill>
                      <a:srgbClr val="F87812"/>
                    </a:solidFill>
                  </a:tcPr>
                </a:tc>
                <a:tc>
                  <a:txBody>
                    <a:bodyPr/>
                    <a:lstStyle/>
                    <a:p>
                      <a:r>
                        <a:rPr sz="1500" b="1">
                          <a:solidFill>
                            <a:srgbClr val="FFFFFF"/>
                          </a:solidFill>
                          <a:latin typeface="Calibri"/>
                          <a:ea typeface="Calibri"/>
                          <a:cs typeface="Calibri"/>
                        </a:rPr>
                        <a:t>2022–24</a:t>
                      </a:r>
                    </a:p>
                  </a:txBody>
                  <a:tcPr marL="91440" marR="91440" marT="45720" marB="45720">
                    <a:solidFill>
                      <a:srgbClr val="F87812"/>
                    </a:solidFill>
                  </a:tcPr>
                </a:tc>
                <a:tc>
                  <a:txBody>
                    <a:bodyPr/>
                    <a:lstStyle/>
                    <a:p>
                      <a:r>
                        <a:rPr sz="1500" b="1">
                          <a:solidFill>
                            <a:srgbClr val="FFFFFF"/>
                          </a:solidFill>
                          <a:latin typeface="Calibri"/>
                          <a:ea typeface="Calibri"/>
                          <a:cs typeface="Calibri"/>
                        </a:rPr>
                        <a:t>Change</a:t>
                      </a:r>
                    </a:p>
                  </a:txBody>
                  <a:tcPr marL="91440" marR="91440" marT="45720" marB="45720">
                    <a:solidFill>
                      <a:srgbClr val="F87812"/>
                    </a:solidFill>
                  </a:tcPr>
                </a:tc>
              </a:tr>
              <a:tr h="611188">
                <a:tc>
                  <a:txBody>
                    <a:bodyPr/>
                    <a:lstStyle/>
                    <a:p>
                      <a:r>
                        <a:rPr sz="1650" b="0">
                          <a:solidFill>
                            <a:srgbClr val="262626"/>
                          </a:solidFill>
                          <a:latin typeface="Calibri"/>
                          <a:ea typeface="Calibri"/>
                          <a:cs typeface="Calibri"/>
                        </a:rPr>
                        <a:t>Child mortality</a:t>
                      </a:r>
                    </a:p>
                  </a:txBody>
                  <a:tcPr marL="91440" marR="91440" marT="45720" marB="45720">
                    <a:solidFill>
                      <a:srgbClr val="FFFCF8"/>
                    </a:solidFill>
                  </a:tcPr>
                </a:tc>
                <a:tc>
                  <a:txBody>
                    <a:bodyPr/>
                    <a:lstStyle/>
                    <a:p>
                      <a:r>
                        <a:rPr sz="1650" b="0">
                          <a:solidFill>
                            <a:srgbClr val="262626"/>
                          </a:solidFill>
                          <a:latin typeface="Calibri"/>
                          <a:ea typeface="Calibri"/>
                          <a:cs typeface="Calibri"/>
                        </a:rPr>
                        <a:t>18.04</a:t>
                      </a:r>
                    </a:p>
                  </a:txBody>
                  <a:tcPr marL="91440" marR="91440" marT="45720" marB="45720">
                    <a:solidFill>
                      <a:srgbClr val="FFFCF8"/>
                    </a:solidFill>
                  </a:tcPr>
                </a:tc>
                <a:tc>
                  <a:txBody>
                    <a:bodyPr/>
                    <a:lstStyle/>
                    <a:p>
                      <a:r>
                        <a:rPr sz="1650" b="0">
                          <a:solidFill>
                            <a:srgbClr val="262626"/>
                          </a:solidFill>
                          <a:latin typeface="Calibri"/>
                          <a:ea typeface="Calibri"/>
                          <a:cs typeface="Calibri"/>
                        </a:rPr>
                        <a:t>11.59</a:t>
                      </a:r>
                    </a:p>
                  </a:txBody>
                  <a:tcPr marL="91440" marR="91440" marT="45720" marB="45720">
                    <a:solidFill>
                      <a:srgbClr val="FFFCF8"/>
                    </a:solidFill>
                  </a:tcPr>
                </a:tc>
                <a:tc>
                  <a:txBody>
                    <a:bodyPr/>
                    <a:lstStyle/>
                    <a:p>
                      <a:r>
                        <a:rPr sz="1650" b="0">
                          <a:solidFill>
                            <a:srgbClr val="262626"/>
                          </a:solidFill>
                          <a:latin typeface="Calibri"/>
                          <a:ea typeface="Calibri"/>
                          <a:cs typeface="Calibri"/>
                        </a:rPr>
                        <a:t>−35.7%</a:t>
                      </a:r>
                    </a:p>
                  </a:txBody>
                  <a:tcPr marL="91440" marR="91440" marT="45720" marB="45720">
                    <a:solidFill>
                      <a:srgbClr val="FFFCF8"/>
                    </a:solidFill>
                  </a:tcPr>
                </a:tc>
              </a:tr>
              <a:tr h="611188">
                <a:tc>
                  <a:txBody>
                    <a:bodyPr/>
                    <a:lstStyle/>
                    <a:p>
                      <a:r>
                        <a:rPr sz="1650" b="0">
                          <a:solidFill>
                            <a:srgbClr val="262626"/>
                          </a:solidFill>
                          <a:latin typeface="Calibri"/>
                          <a:ea typeface="Calibri"/>
                          <a:cs typeface="Calibri"/>
                        </a:rPr>
                        <a:t>Infant mortality</a:t>
                      </a:r>
                    </a:p>
                  </a:txBody>
                  <a:tcPr marL="91440" marR="91440" marT="45720" marB="45720">
                    <a:solidFill>
                      <a:srgbClr val="FFE3C6"/>
                    </a:solidFill>
                  </a:tcPr>
                </a:tc>
                <a:tc>
                  <a:txBody>
                    <a:bodyPr/>
                    <a:lstStyle/>
                    <a:p>
                      <a:r>
                        <a:rPr sz="1650" b="0">
                          <a:solidFill>
                            <a:srgbClr val="262626"/>
                          </a:solidFill>
                          <a:latin typeface="Calibri"/>
                          <a:ea typeface="Calibri"/>
                          <a:cs typeface="Calibri"/>
                        </a:rPr>
                        <a:t>5.36</a:t>
                      </a:r>
                    </a:p>
                  </a:txBody>
                  <a:tcPr marL="91440" marR="91440" marT="45720" marB="45720">
                    <a:solidFill>
                      <a:srgbClr val="FFE3C6"/>
                    </a:solidFill>
                  </a:tcPr>
                </a:tc>
                <a:tc>
                  <a:txBody>
                    <a:bodyPr/>
                    <a:lstStyle/>
                    <a:p>
                      <a:r>
                        <a:rPr sz="1650" b="0">
                          <a:solidFill>
                            <a:srgbClr val="262626"/>
                          </a:solidFill>
                          <a:latin typeface="Calibri"/>
                          <a:ea typeface="Calibri"/>
                          <a:cs typeface="Calibri"/>
                        </a:rPr>
                        <a:t>4.17</a:t>
                      </a:r>
                    </a:p>
                  </a:txBody>
                  <a:tcPr marL="91440" marR="91440" marT="45720" marB="45720">
                    <a:solidFill>
                      <a:srgbClr val="FFE3C6"/>
                    </a:solidFill>
                  </a:tcPr>
                </a:tc>
                <a:tc>
                  <a:txBody>
                    <a:bodyPr/>
                    <a:lstStyle/>
                    <a:p>
                      <a:r>
                        <a:rPr sz="1650" b="0">
                          <a:solidFill>
                            <a:srgbClr val="262626"/>
                          </a:solidFill>
                          <a:latin typeface="Calibri"/>
                          <a:ea typeface="Calibri"/>
                          <a:cs typeface="Calibri"/>
                        </a:rPr>
                        <a:t>−22.2%</a:t>
                      </a:r>
                    </a:p>
                  </a:txBody>
                  <a:tcPr marL="91440" marR="91440" marT="45720" marB="45720">
                    <a:solidFill>
                      <a:srgbClr val="FFE3C6"/>
                    </a:solidFill>
                  </a:tcPr>
                </a:tc>
              </a:tr>
              <a:tr h="611188">
                <a:tc>
                  <a:txBody>
                    <a:bodyPr/>
                    <a:lstStyle/>
                    <a:p>
                      <a:r>
                        <a:rPr sz="1650" b="0">
                          <a:solidFill>
                            <a:srgbClr val="262626"/>
                          </a:solidFill>
                          <a:latin typeface="Calibri"/>
                          <a:ea typeface="Calibri"/>
                          <a:cs typeface="Calibri"/>
                        </a:rPr>
                        <a:t>Neonatal mortality</a:t>
                      </a:r>
                    </a:p>
                  </a:txBody>
                  <a:tcPr marL="91440" marR="91440" marT="45720" marB="45720">
                    <a:solidFill>
                      <a:srgbClr val="FFFCF8"/>
                    </a:solidFill>
                  </a:tcPr>
                </a:tc>
                <a:tc>
                  <a:txBody>
                    <a:bodyPr/>
                    <a:lstStyle/>
                    <a:p>
                      <a:r>
                        <a:rPr sz="1650" b="0">
                          <a:solidFill>
                            <a:srgbClr val="262626"/>
                          </a:solidFill>
                          <a:latin typeface="Calibri"/>
                          <a:ea typeface="Calibri"/>
                          <a:cs typeface="Calibri"/>
                        </a:rPr>
                        <a:t>3.61</a:t>
                      </a:r>
                    </a:p>
                  </a:txBody>
                  <a:tcPr marL="91440" marR="91440" marT="45720" marB="45720">
                    <a:solidFill>
                      <a:srgbClr val="FFFCF8"/>
                    </a:solidFill>
                  </a:tcPr>
                </a:tc>
                <a:tc>
                  <a:txBody>
                    <a:bodyPr/>
                    <a:lstStyle/>
                    <a:p>
                      <a:r>
                        <a:rPr sz="1650" b="0">
                          <a:solidFill>
                            <a:srgbClr val="262626"/>
                          </a:solidFill>
                          <a:latin typeface="Calibri"/>
                          <a:ea typeface="Calibri"/>
                          <a:cs typeface="Calibri"/>
                        </a:rPr>
                        <a:t>3.07</a:t>
                      </a:r>
                    </a:p>
                  </a:txBody>
                  <a:tcPr marL="91440" marR="91440" marT="45720" marB="45720">
                    <a:solidFill>
                      <a:srgbClr val="FFFCF8"/>
                    </a:solidFill>
                  </a:tcPr>
                </a:tc>
                <a:tc>
                  <a:txBody>
                    <a:bodyPr/>
                    <a:lstStyle/>
                    <a:p>
                      <a:r>
                        <a:rPr sz="1650" b="0">
                          <a:solidFill>
                            <a:srgbClr val="262626"/>
                          </a:solidFill>
                          <a:latin typeface="Calibri"/>
                          <a:ea typeface="Calibri"/>
                          <a:cs typeface="Calibri"/>
                        </a:rPr>
                        <a:t>−15.1%</a:t>
                      </a:r>
                    </a:p>
                  </a:txBody>
                  <a:tcPr marL="91440" marR="91440" marT="45720" marB="45720">
                    <a:solidFill>
                      <a:srgbClr val="FFFCF8"/>
                    </a:solidFill>
                  </a:tcPr>
                </a:tc>
              </a:tr>
              <a:tr h="611188">
                <a:tc>
                  <a:txBody>
                    <a:bodyPr/>
                    <a:lstStyle/>
                    <a:p>
                      <a:r>
                        <a:rPr sz="1650" b="0">
                          <a:solidFill>
                            <a:srgbClr val="262626"/>
                          </a:solidFill>
                          <a:latin typeface="Calibri"/>
                          <a:ea typeface="Calibri"/>
                          <a:cs typeface="Calibri"/>
                        </a:rPr>
                        <a:t>Post-neonatal mortality</a:t>
                      </a:r>
                    </a:p>
                  </a:txBody>
                  <a:tcPr marL="91440" marR="91440" marT="45720" marB="45720">
                    <a:solidFill>
                      <a:srgbClr val="FFE3C6"/>
                    </a:solidFill>
                  </a:tcPr>
                </a:tc>
                <a:tc>
                  <a:txBody>
                    <a:bodyPr/>
                    <a:lstStyle/>
                    <a:p>
                      <a:r>
                        <a:rPr sz="1650" b="0">
                          <a:solidFill>
                            <a:srgbClr val="262626"/>
                          </a:solidFill>
                          <a:latin typeface="Calibri"/>
                          <a:ea typeface="Calibri"/>
                          <a:cs typeface="Calibri"/>
                        </a:rPr>
                        <a:t>1.75</a:t>
                      </a:r>
                    </a:p>
                  </a:txBody>
                  <a:tcPr marL="91440" marR="91440" marT="45720" marB="45720">
                    <a:solidFill>
                      <a:srgbClr val="FFE3C6"/>
                    </a:solidFill>
                  </a:tcPr>
                </a:tc>
                <a:tc>
                  <a:txBody>
                    <a:bodyPr/>
                    <a:lstStyle/>
                    <a:p>
                      <a:r>
                        <a:rPr sz="1650" b="0">
                          <a:solidFill>
                            <a:srgbClr val="262626"/>
                          </a:solidFill>
                          <a:latin typeface="Calibri"/>
                          <a:ea typeface="Calibri"/>
                          <a:cs typeface="Calibri"/>
                        </a:rPr>
                        <a:t>1.10</a:t>
                      </a:r>
                    </a:p>
                  </a:txBody>
                  <a:tcPr marL="91440" marR="91440" marT="45720" marB="45720">
                    <a:solidFill>
                      <a:srgbClr val="FFE3C6"/>
                    </a:solidFill>
                  </a:tcPr>
                </a:tc>
                <a:tc>
                  <a:txBody>
                    <a:bodyPr/>
                    <a:lstStyle/>
                    <a:p>
                      <a:r>
                        <a:rPr sz="1650" b="0">
                          <a:solidFill>
                            <a:srgbClr val="262626"/>
                          </a:solidFill>
                          <a:latin typeface="Calibri"/>
                          <a:ea typeface="Calibri"/>
                          <a:cs typeface="Calibri"/>
                        </a:rPr>
                        <a:t>−37.0%</a:t>
                      </a:r>
                    </a:p>
                  </a:txBody>
                  <a:tcPr marL="91440" marR="91440" marT="45720" marB="45720">
                    <a:solidFill>
                      <a:srgbClr val="FFE3C6"/>
                    </a:solidFill>
                  </a:tcPr>
                </a:tc>
              </a:tr>
              <a:tr h="611188">
                <a:tc>
                  <a:txBody>
                    <a:bodyPr/>
                    <a:lstStyle/>
                    <a:p>
                      <a:r>
                        <a:rPr sz="1650" b="0">
                          <a:solidFill>
                            <a:srgbClr val="262626"/>
                          </a:solidFill>
                          <a:latin typeface="Calibri"/>
                          <a:ea typeface="Calibri"/>
                          <a:cs typeface="Calibri"/>
                        </a:rPr>
                        <a:t>Stillbirth</a:t>
                      </a:r>
                    </a:p>
                  </a:txBody>
                  <a:tcPr marL="91440" marR="91440" marT="45720" marB="45720">
                    <a:solidFill>
                      <a:srgbClr val="FFFCF8"/>
                    </a:solidFill>
                  </a:tcPr>
                </a:tc>
                <a:tc>
                  <a:txBody>
                    <a:bodyPr/>
                    <a:lstStyle/>
                    <a:p>
                      <a:r>
                        <a:rPr sz="1650" b="0">
                          <a:solidFill>
                            <a:srgbClr val="262626"/>
                          </a:solidFill>
                          <a:latin typeface="Calibri"/>
                          <a:ea typeface="Calibri"/>
                          <a:cs typeface="Calibri"/>
                        </a:rPr>
                        <a:t>5.55</a:t>
                      </a:r>
                    </a:p>
                  </a:txBody>
                  <a:tcPr marL="91440" marR="91440" marT="45720" marB="45720">
                    <a:solidFill>
                      <a:srgbClr val="FFFCF8"/>
                    </a:solidFill>
                  </a:tcPr>
                </a:tc>
                <a:tc>
                  <a:txBody>
                    <a:bodyPr/>
                    <a:lstStyle/>
                    <a:p>
                      <a:r>
                        <a:rPr sz="1650" b="0">
                          <a:solidFill>
                            <a:srgbClr val="262626"/>
                          </a:solidFill>
                          <a:latin typeface="Calibri"/>
                          <a:ea typeface="Calibri"/>
                          <a:cs typeface="Calibri"/>
                        </a:rPr>
                        <a:t>3.90</a:t>
                      </a:r>
                    </a:p>
                  </a:txBody>
                  <a:tcPr marL="91440" marR="91440" marT="45720" marB="45720">
                    <a:solidFill>
                      <a:srgbClr val="FFFCF8"/>
                    </a:solidFill>
                  </a:tcPr>
                </a:tc>
                <a:tc>
                  <a:txBody>
                    <a:bodyPr/>
                    <a:lstStyle/>
                    <a:p>
                      <a:r>
                        <a:rPr sz="1650" b="0">
                          <a:solidFill>
                            <a:srgbClr val="262626"/>
                          </a:solidFill>
                          <a:latin typeface="Calibri"/>
                          <a:ea typeface="Calibri"/>
                          <a:cs typeface="Calibri"/>
                        </a:rPr>
                        <a:t>−29.7%</a:t>
                      </a:r>
                    </a:p>
                  </a:txBody>
                  <a:tcPr marL="91440" marR="91440" marT="45720" marB="45720">
                    <a:solidFill>
                      <a:srgbClr val="FFFCF8"/>
                    </a:solidFill>
                  </a:tcPr>
                </a:tc>
              </a:tr>
            </a:tbl>
          </a:graphicData>
        </a:graphic>
      </p:graphicFrame>
      <p:sp>
        <p:nvSpPr>
          <p:cNvPr id="17" name="">
            <a:extLst xmlns:a="http://schemas.openxmlformats.org/drawingml/2006/main">
              <a:ext uri="{FF2B5EF4-FFF2-40B4-BE49-F238E27FC236}">
                <a16:creationId xmlns:a16="http://schemas.microsoft.com/office/drawing/2014/main" id="{A77E4C9A-F1CE-447A-AFD7-AAEA875F17FF}"/>
              </a:ext>
            </a:extLst>
          </p:cNvPr>
          <p:cNvSpPr>
            <a:spLocks xmlns:a="http://schemas.openxmlformats.org/drawingml/2006/main" noGrp="1"/>
          </p:cNvSpPr>
          <p:nvPr/>
        </p:nvSpPr>
        <p:spPr>
          <a:xfrm xmlns:a="http://schemas.openxmlformats.org/drawingml/2006/main">
            <a:off x="714375" y="5238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54D13"/>
                </a:solidFill>
                <a:latin typeface="Calibri"/>
                <a:ea typeface="Calibri"/>
                <a:cs typeface="Calibri"/>
              </a:defRPr>
            </a:pPr>
            <a:r>
              <a:rPr sz="1800" b="1">
                <a:solidFill>
                  <a:srgbClr val="B54D13"/>
                </a:solidFill>
                <a:latin typeface="Calibri"/>
                <a:ea typeface="Calibri"/>
                <a:cs typeface="Calibri"/>
              </a:rPr>
              <a:t>Child mortality is per 100,000. All other rates are per 1,000.</a:t>
            </a:r>
          </a:p>
        </p:txBody>
      </p:sp>
    </p:spTree>
    <p:extLst>
      <p:ext uri="{BB962C8B-B14F-4D97-AF65-F5344CB8AC3E}">
        <p14:creationId xmlns:p14="http://schemas.microsoft.com/office/powerpoint/2010/main" val="2017125607"/>
      </p:ext>
    </p:extLst>
  </p:cSld>
</p:sld>
</file>

<file path=ppt/slides/slide15.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Local authority comparison</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DASHBOARD 2</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15</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0503aa5b4be47cb"/>
          <a:stretch xmlns:a="http://schemas.openxmlformats.org/drawingml/2006/main"/>
        </p:blipFill>
        <p:spPr>
          <a:xfrm xmlns:a="http://schemas.openxmlformats.org/drawingml/2006/main">
            <a:off x="1537457" y="809625"/>
            <a:ext cx="8993261" cy="52387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3A390EC-C358-403A-8909-98EC05124FAA}"/>
              </a:ext>
            </a:extLst>
          </p:cNvPr>
          <p:cNvSpPr>
            <a:spLocks xmlns:a="http://schemas.openxmlformats.org/drawingml/2006/main" noGrp="1"/>
          </p:cNvSpPr>
          <p:nvPr/>
        </p:nvSpPr>
        <p:spPr>
          <a:xfrm xmlns:a="http://schemas.openxmlformats.org/drawingml/2006/main">
            <a:off x="628650" y="6105525"/>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54D13"/>
                </a:solidFill>
                <a:latin typeface="Calibri"/>
                <a:ea typeface="Calibri"/>
                <a:cs typeface="Calibri"/>
              </a:defRPr>
            </a:pPr>
            <a:r>
              <a:rPr sz="1350" b="0">
                <a:solidFill>
                  <a:srgbClr val="B54D13"/>
                </a:solidFill>
                <a:latin typeface="Calibri"/>
                <a:ea typeface="Calibri"/>
                <a:cs typeface="Calibri"/>
              </a:rPr>
              <a:t>Infant mortality, 2022–24. Rankings require confidence intervals and official comparison categories.</a:t>
            </a:r>
          </a:p>
        </p:txBody>
      </p:sp>
    </p:spTree>
    <p:extLst>
      <p:ext uri="{BB962C8B-B14F-4D97-AF65-F5344CB8AC3E}">
        <p14:creationId xmlns:p14="http://schemas.microsoft.com/office/powerpoint/2010/main" val="2017125607"/>
      </p:ext>
    </p:extLst>
  </p:cSld>
</p:sld>
</file>

<file path=ppt/slides/slide16.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Higher point estimates do not always mean “Worse”</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S5</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16</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a53d419b3f14fa3"/>
          <a:stretch xmlns:a="http://schemas.openxmlformats.org/drawingml/2006/main"/>
        </p:blipFill>
        <p:spPr>
          <a:xfrm xmlns:a="http://schemas.openxmlformats.org/drawingml/2006/main">
            <a:off x="991959" y="933450"/>
            <a:ext cx="1159333" cy="5238750"/>
          </a:xfrm>
          <a:prstGeom xmlns:a="http://schemas.openxmlformats.org/drawingml/2006/main" prst="rect">
            <a:avLst/>
          </a:prstGeom>
        </p:spPr>
      </p:pic>
      <p:graphicFrame>
        <p:nvGraphicFramePr>
          <p:cNvPr id="28" name=""/>
          <p:cNvGraphicFramePr/>
          <p:nvPr/>
        </p:nvGraphicFramePr>
        <p:xfrm>
          <a:off xmlns:a="http://schemas.openxmlformats.org/drawingml/2006/main" x="2905125" y="1095375"/>
          <a:ext xmlns:a="http://schemas.openxmlformats.org/drawingml/2006/main" cx="8524875" cy="3857625"/>
        </p:xfrm>
        <a:graphic xmlns:a="http://schemas.openxmlformats.org/drawingml/2006/main">
          <a:graphicData uri="http://schemas.openxmlformats.org/drawingml/2006/table">
            <a:tbl>
              <a:tblPr/>
              <a:tblGrid>
                <a:gridCol w="3286125"/>
                <a:gridCol w="2333625"/>
                <a:gridCol w="2905125"/>
              </a:tblGrid>
              <a:tr h="482203">
                <a:tc>
                  <a:txBody>
                    <a:bodyPr/>
                    <a:lstStyle/>
                    <a:p>
                      <a:r>
                        <a:rPr sz="1575" b="1">
                          <a:solidFill>
                            <a:srgbClr val="FFFFFF"/>
                          </a:solidFill>
                          <a:latin typeface="Calibri"/>
                          <a:ea typeface="Calibri"/>
                          <a:cs typeface="Calibri"/>
                        </a:rPr>
                        <a:t>Authority</a:t>
                      </a:r>
                    </a:p>
                  </a:txBody>
                  <a:tcPr marL="91440" marR="91440" marT="45720" marB="45720">
                    <a:solidFill>
                      <a:srgbClr val="F87812"/>
                    </a:solidFill>
                  </a:tcPr>
                </a:tc>
                <a:tc>
                  <a:txBody>
                    <a:bodyPr/>
                    <a:lstStyle/>
                    <a:p>
                      <a:r>
                        <a:rPr sz="1575" b="1">
                          <a:solidFill>
                            <a:srgbClr val="FFFFFF"/>
                          </a:solidFill>
                          <a:latin typeface="Calibri"/>
                          <a:ea typeface="Calibri"/>
                          <a:cs typeface="Calibri"/>
                        </a:rPr>
                        <a:t>Rate per 1,000</a:t>
                      </a:r>
                    </a:p>
                  </a:txBody>
                  <a:tcPr marL="91440" marR="91440" marT="45720" marB="45720">
                    <a:solidFill>
                      <a:srgbClr val="F87812"/>
                    </a:solidFill>
                  </a:tcPr>
                </a:tc>
                <a:tc>
                  <a:txBody>
                    <a:bodyPr/>
                    <a:lstStyle/>
                    <a:p>
                      <a:r>
                        <a:rPr sz="1575" b="1">
                          <a:solidFill>
                            <a:srgbClr val="FFFFFF"/>
                          </a:solidFill>
                          <a:latin typeface="Calibri"/>
                          <a:ea typeface="Calibri"/>
                          <a:cs typeface="Calibri"/>
                        </a:rPr>
                        <a:t>England comparison</a:t>
                      </a:r>
                    </a:p>
                  </a:txBody>
                  <a:tcPr marL="91440" marR="91440" marT="45720" marB="45720">
                    <a:solidFill>
                      <a:srgbClr val="F87812"/>
                    </a:solidFill>
                  </a:tcPr>
                </a:tc>
              </a:tr>
              <a:tr h="482203">
                <a:tc>
                  <a:txBody>
                    <a:bodyPr/>
                    <a:lstStyle/>
                    <a:p>
                      <a:r>
                        <a:rPr sz="1575" b="0">
                          <a:solidFill>
                            <a:srgbClr val="262626"/>
                          </a:solidFill>
                          <a:latin typeface="Calibri"/>
                          <a:ea typeface="Calibri"/>
                          <a:cs typeface="Calibri"/>
                        </a:rPr>
                        <a:t>Birmingham</a:t>
                      </a:r>
                    </a:p>
                  </a:txBody>
                  <a:tcPr marL="91440" marR="91440" marT="45720" marB="45720">
                    <a:solidFill>
                      <a:srgbClr val="FFFCF8"/>
                    </a:solidFill>
                  </a:tcPr>
                </a:tc>
                <a:tc>
                  <a:txBody>
                    <a:bodyPr/>
                    <a:lstStyle/>
                    <a:p>
                      <a:r>
                        <a:rPr sz="1575" b="0">
                          <a:solidFill>
                            <a:srgbClr val="262626"/>
                          </a:solidFill>
                          <a:latin typeface="Calibri"/>
                          <a:ea typeface="Calibri"/>
                          <a:cs typeface="Calibri"/>
                        </a:rPr>
                        <a:t>8.67</a:t>
                      </a:r>
                    </a:p>
                  </a:txBody>
                  <a:tcPr marL="91440" marR="91440" marT="45720" marB="45720">
                    <a:solidFill>
                      <a:srgbClr val="FFFCF8"/>
                    </a:solidFill>
                  </a:tcPr>
                </a:tc>
                <a:tc>
                  <a:txBody>
                    <a:bodyPr/>
                    <a:lstStyle/>
                    <a:p>
                      <a:r>
                        <a:rPr sz="1575" b="0">
                          <a:solidFill>
                            <a:srgbClr val="262626"/>
                          </a:solidFill>
                          <a:latin typeface="Calibri"/>
                          <a:ea typeface="Calibri"/>
                          <a:cs typeface="Calibri"/>
                        </a:rPr>
                        <a:t>Worse</a:t>
                      </a:r>
                    </a:p>
                  </a:txBody>
                  <a:tcPr marL="91440" marR="91440" marT="45720" marB="45720">
                    <a:solidFill>
                      <a:srgbClr val="FFFCF8"/>
                    </a:solidFill>
                  </a:tcPr>
                </a:tc>
              </a:tr>
              <a:tr h="482203">
                <a:tc>
                  <a:txBody>
                    <a:bodyPr/>
                    <a:lstStyle/>
                    <a:p>
                      <a:r>
                        <a:rPr sz="1575" b="0">
                          <a:solidFill>
                            <a:srgbClr val="262626"/>
                          </a:solidFill>
                          <a:latin typeface="Calibri"/>
                          <a:ea typeface="Calibri"/>
                          <a:cs typeface="Calibri"/>
                        </a:rPr>
                        <a:t>Leicester</a:t>
                      </a:r>
                    </a:p>
                  </a:txBody>
                  <a:tcPr marL="91440" marR="91440" marT="45720" marB="45720">
                    <a:solidFill>
                      <a:srgbClr val="FFE3C6"/>
                    </a:solidFill>
                  </a:tcPr>
                </a:tc>
                <a:tc>
                  <a:txBody>
                    <a:bodyPr/>
                    <a:lstStyle/>
                    <a:p>
                      <a:r>
                        <a:rPr sz="1575" b="0">
                          <a:solidFill>
                            <a:srgbClr val="262626"/>
                          </a:solidFill>
                          <a:latin typeface="Calibri"/>
                          <a:ea typeface="Calibri"/>
                          <a:cs typeface="Calibri"/>
                        </a:rPr>
                        <a:t>7.91</a:t>
                      </a:r>
                    </a:p>
                  </a:txBody>
                  <a:tcPr marL="91440" marR="91440" marT="45720" marB="45720">
                    <a:solidFill>
                      <a:srgbClr val="FFE3C6"/>
                    </a:solidFill>
                  </a:tcPr>
                </a:tc>
                <a:tc>
                  <a:txBody>
                    <a:bodyPr/>
                    <a:lstStyle/>
                    <a:p>
                      <a:r>
                        <a:rPr sz="1575" b="0">
                          <a:solidFill>
                            <a:srgbClr val="262626"/>
                          </a:solidFill>
                          <a:latin typeface="Calibri"/>
                          <a:ea typeface="Calibri"/>
                          <a:cs typeface="Calibri"/>
                        </a:rPr>
                        <a:t>Worse</a:t>
                      </a:r>
                    </a:p>
                  </a:txBody>
                  <a:tcPr marL="91440" marR="91440" marT="45720" marB="45720">
                    <a:solidFill>
                      <a:srgbClr val="FFE3C6"/>
                    </a:solidFill>
                  </a:tcPr>
                </a:tc>
              </a:tr>
              <a:tr h="482203">
                <a:tc>
                  <a:txBody>
                    <a:bodyPr/>
                    <a:lstStyle/>
                    <a:p>
                      <a:r>
                        <a:rPr sz="1575" b="0">
                          <a:solidFill>
                            <a:srgbClr val="262626"/>
                          </a:solidFill>
                          <a:latin typeface="Calibri"/>
                          <a:ea typeface="Calibri"/>
                          <a:cs typeface="Calibri"/>
                        </a:rPr>
                        <a:t>Stafford</a:t>
                      </a:r>
                    </a:p>
                  </a:txBody>
                  <a:tcPr marL="91440" marR="91440" marT="45720" marB="45720">
                    <a:solidFill>
                      <a:srgbClr val="FFFCF8"/>
                    </a:solidFill>
                  </a:tcPr>
                </a:tc>
                <a:tc>
                  <a:txBody>
                    <a:bodyPr/>
                    <a:lstStyle/>
                    <a:p>
                      <a:r>
                        <a:rPr sz="1575" b="0">
                          <a:solidFill>
                            <a:srgbClr val="262626"/>
                          </a:solidFill>
                          <a:latin typeface="Calibri"/>
                          <a:ea typeface="Calibri"/>
                          <a:cs typeface="Calibri"/>
                        </a:rPr>
                        <a:t>7.89</a:t>
                      </a:r>
                    </a:p>
                  </a:txBody>
                  <a:tcPr marL="91440" marR="91440" marT="45720" marB="45720">
                    <a:solidFill>
                      <a:srgbClr val="FFFCF8"/>
                    </a:solidFill>
                  </a:tcPr>
                </a:tc>
                <a:tc>
                  <a:txBody>
                    <a:bodyPr/>
                    <a:lstStyle/>
                    <a:p>
                      <a:r>
                        <a:rPr sz="1575" b="0">
                          <a:solidFill>
                            <a:srgbClr val="262626"/>
                          </a:solidFill>
                          <a:latin typeface="Calibri"/>
                          <a:ea typeface="Calibri"/>
                          <a:cs typeface="Calibri"/>
                        </a:rPr>
                        <a:t>Worse</a:t>
                      </a:r>
                    </a:p>
                  </a:txBody>
                  <a:tcPr marL="91440" marR="91440" marT="45720" marB="45720">
                    <a:solidFill>
                      <a:srgbClr val="FFFCF8"/>
                    </a:solidFill>
                  </a:tcPr>
                </a:tc>
              </a:tr>
              <a:tr h="482203">
                <a:tc>
                  <a:txBody>
                    <a:bodyPr/>
                    <a:lstStyle/>
                    <a:p>
                      <a:r>
                        <a:rPr sz="1575" b="0">
                          <a:solidFill>
                            <a:srgbClr val="262626"/>
                          </a:solidFill>
                          <a:latin typeface="Calibri"/>
                          <a:ea typeface="Calibri"/>
                          <a:cs typeface="Calibri"/>
                        </a:rPr>
                        <a:t>Blackpool</a:t>
                      </a:r>
                    </a:p>
                  </a:txBody>
                  <a:tcPr marL="91440" marR="91440" marT="45720" marB="45720">
                    <a:solidFill>
                      <a:srgbClr val="FFE3C6"/>
                    </a:solidFill>
                  </a:tcPr>
                </a:tc>
                <a:tc>
                  <a:txBody>
                    <a:bodyPr/>
                    <a:lstStyle/>
                    <a:p>
                      <a:r>
                        <a:rPr sz="1575" b="0">
                          <a:solidFill>
                            <a:srgbClr val="262626"/>
                          </a:solidFill>
                          <a:latin typeface="Calibri"/>
                          <a:ea typeface="Calibri"/>
                          <a:cs typeface="Calibri"/>
                        </a:rPr>
                        <a:t>7.76</a:t>
                      </a:r>
                    </a:p>
                  </a:txBody>
                  <a:tcPr marL="91440" marR="91440" marT="45720" marB="45720">
                    <a:solidFill>
                      <a:srgbClr val="FFE3C6"/>
                    </a:solidFill>
                  </a:tcPr>
                </a:tc>
                <a:tc>
                  <a:txBody>
                    <a:bodyPr/>
                    <a:lstStyle/>
                    <a:p>
                      <a:r>
                        <a:rPr sz="1575" b="0">
                          <a:solidFill>
                            <a:srgbClr val="262626"/>
                          </a:solidFill>
                          <a:latin typeface="Calibri"/>
                          <a:ea typeface="Calibri"/>
                          <a:cs typeface="Calibri"/>
                        </a:rPr>
                        <a:t>Worse</a:t>
                      </a:r>
                    </a:p>
                  </a:txBody>
                  <a:tcPr marL="91440" marR="91440" marT="45720" marB="45720">
                    <a:solidFill>
                      <a:srgbClr val="FFE3C6"/>
                    </a:solidFill>
                  </a:tcPr>
                </a:tc>
              </a:tr>
              <a:tr h="482203">
                <a:tc>
                  <a:txBody>
                    <a:bodyPr/>
                    <a:lstStyle/>
                    <a:p>
                      <a:r>
                        <a:rPr sz="1575" b="0">
                          <a:solidFill>
                            <a:srgbClr val="262626"/>
                          </a:solidFill>
                          <a:latin typeface="Calibri"/>
                          <a:ea typeface="Calibri"/>
                          <a:cs typeface="Calibri"/>
                        </a:rPr>
                        <a:t>Malvern Hills</a:t>
                      </a:r>
                    </a:p>
                  </a:txBody>
                  <a:tcPr marL="91440" marR="91440" marT="45720" marB="45720">
                    <a:solidFill>
                      <a:srgbClr val="FFFCF8"/>
                    </a:solidFill>
                  </a:tcPr>
                </a:tc>
                <a:tc>
                  <a:txBody>
                    <a:bodyPr/>
                    <a:lstStyle/>
                    <a:p>
                      <a:r>
                        <a:rPr sz="1575" b="0">
                          <a:solidFill>
                            <a:srgbClr val="262626"/>
                          </a:solidFill>
                          <a:latin typeface="Calibri"/>
                          <a:ea typeface="Calibri"/>
                          <a:cs typeface="Calibri"/>
                        </a:rPr>
                        <a:t>7.51</a:t>
                      </a:r>
                    </a:p>
                  </a:txBody>
                  <a:tcPr marL="91440" marR="91440" marT="45720" marB="45720">
                    <a:solidFill>
                      <a:srgbClr val="FFFCF8"/>
                    </a:solidFill>
                  </a:tcPr>
                </a:tc>
                <a:tc>
                  <a:txBody>
                    <a:bodyPr/>
                    <a:lstStyle/>
                    <a:p>
                      <a:r>
                        <a:rPr sz="1575" b="0">
                          <a:solidFill>
                            <a:srgbClr val="262626"/>
                          </a:solidFill>
                          <a:latin typeface="Calibri"/>
                          <a:ea typeface="Calibri"/>
                          <a:cs typeface="Calibri"/>
                        </a:rPr>
                        <a:t>Similar</a:t>
                      </a:r>
                    </a:p>
                  </a:txBody>
                  <a:tcPr marL="91440" marR="91440" marT="45720" marB="45720">
                    <a:solidFill>
                      <a:srgbClr val="FFFCF8"/>
                    </a:solidFill>
                  </a:tcPr>
                </a:tc>
              </a:tr>
              <a:tr h="482203">
                <a:tc>
                  <a:txBody>
                    <a:bodyPr/>
                    <a:lstStyle/>
                    <a:p>
                      <a:r>
                        <a:rPr sz="1575" b="0">
                          <a:solidFill>
                            <a:srgbClr val="262626"/>
                          </a:solidFill>
                          <a:latin typeface="Calibri"/>
                          <a:ea typeface="Calibri"/>
                          <a:cs typeface="Calibri"/>
                        </a:rPr>
                        <a:t>Sandwell</a:t>
                      </a:r>
                    </a:p>
                  </a:txBody>
                  <a:tcPr marL="91440" marR="91440" marT="45720" marB="45720">
                    <a:solidFill>
                      <a:srgbClr val="FFE3C6"/>
                    </a:solidFill>
                  </a:tcPr>
                </a:tc>
                <a:tc>
                  <a:txBody>
                    <a:bodyPr/>
                    <a:lstStyle/>
                    <a:p>
                      <a:r>
                        <a:rPr sz="1575" b="0">
                          <a:solidFill>
                            <a:srgbClr val="262626"/>
                          </a:solidFill>
                          <a:latin typeface="Calibri"/>
                          <a:ea typeface="Calibri"/>
                          <a:cs typeface="Calibri"/>
                        </a:rPr>
                        <a:t>7.42</a:t>
                      </a:r>
                    </a:p>
                  </a:txBody>
                  <a:tcPr marL="91440" marR="91440" marT="45720" marB="45720">
                    <a:solidFill>
                      <a:srgbClr val="FFE3C6"/>
                    </a:solidFill>
                  </a:tcPr>
                </a:tc>
                <a:tc>
                  <a:txBody>
                    <a:bodyPr/>
                    <a:lstStyle/>
                    <a:p>
                      <a:r>
                        <a:rPr sz="1575" b="0">
                          <a:solidFill>
                            <a:srgbClr val="262626"/>
                          </a:solidFill>
                          <a:latin typeface="Calibri"/>
                          <a:ea typeface="Calibri"/>
                          <a:cs typeface="Calibri"/>
                        </a:rPr>
                        <a:t>Worse</a:t>
                      </a:r>
                    </a:p>
                  </a:txBody>
                  <a:tcPr marL="91440" marR="91440" marT="45720" marB="45720">
                    <a:solidFill>
                      <a:srgbClr val="FFE3C6"/>
                    </a:solidFill>
                  </a:tcPr>
                </a:tc>
              </a:tr>
              <a:tr h="482203">
                <a:tc>
                  <a:txBody>
                    <a:bodyPr/>
                    <a:lstStyle/>
                    <a:p>
                      <a:r>
                        <a:rPr sz="1575" b="0">
                          <a:solidFill>
                            <a:srgbClr val="262626"/>
                          </a:solidFill>
                          <a:latin typeface="Calibri"/>
                          <a:ea typeface="Calibri"/>
                          <a:cs typeface="Calibri"/>
                        </a:rPr>
                        <a:t>Peterborough</a:t>
                      </a:r>
                    </a:p>
                  </a:txBody>
                  <a:tcPr marL="91440" marR="91440" marT="45720" marB="45720">
                    <a:solidFill>
                      <a:srgbClr val="FFFCF8"/>
                    </a:solidFill>
                  </a:tcPr>
                </a:tc>
                <a:tc>
                  <a:txBody>
                    <a:bodyPr/>
                    <a:lstStyle/>
                    <a:p>
                      <a:r>
                        <a:rPr sz="1575" b="0">
                          <a:solidFill>
                            <a:srgbClr val="262626"/>
                          </a:solidFill>
                          <a:latin typeface="Calibri"/>
                          <a:ea typeface="Calibri"/>
                          <a:cs typeface="Calibri"/>
                        </a:rPr>
                        <a:t>7.40</a:t>
                      </a:r>
                    </a:p>
                  </a:txBody>
                  <a:tcPr marL="91440" marR="91440" marT="45720" marB="45720">
                    <a:solidFill>
                      <a:srgbClr val="FFFCF8"/>
                    </a:solidFill>
                  </a:tcPr>
                </a:tc>
                <a:tc>
                  <a:txBody>
                    <a:bodyPr/>
                    <a:lstStyle/>
                    <a:p>
                      <a:r>
                        <a:rPr sz="1575" b="0">
                          <a:solidFill>
                            <a:srgbClr val="262626"/>
                          </a:solidFill>
                          <a:latin typeface="Calibri"/>
                          <a:ea typeface="Calibri"/>
                          <a:cs typeface="Calibri"/>
                        </a:rPr>
                        <a:t>Worse</a:t>
                      </a:r>
                    </a:p>
                  </a:txBody>
                  <a:tcPr marL="91440" marR="91440" marT="45720" marB="45720">
                    <a:solidFill>
                      <a:srgbClr val="FFFCF8"/>
                    </a:solidFill>
                  </a:tcPr>
                </a:tc>
              </a:tr>
            </a:tbl>
          </a:graphicData>
        </a:graphic>
      </p:graphicFrame>
      <p:sp>
        <p:nvSpPr>
          <p:cNvPr id="18" name="">
            <a:extLst xmlns:a="http://schemas.openxmlformats.org/drawingml/2006/main">
              <a:ext uri="{FF2B5EF4-FFF2-40B4-BE49-F238E27FC236}">
                <a16:creationId xmlns:a16="http://schemas.microsoft.com/office/drawing/2014/main" id="{58BBF98B-4DC2-4CD1-956B-41A4383CD818}"/>
              </a:ext>
            </a:extLst>
          </p:cNvPr>
          <p:cNvSpPr>
            <a:spLocks xmlns:a="http://schemas.openxmlformats.org/drawingml/2006/main" noGrp="1"/>
          </p:cNvSpPr>
          <p:nvPr/>
        </p:nvSpPr>
        <p:spPr>
          <a:xfrm xmlns:a="http://schemas.openxmlformats.org/drawingml/2006/main">
            <a:off x="3048000" y="5295900"/>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626262"/>
                </a:solidFill>
                <a:latin typeface="Calibri"/>
                <a:ea typeface="Calibri"/>
                <a:cs typeface="Calibri"/>
              </a:defRPr>
            </a:pPr>
            <a:r>
              <a:rPr sz="1725" b="0">
                <a:solidFill>
                  <a:srgbClr val="626262"/>
                </a:solidFill>
                <a:latin typeface="Calibri"/>
                <a:ea typeface="Calibri"/>
                <a:cs typeface="Calibri"/>
              </a:rPr>
              <a:t>Malvern Hills has a wide 95% CI of 4.00–12.85. Its supplied comparison category is “Similar”.</a:t>
            </a:r>
          </a:p>
        </p:txBody>
      </p:sp>
    </p:spTree>
    <p:extLst>
      <p:ext uri="{BB962C8B-B14F-4D97-AF65-F5344CB8AC3E}">
        <p14:creationId xmlns:p14="http://schemas.microsoft.com/office/powerpoint/2010/main" val="2017125607"/>
      </p:ext>
    </p:extLst>
  </p:cSld>
</p:sld>
</file>

<file path=ppt/slides/slide17.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Differences from England identify areas for review</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S6</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17</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13391f6c451480a"/>
          <a:stretch xmlns:a="http://schemas.openxmlformats.org/drawingml/2006/main"/>
        </p:blipFill>
        <p:spPr>
          <a:xfrm xmlns:a="http://schemas.openxmlformats.org/drawingml/2006/main">
            <a:off x="542520" y="952500"/>
            <a:ext cx="8058959" cy="5095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8C0ECE3-6B43-483C-9CCE-24DB211EB465}"/>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5C74C4ED-04DE-4AA5-8249-C5A6FE3FB7AB}"/>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Local infant mortality minus the England rate of 4.17 per 1,000.</a:t>
            </a:r>
          </a:p>
        </p:txBody>
      </p:sp>
      <p:sp>
        <p:nvSpPr>
          <p:cNvPr id="19" name="">
            <a:extLst xmlns:a="http://schemas.openxmlformats.org/drawingml/2006/main">
              <a:ext uri="{FF2B5EF4-FFF2-40B4-BE49-F238E27FC236}">
                <a16:creationId xmlns:a16="http://schemas.microsoft.com/office/drawing/2014/main" id="{3A5BE5B3-531D-4173-9457-71126FB455BD}"/>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EXAMPLE</a:t>
            </a:r>
          </a:p>
        </p:txBody>
      </p:sp>
      <p:sp>
        <p:nvSpPr>
          <p:cNvPr id="20" name="">
            <a:extLst xmlns:a="http://schemas.openxmlformats.org/drawingml/2006/main">
              <a:ext uri="{FF2B5EF4-FFF2-40B4-BE49-F238E27FC236}">
                <a16:creationId xmlns:a16="http://schemas.microsoft.com/office/drawing/2014/main" id="{3E43AF43-1662-40AE-8B7A-94A4C196F4AA}"/>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Birmingham is 4.51 per 1,000 above England, with a rate of 8.67.</a:t>
            </a:r>
          </a:p>
        </p:txBody>
      </p:sp>
      <p:sp>
        <p:nvSpPr>
          <p:cNvPr id="21" name="">
            <a:extLst xmlns:a="http://schemas.openxmlformats.org/drawingml/2006/main">
              <a:ext uri="{FF2B5EF4-FFF2-40B4-BE49-F238E27FC236}">
                <a16:creationId xmlns:a16="http://schemas.microsoft.com/office/drawing/2014/main" id="{83DBA9BC-66D8-4ABA-B9BC-C19BB71B3074}"/>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INTERPRETATION</a:t>
            </a:r>
          </a:p>
        </p:txBody>
      </p:sp>
      <p:sp>
        <p:nvSpPr>
          <p:cNvPr id="22" name="">
            <a:extLst xmlns:a="http://schemas.openxmlformats.org/drawingml/2006/main">
              <a:ext uri="{FF2B5EF4-FFF2-40B4-BE49-F238E27FC236}">
                <a16:creationId xmlns:a16="http://schemas.microsoft.com/office/drawing/2014/main" id="{97ECCC78-12D6-46B5-B6BA-A68C4D1BDC01}"/>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size of a point-estimate gap should be read alongside the confidence interval.</a:t>
            </a:r>
          </a:p>
        </p:txBody>
      </p:sp>
    </p:spTree>
    <p:extLst>
      <p:ext uri="{BB962C8B-B14F-4D97-AF65-F5344CB8AC3E}">
        <p14:creationId xmlns:p14="http://schemas.microsoft.com/office/powerpoint/2010/main" val="2017125607"/>
      </p:ext>
    </p:extLst>
  </p:cSld>
</p:sld>
</file>

<file path=ppt/slides/slide18.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Most authorities fall in the “Similar” category</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S7</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18</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f90e5c589784dce"/>
          <a:stretch xmlns:a="http://schemas.openxmlformats.org/drawingml/2006/main"/>
        </p:blipFill>
        <p:spPr>
          <a:xfrm xmlns:a="http://schemas.openxmlformats.org/drawingml/2006/main">
            <a:off x="542520" y="952500"/>
            <a:ext cx="8058959" cy="5095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3AF7F89-33D1-44F3-A662-454DD61DBED2}"/>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RESULT</a:t>
            </a:r>
          </a:p>
        </p:txBody>
      </p:sp>
      <p:sp>
        <p:nvSpPr>
          <p:cNvPr id="18" name="">
            <a:extLst xmlns:a="http://schemas.openxmlformats.org/drawingml/2006/main">
              <a:ext uri="{FF2B5EF4-FFF2-40B4-BE49-F238E27FC236}">
                <a16:creationId xmlns:a16="http://schemas.microsoft.com/office/drawing/2014/main" id="{2A738A95-D587-4BB9-B1EF-EE2DAD267E4C}"/>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238 Similar, 28 Better and 25 Worse among the 291 authorities with available infant rates.</a:t>
            </a:r>
          </a:p>
        </p:txBody>
      </p:sp>
      <p:sp>
        <p:nvSpPr>
          <p:cNvPr id="19" name="">
            <a:extLst xmlns:a="http://schemas.openxmlformats.org/drawingml/2006/main">
              <a:ext uri="{FF2B5EF4-FFF2-40B4-BE49-F238E27FC236}">
                <a16:creationId xmlns:a16="http://schemas.microsoft.com/office/drawing/2014/main" id="{9F861296-058E-4459-BAD1-F2A1E92E7A60}"/>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MISSING VALUES</a:t>
            </a:r>
          </a:p>
        </p:txBody>
      </p:sp>
      <p:sp>
        <p:nvSpPr>
          <p:cNvPr id="20" name="">
            <a:extLst xmlns:a="http://schemas.openxmlformats.org/drawingml/2006/main">
              <a:ext uri="{FF2B5EF4-FFF2-40B4-BE49-F238E27FC236}">
                <a16:creationId xmlns:a16="http://schemas.microsoft.com/office/drawing/2014/main" id="{D738FF3B-7365-4E0A-856A-A87DA4559265}"/>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Five additional authorities have unavailable rates and are Not compared.</a:t>
            </a:r>
          </a:p>
        </p:txBody>
      </p:sp>
      <p:sp>
        <p:nvSpPr>
          <p:cNvPr id="21" name="">
            <a:extLst xmlns:a="http://schemas.openxmlformats.org/drawingml/2006/main">
              <a:ext uri="{FF2B5EF4-FFF2-40B4-BE49-F238E27FC236}">
                <a16:creationId xmlns:a16="http://schemas.microsoft.com/office/drawing/2014/main" id="{4323FF49-7132-4FBB-A969-32467AA312A9}"/>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INTERPRETATION</a:t>
            </a:r>
          </a:p>
        </p:txBody>
      </p:sp>
      <p:sp>
        <p:nvSpPr>
          <p:cNvPr id="22" name="">
            <a:extLst xmlns:a="http://schemas.openxmlformats.org/drawingml/2006/main">
              <a:ext uri="{FF2B5EF4-FFF2-40B4-BE49-F238E27FC236}">
                <a16:creationId xmlns:a16="http://schemas.microsoft.com/office/drawing/2014/main" id="{EB376AD9-708D-4572-AF57-EC0F506287A1}"/>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Similar indicates the supplied benchmark category. It does not establish identical outcomes.</a:t>
            </a:r>
          </a:p>
        </p:txBody>
      </p:sp>
    </p:spTree>
    <p:extLst>
      <p:ext uri="{BB962C8B-B14F-4D97-AF65-F5344CB8AC3E}">
        <p14:creationId xmlns:p14="http://schemas.microsoft.com/office/powerpoint/2010/main" val="2017125607"/>
      </p:ext>
    </p:extLst>
  </p:cSld>
</p:sld>
</file>

<file path=ppt/slides/slide19.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Local confidence intervals reveal ranking uncertainty</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S8</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19</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fad258e408342ee"/>
          <a:stretch xmlns:a="http://schemas.openxmlformats.org/drawingml/2006/main"/>
        </p:blipFill>
        <p:spPr>
          <a:xfrm xmlns:a="http://schemas.openxmlformats.org/drawingml/2006/main">
            <a:off x="539406" y="952500"/>
            <a:ext cx="8065187" cy="5095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D88FE15-5E3F-4A45-BDB0-85FFAEB64351}"/>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24E05501-C04A-47DA-94F4-5DEB3BFDEE6B}"/>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Reported 95% confidence intervals for selected higher-rate authorities.</a:t>
            </a:r>
          </a:p>
        </p:txBody>
      </p:sp>
      <p:sp>
        <p:nvSpPr>
          <p:cNvPr id="19" name="">
            <a:extLst xmlns:a="http://schemas.openxmlformats.org/drawingml/2006/main">
              <a:ext uri="{FF2B5EF4-FFF2-40B4-BE49-F238E27FC236}">
                <a16:creationId xmlns:a16="http://schemas.microsoft.com/office/drawing/2014/main" id="{4B678577-6663-4895-A61A-74CC0B840B02}"/>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CONTRAST</a:t>
            </a:r>
          </a:p>
        </p:txBody>
      </p:sp>
      <p:sp>
        <p:nvSpPr>
          <p:cNvPr id="20" name="">
            <a:extLst xmlns:a="http://schemas.openxmlformats.org/drawingml/2006/main">
              <a:ext uri="{FF2B5EF4-FFF2-40B4-BE49-F238E27FC236}">
                <a16:creationId xmlns:a16="http://schemas.microsoft.com/office/drawing/2014/main" id="{040D0D78-AA18-47CD-949C-52F9DC1CFC3A}"/>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Birmingham: 7.83–9.58. Stafford: 5.24–11.40 deaths per 1,000.</a:t>
            </a:r>
          </a:p>
        </p:txBody>
      </p:sp>
      <p:sp>
        <p:nvSpPr>
          <p:cNvPr id="21" name="">
            <a:extLst xmlns:a="http://schemas.openxmlformats.org/drawingml/2006/main">
              <a:ext uri="{FF2B5EF4-FFF2-40B4-BE49-F238E27FC236}">
                <a16:creationId xmlns:a16="http://schemas.microsoft.com/office/drawing/2014/main" id="{A11FE9DD-32AB-443E-9659-6884CD6420BA}"/>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INTERPRETATION</a:t>
            </a:r>
          </a:p>
        </p:txBody>
      </p:sp>
      <p:sp>
        <p:nvSpPr>
          <p:cNvPr id="22" name="">
            <a:extLst xmlns:a="http://schemas.openxmlformats.org/drawingml/2006/main">
              <a:ext uri="{FF2B5EF4-FFF2-40B4-BE49-F238E27FC236}">
                <a16:creationId xmlns:a16="http://schemas.microsoft.com/office/drawing/2014/main" id="{CDED57B1-E382-4C18-AF42-6BAC7221C583}"/>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Wide intervals reduce precision. A point-estimate rank is not a precise ordering of underlying risk.</a:t>
            </a:r>
          </a:p>
        </p:txBody>
      </p:sp>
    </p:spTree>
    <p:extLst>
      <p:ext uri="{BB962C8B-B14F-4D97-AF65-F5344CB8AC3E}">
        <p14:creationId xmlns:p14="http://schemas.microsoft.com/office/powerpoint/2010/main" val="2017125607"/>
      </p:ext>
    </p:extLst>
  </p:cSld>
</p:sld>
</file>

<file path=ppt/slides/slide20.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Deprivation and mortality inequality</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DASHBOARD 3</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20</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e465cba02984ae2"/>
          <a:stretch xmlns:a="http://schemas.openxmlformats.org/drawingml/2006/main"/>
        </p:blipFill>
        <p:spPr>
          <a:xfrm xmlns:a="http://schemas.openxmlformats.org/drawingml/2006/main">
            <a:off x="1537457" y="809625"/>
            <a:ext cx="8993261" cy="52387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51CE6E0-C71C-4A4F-BDF8-DFE2FEB5C2D0}"/>
              </a:ext>
            </a:extLst>
          </p:cNvPr>
          <p:cNvSpPr>
            <a:spLocks xmlns:a="http://schemas.openxmlformats.org/drawingml/2006/main" noGrp="1"/>
          </p:cNvSpPr>
          <p:nvPr/>
        </p:nvSpPr>
        <p:spPr>
          <a:xfrm xmlns:a="http://schemas.openxmlformats.org/drawingml/2006/main">
            <a:off x="628650" y="6105525"/>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54D13"/>
                </a:solidFill>
                <a:latin typeface="Calibri"/>
                <a:ea typeface="Calibri"/>
                <a:cs typeface="Calibri"/>
              </a:defRPr>
            </a:pPr>
            <a:r>
              <a:rPr sz="1350" b="0">
                <a:solidFill>
                  <a:srgbClr val="B54D13"/>
                </a:solidFill>
                <a:latin typeface="Calibri"/>
                <a:ea typeface="Calibri"/>
                <a:cs typeface="Calibri"/>
              </a:rPr>
              <a:t>Infant mortality, 2022–24, linked to IMD 2019. Area associations do not establish causation.</a:t>
            </a:r>
          </a:p>
        </p:txBody>
      </p:sp>
    </p:spTree>
    <p:extLst>
      <p:ext uri="{BB962C8B-B14F-4D97-AF65-F5344CB8AC3E}">
        <p14:creationId xmlns:p14="http://schemas.microsoft.com/office/powerpoint/2010/main" val="2017125607"/>
      </p:ext>
    </p:extLst>
  </p:cSld>
</p:sld>
</file>

<file path=ppt/slides/slide21.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Higher deprivation is associated with higher infant mortality</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S9</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21</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64dd9028c884856"/>
          <a:stretch xmlns:a="http://schemas.openxmlformats.org/drawingml/2006/main"/>
        </p:blipFill>
        <p:spPr>
          <a:xfrm xmlns:a="http://schemas.openxmlformats.org/drawingml/2006/main">
            <a:off x="523875" y="1011868"/>
            <a:ext cx="8096250" cy="4977138"/>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12EB8AC-62E7-4027-BB45-D8BD2617BC5C}"/>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2D89E603-F129-4A68-881E-044F8176CD48}"/>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Each point represents an authority, with weighted IMD score on the horizontal axis.</a:t>
            </a:r>
          </a:p>
        </p:txBody>
      </p:sp>
      <p:sp>
        <p:nvSpPr>
          <p:cNvPr id="19" name="">
            <a:extLst xmlns:a="http://schemas.openxmlformats.org/drawingml/2006/main">
              <a:ext uri="{FF2B5EF4-FFF2-40B4-BE49-F238E27FC236}">
                <a16:creationId xmlns:a16="http://schemas.microsoft.com/office/drawing/2014/main" id="{6B5AB8E4-2951-48D0-B245-621820E23AFE}"/>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PATTERN</a:t>
            </a:r>
          </a:p>
        </p:txBody>
      </p:sp>
      <p:sp>
        <p:nvSpPr>
          <p:cNvPr id="20" name="">
            <a:extLst xmlns:a="http://schemas.openxmlformats.org/drawingml/2006/main">
              <a:ext uri="{FF2B5EF4-FFF2-40B4-BE49-F238E27FC236}">
                <a16:creationId xmlns:a16="http://schemas.microsoft.com/office/drawing/2014/main" id="{4B5B8CDD-38CB-4DE9-B717-8BEB51A4A345}"/>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Higher deprivation scores generally accompany higher mortality, with substantial variation.</a:t>
            </a:r>
          </a:p>
        </p:txBody>
      </p:sp>
      <p:sp>
        <p:nvSpPr>
          <p:cNvPr id="21" name="">
            <a:extLst xmlns:a="http://schemas.openxmlformats.org/drawingml/2006/main">
              <a:ext uri="{FF2B5EF4-FFF2-40B4-BE49-F238E27FC236}">
                <a16:creationId xmlns:a16="http://schemas.microsoft.com/office/drawing/2014/main" id="{29E558F3-7762-4618-8AEC-C3AE845F9759}"/>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CAUTION</a:t>
            </a:r>
          </a:p>
        </p:txBody>
      </p:sp>
      <p:sp>
        <p:nvSpPr>
          <p:cNvPr id="22" name="">
            <a:extLst xmlns:a="http://schemas.openxmlformats.org/drawingml/2006/main">
              <a:ext uri="{FF2B5EF4-FFF2-40B4-BE49-F238E27FC236}">
                <a16:creationId xmlns:a16="http://schemas.microsoft.com/office/drawing/2014/main" id="{186B118A-5F6E-43AC-8F02-94278ABA4E5C}"/>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Some points have no assigned quintile. The chart compares areas, not individual families.</a:t>
            </a:r>
          </a:p>
        </p:txBody>
      </p:sp>
    </p:spTree>
    <p:extLst>
      <p:ext uri="{BB962C8B-B14F-4D97-AF65-F5344CB8AC3E}">
        <p14:creationId xmlns:p14="http://schemas.microsoft.com/office/powerpoint/2010/main" val="2017125607"/>
      </p:ext>
    </p:extLst>
  </p:cSld>
</p:sld>
</file>

<file path=ppt/slides/slide22.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Mean infant mortality rises across the assigned quintiles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S10</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22</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6cf7313130447cb"/>
          <a:stretch xmlns:a="http://schemas.openxmlformats.org/drawingml/2006/main"/>
        </p:blipFill>
        <p:spPr>
          <a:xfrm xmlns:a="http://schemas.openxmlformats.org/drawingml/2006/main">
            <a:off x="523875" y="966406"/>
            <a:ext cx="8096250" cy="5068063"/>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46D3412-15B3-4F47-A60C-D5ED4B497C97}"/>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RESULT</a:t>
            </a:r>
          </a:p>
        </p:txBody>
      </p:sp>
      <p:sp>
        <p:nvSpPr>
          <p:cNvPr id="18" name="">
            <a:extLst xmlns:a="http://schemas.openxmlformats.org/drawingml/2006/main">
              <a:ext uri="{FF2B5EF4-FFF2-40B4-BE49-F238E27FC236}">
                <a16:creationId xmlns:a16="http://schemas.microsoft.com/office/drawing/2014/main" id="{2F94F286-D859-4AF6-A796-69BE94164E0A}"/>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Q1 mean: 3.37. Q5 mean: 5.10 deaths per 1,000.</a:t>
            </a:r>
          </a:p>
        </p:txBody>
      </p:sp>
      <p:sp>
        <p:nvSpPr>
          <p:cNvPr id="19" name="">
            <a:extLst xmlns:a="http://schemas.openxmlformats.org/drawingml/2006/main">
              <a:ext uri="{FF2B5EF4-FFF2-40B4-BE49-F238E27FC236}">
                <a16:creationId xmlns:a16="http://schemas.microsoft.com/office/drawing/2014/main" id="{94078589-51C6-4458-BC2F-AB0A02DEE088}"/>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SIZE OF GAP</a:t>
            </a:r>
          </a:p>
        </p:txBody>
      </p:sp>
      <p:sp>
        <p:nvSpPr>
          <p:cNvPr id="20" name="">
            <a:extLst xmlns:a="http://schemas.openxmlformats.org/drawingml/2006/main">
              <a:ext uri="{FF2B5EF4-FFF2-40B4-BE49-F238E27FC236}">
                <a16:creationId xmlns:a16="http://schemas.microsoft.com/office/drawing/2014/main" id="{F70798D3-8566-4353-99AC-B0CC261BE8CA}"/>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Q5 mean is 1.72 per 1,000 higher, or approximately 51% above Q1.</a:t>
            </a:r>
          </a:p>
        </p:txBody>
      </p:sp>
      <p:sp>
        <p:nvSpPr>
          <p:cNvPr id="21" name="">
            <a:extLst xmlns:a="http://schemas.openxmlformats.org/drawingml/2006/main">
              <a:ext uri="{FF2B5EF4-FFF2-40B4-BE49-F238E27FC236}">
                <a16:creationId xmlns:a16="http://schemas.microsoft.com/office/drawing/2014/main" id="{74E9B389-7379-4C2B-9FD0-6DD91C1365A8}"/>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AGGREGATION</a:t>
            </a:r>
          </a:p>
        </p:txBody>
      </p:sp>
      <p:sp>
        <p:nvSpPr>
          <p:cNvPr id="22" name="">
            <a:extLst xmlns:a="http://schemas.openxmlformats.org/drawingml/2006/main">
              <a:ext uri="{FF2B5EF4-FFF2-40B4-BE49-F238E27FC236}">
                <a16:creationId xmlns:a16="http://schemas.microsoft.com/office/drawing/2014/main" id="{171E437D-6A64-40BF-9B1B-533260652BBD}"/>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Each authority receives equal weight. These are not pooled population mortality rates.</a:t>
            </a:r>
          </a:p>
        </p:txBody>
      </p:sp>
    </p:spTree>
    <p:extLst>
      <p:ext uri="{BB962C8B-B14F-4D97-AF65-F5344CB8AC3E}">
        <p14:creationId xmlns:p14="http://schemas.microsoft.com/office/powerpoint/2010/main" val="2017125607"/>
      </p:ext>
    </p:extLst>
  </p:cSld>
</p:sld>
</file>

<file path=ppt/slides/slide23.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The quintile comparison uses 241 authorities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DEPRIVATION COVERAGE</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23</a:t>
            </a:r>
          </a:p>
        </p:txBody>
      </p:sp>
      <p:graphicFrame>
        <p:nvGraphicFramePr>
          <p:cNvPr id="25" name=""/>
          <p:cNvGraphicFramePr/>
          <p:nvPr/>
        </p:nvGraphicFramePr>
        <p:xfrm>
          <a:off xmlns:a="http://schemas.openxmlformats.org/drawingml/2006/main" x="666750" y="1095375"/>
          <a:ext xmlns:a="http://schemas.openxmlformats.org/drawingml/2006/main" cx="10858500" cy="3524250"/>
        </p:xfrm>
        <a:graphic xmlns:a="http://schemas.openxmlformats.org/drawingml/2006/main">
          <a:graphicData uri="http://schemas.openxmlformats.org/drawingml/2006/table">
            <a:tbl>
              <a:tblPr/>
              <a:tblGrid>
                <a:gridCol w="4953000"/>
                <a:gridCol w="2762250"/>
                <a:gridCol w="3143250"/>
              </a:tblGrid>
              <a:tr h="587375">
                <a:tc>
                  <a:txBody>
                    <a:bodyPr/>
                    <a:lstStyle/>
                    <a:p>
                      <a:r>
                        <a:rPr sz="1500" b="1">
                          <a:solidFill>
                            <a:srgbClr val="FFFFFF"/>
                          </a:solidFill>
                          <a:latin typeface="Calibri"/>
                          <a:ea typeface="Calibri"/>
                          <a:cs typeface="Calibri"/>
                        </a:rPr>
                        <a:t>Assigned quintile</a:t>
                      </a:r>
                    </a:p>
                  </a:txBody>
                  <a:tcPr marL="91440" marR="91440" marT="45720" marB="45720">
                    <a:solidFill>
                      <a:srgbClr val="F87812"/>
                    </a:solidFill>
                  </a:tcPr>
                </a:tc>
                <a:tc>
                  <a:txBody>
                    <a:bodyPr/>
                    <a:lstStyle/>
                    <a:p>
                      <a:r>
                        <a:rPr sz="1500" b="1">
                          <a:solidFill>
                            <a:srgbClr val="FFFFFF"/>
                          </a:solidFill>
                          <a:latin typeface="Calibri"/>
                          <a:ea typeface="Calibri"/>
                          <a:cs typeface="Calibri"/>
                        </a:rPr>
                        <a:t>Available rates</a:t>
                      </a:r>
                    </a:p>
                  </a:txBody>
                  <a:tcPr marL="91440" marR="91440" marT="45720" marB="45720">
                    <a:solidFill>
                      <a:srgbClr val="F87812"/>
                    </a:solidFill>
                  </a:tcPr>
                </a:tc>
                <a:tc>
                  <a:txBody>
                    <a:bodyPr/>
                    <a:lstStyle/>
                    <a:p>
                      <a:r>
                        <a:rPr sz="1500" b="1">
                          <a:solidFill>
                            <a:srgbClr val="FFFFFF"/>
                          </a:solidFill>
                          <a:latin typeface="Calibri"/>
                          <a:ea typeface="Calibri"/>
                          <a:cs typeface="Calibri"/>
                        </a:rPr>
                        <a:t>Mean per 1,000</a:t>
                      </a:r>
                    </a:p>
                  </a:txBody>
                  <a:tcPr marL="91440" marR="91440" marT="45720" marB="45720">
                    <a:solidFill>
                      <a:srgbClr val="F87812"/>
                    </a:solidFill>
                  </a:tcPr>
                </a:tc>
              </a:tr>
              <a:tr h="587375">
                <a:tc>
                  <a:txBody>
                    <a:bodyPr/>
                    <a:lstStyle/>
                    <a:p>
                      <a:r>
                        <a:rPr sz="1650" b="0">
                          <a:solidFill>
                            <a:srgbClr val="262626"/>
                          </a:solidFill>
                          <a:latin typeface="Calibri"/>
                          <a:ea typeface="Calibri"/>
                          <a:cs typeface="Calibri"/>
                        </a:rPr>
                        <a:t>Q1 Least deprived</a:t>
                      </a:r>
                    </a:p>
                  </a:txBody>
                  <a:tcPr marL="91440" marR="91440" marT="45720" marB="45720">
                    <a:solidFill>
                      <a:srgbClr val="FFFCF8"/>
                    </a:solidFill>
                  </a:tcPr>
                </a:tc>
                <a:tc>
                  <a:txBody>
                    <a:bodyPr/>
                    <a:lstStyle/>
                    <a:p>
                      <a:r>
                        <a:rPr sz="1650" b="0">
                          <a:solidFill>
                            <a:srgbClr val="262626"/>
                          </a:solidFill>
                          <a:latin typeface="Calibri"/>
                          <a:ea typeface="Calibri"/>
                          <a:cs typeface="Calibri"/>
                        </a:rPr>
                        <a:t>47</a:t>
                      </a:r>
                    </a:p>
                  </a:txBody>
                  <a:tcPr marL="91440" marR="91440" marT="45720" marB="45720">
                    <a:solidFill>
                      <a:srgbClr val="FFFCF8"/>
                    </a:solidFill>
                  </a:tcPr>
                </a:tc>
                <a:tc>
                  <a:txBody>
                    <a:bodyPr/>
                    <a:lstStyle/>
                    <a:p>
                      <a:r>
                        <a:rPr sz="1650" b="0">
                          <a:solidFill>
                            <a:srgbClr val="262626"/>
                          </a:solidFill>
                          <a:latin typeface="Calibri"/>
                          <a:ea typeface="Calibri"/>
                          <a:cs typeface="Calibri"/>
                        </a:rPr>
                        <a:t>3.374</a:t>
                      </a:r>
                    </a:p>
                  </a:txBody>
                  <a:tcPr marL="91440" marR="91440" marT="45720" marB="45720">
                    <a:solidFill>
                      <a:srgbClr val="FFFCF8"/>
                    </a:solidFill>
                  </a:tcPr>
                </a:tc>
              </a:tr>
              <a:tr h="587375">
                <a:tc>
                  <a:txBody>
                    <a:bodyPr/>
                    <a:lstStyle/>
                    <a:p>
                      <a:r>
                        <a:rPr sz="1650" b="0">
                          <a:solidFill>
                            <a:srgbClr val="262626"/>
                          </a:solidFill>
                          <a:latin typeface="Calibri"/>
                          <a:ea typeface="Calibri"/>
                          <a:cs typeface="Calibri"/>
                        </a:rPr>
                        <a:t>Q2</a:t>
                      </a:r>
                    </a:p>
                  </a:txBody>
                  <a:tcPr marL="91440" marR="91440" marT="45720" marB="45720">
                    <a:solidFill>
                      <a:srgbClr val="FFE3C6"/>
                    </a:solidFill>
                  </a:tcPr>
                </a:tc>
                <a:tc>
                  <a:txBody>
                    <a:bodyPr/>
                    <a:lstStyle/>
                    <a:p>
                      <a:r>
                        <a:rPr sz="1650" b="0">
                          <a:solidFill>
                            <a:srgbClr val="262626"/>
                          </a:solidFill>
                          <a:latin typeface="Calibri"/>
                          <a:ea typeface="Calibri"/>
                          <a:cs typeface="Calibri"/>
                        </a:rPr>
                        <a:t>48</a:t>
                      </a:r>
                    </a:p>
                  </a:txBody>
                  <a:tcPr marL="91440" marR="91440" marT="45720" marB="45720">
                    <a:solidFill>
                      <a:srgbClr val="FFE3C6"/>
                    </a:solidFill>
                  </a:tcPr>
                </a:tc>
                <a:tc>
                  <a:txBody>
                    <a:bodyPr/>
                    <a:lstStyle/>
                    <a:p>
                      <a:r>
                        <a:rPr sz="1650" b="0">
                          <a:solidFill>
                            <a:srgbClr val="262626"/>
                          </a:solidFill>
                          <a:latin typeface="Calibri"/>
                          <a:ea typeface="Calibri"/>
                          <a:cs typeface="Calibri"/>
                        </a:rPr>
                        <a:t>3.574</a:t>
                      </a:r>
                    </a:p>
                  </a:txBody>
                  <a:tcPr marL="91440" marR="91440" marT="45720" marB="45720">
                    <a:solidFill>
                      <a:srgbClr val="FFE3C6"/>
                    </a:solidFill>
                  </a:tcPr>
                </a:tc>
              </a:tr>
              <a:tr h="587375">
                <a:tc>
                  <a:txBody>
                    <a:bodyPr/>
                    <a:lstStyle/>
                    <a:p>
                      <a:r>
                        <a:rPr sz="1650" b="0">
                          <a:solidFill>
                            <a:srgbClr val="262626"/>
                          </a:solidFill>
                          <a:latin typeface="Calibri"/>
                          <a:ea typeface="Calibri"/>
                          <a:cs typeface="Calibri"/>
                        </a:rPr>
                        <a:t>Q3</a:t>
                      </a:r>
                    </a:p>
                  </a:txBody>
                  <a:tcPr marL="91440" marR="91440" marT="45720" marB="45720">
                    <a:solidFill>
                      <a:srgbClr val="FFFCF8"/>
                    </a:solidFill>
                  </a:tcPr>
                </a:tc>
                <a:tc>
                  <a:txBody>
                    <a:bodyPr/>
                    <a:lstStyle/>
                    <a:p>
                      <a:r>
                        <a:rPr sz="1650" b="0">
                          <a:solidFill>
                            <a:srgbClr val="262626"/>
                          </a:solidFill>
                          <a:latin typeface="Calibri"/>
                          <a:ea typeface="Calibri"/>
                          <a:cs typeface="Calibri"/>
                        </a:rPr>
                        <a:t>48</a:t>
                      </a:r>
                    </a:p>
                  </a:txBody>
                  <a:tcPr marL="91440" marR="91440" marT="45720" marB="45720">
                    <a:solidFill>
                      <a:srgbClr val="FFFCF8"/>
                    </a:solidFill>
                  </a:tcPr>
                </a:tc>
                <a:tc>
                  <a:txBody>
                    <a:bodyPr/>
                    <a:lstStyle/>
                    <a:p>
                      <a:r>
                        <a:rPr sz="1650" b="0">
                          <a:solidFill>
                            <a:srgbClr val="262626"/>
                          </a:solidFill>
                          <a:latin typeface="Calibri"/>
                          <a:ea typeface="Calibri"/>
                          <a:cs typeface="Calibri"/>
                        </a:rPr>
                        <a:t>3.777</a:t>
                      </a:r>
                    </a:p>
                  </a:txBody>
                  <a:tcPr marL="91440" marR="91440" marT="45720" marB="45720">
                    <a:solidFill>
                      <a:srgbClr val="FFFCF8"/>
                    </a:solidFill>
                  </a:tcPr>
                </a:tc>
              </a:tr>
              <a:tr h="587375">
                <a:tc>
                  <a:txBody>
                    <a:bodyPr/>
                    <a:lstStyle/>
                    <a:p>
                      <a:r>
                        <a:rPr sz="1650" b="0">
                          <a:solidFill>
                            <a:srgbClr val="262626"/>
                          </a:solidFill>
                          <a:latin typeface="Calibri"/>
                          <a:ea typeface="Calibri"/>
                          <a:cs typeface="Calibri"/>
                        </a:rPr>
                        <a:t>Q4</a:t>
                      </a:r>
                    </a:p>
                  </a:txBody>
                  <a:tcPr marL="91440" marR="91440" marT="45720" marB="45720">
                    <a:solidFill>
                      <a:srgbClr val="FFE3C6"/>
                    </a:solidFill>
                  </a:tcPr>
                </a:tc>
                <a:tc>
                  <a:txBody>
                    <a:bodyPr/>
                    <a:lstStyle/>
                    <a:p>
                      <a:r>
                        <a:rPr sz="1650" b="0">
                          <a:solidFill>
                            <a:srgbClr val="262626"/>
                          </a:solidFill>
                          <a:latin typeface="Calibri"/>
                          <a:ea typeface="Calibri"/>
                          <a:cs typeface="Calibri"/>
                        </a:rPr>
                        <a:t>47</a:t>
                      </a:r>
                    </a:p>
                  </a:txBody>
                  <a:tcPr marL="91440" marR="91440" marT="45720" marB="45720">
                    <a:solidFill>
                      <a:srgbClr val="FFE3C6"/>
                    </a:solidFill>
                  </a:tcPr>
                </a:tc>
                <a:tc>
                  <a:txBody>
                    <a:bodyPr/>
                    <a:lstStyle/>
                    <a:p>
                      <a:r>
                        <a:rPr sz="1650" b="0">
                          <a:solidFill>
                            <a:srgbClr val="262626"/>
                          </a:solidFill>
                          <a:latin typeface="Calibri"/>
                          <a:ea typeface="Calibri"/>
                          <a:cs typeface="Calibri"/>
                        </a:rPr>
                        <a:t>4.318</a:t>
                      </a:r>
                    </a:p>
                  </a:txBody>
                  <a:tcPr marL="91440" marR="91440" marT="45720" marB="45720">
                    <a:solidFill>
                      <a:srgbClr val="FFE3C6"/>
                    </a:solidFill>
                  </a:tcPr>
                </a:tc>
              </a:tr>
              <a:tr h="587375">
                <a:tc>
                  <a:txBody>
                    <a:bodyPr/>
                    <a:lstStyle/>
                    <a:p>
                      <a:r>
                        <a:rPr sz="1650" b="0">
                          <a:solidFill>
                            <a:srgbClr val="262626"/>
                          </a:solidFill>
                          <a:latin typeface="Calibri"/>
                          <a:ea typeface="Calibri"/>
                          <a:cs typeface="Calibri"/>
                        </a:rPr>
                        <a:t>Q5 Most deprived</a:t>
                      </a:r>
                    </a:p>
                  </a:txBody>
                  <a:tcPr marL="91440" marR="91440" marT="45720" marB="45720">
                    <a:solidFill>
                      <a:srgbClr val="FFFCF8"/>
                    </a:solidFill>
                  </a:tcPr>
                </a:tc>
                <a:tc>
                  <a:txBody>
                    <a:bodyPr/>
                    <a:lstStyle/>
                    <a:p>
                      <a:r>
                        <a:rPr sz="1650" b="0">
                          <a:solidFill>
                            <a:srgbClr val="262626"/>
                          </a:solidFill>
                          <a:latin typeface="Calibri"/>
                          <a:ea typeface="Calibri"/>
                          <a:cs typeface="Calibri"/>
                        </a:rPr>
                        <a:t>51</a:t>
                      </a:r>
                    </a:p>
                  </a:txBody>
                  <a:tcPr marL="91440" marR="91440" marT="45720" marB="45720">
                    <a:solidFill>
                      <a:srgbClr val="FFFCF8"/>
                    </a:solidFill>
                  </a:tcPr>
                </a:tc>
                <a:tc>
                  <a:txBody>
                    <a:bodyPr/>
                    <a:lstStyle/>
                    <a:p>
                      <a:r>
                        <a:rPr sz="1650" b="0">
                          <a:solidFill>
                            <a:srgbClr val="262626"/>
                          </a:solidFill>
                          <a:latin typeface="Calibri"/>
                          <a:ea typeface="Calibri"/>
                          <a:cs typeface="Calibri"/>
                        </a:rPr>
                        <a:t>5.096</a:t>
                      </a:r>
                    </a:p>
                  </a:txBody>
                  <a:tcPr marL="91440" marR="91440" marT="45720" marB="45720">
                    <a:solidFill>
                      <a:srgbClr val="FFFCF8"/>
                    </a:solidFill>
                  </a:tcPr>
                </a:tc>
              </a:tr>
            </a:tbl>
          </a:graphicData>
        </a:graphic>
      </p:graphicFrame>
      <p:sp>
        <p:nvSpPr>
          <p:cNvPr id="17" name="">
            <a:extLst xmlns:a="http://schemas.openxmlformats.org/drawingml/2006/main">
              <a:ext uri="{FF2B5EF4-FFF2-40B4-BE49-F238E27FC236}">
                <a16:creationId xmlns:a16="http://schemas.microsoft.com/office/drawing/2014/main" id="{AB4D5CD7-0FEC-4F3C-886D-B49EA493E076}"/>
              </a:ext>
            </a:extLst>
          </p:cNvPr>
          <p:cNvSpPr>
            <a:spLocks xmlns:a="http://schemas.openxmlformats.org/drawingml/2006/main" noGrp="1"/>
          </p:cNvSpPr>
          <p:nvPr/>
        </p:nvSpPr>
        <p:spPr>
          <a:xfrm xmlns:a="http://schemas.openxmlformats.org/drawingml/2006/main">
            <a:off x="714375" y="50673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55 of 296 authorities have no assigned quintile, including the seven without an IMD match. The assigned groups are therefore not a full-coverage national comparison.</a:t>
            </a:r>
          </a:p>
        </p:txBody>
      </p:sp>
    </p:spTree>
    <p:extLst>
      <p:ext uri="{BB962C8B-B14F-4D97-AF65-F5344CB8AC3E}">
        <p14:creationId xmlns:p14="http://schemas.microsoft.com/office/powerpoint/2010/main" val="2017125607"/>
      </p:ext>
    </p:extLst>
  </p:cSld>
</p:sld>
</file>

<file path=ppt/slides/slide24.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Deprivation exposure adds context to mortality rates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S11</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24</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e809b6a480d4cfe"/>
          <a:stretch xmlns:a="http://schemas.openxmlformats.org/drawingml/2006/main"/>
        </p:blipFill>
        <p:spPr>
          <a:xfrm xmlns:a="http://schemas.openxmlformats.org/drawingml/2006/main">
            <a:off x="609831" y="952500"/>
            <a:ext cx="7924337" cy="5095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F1A3843-A418-4188-B880-D4741B8017B7}"/>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79A979DA-7A60-44FC-B113-C434B4D34290}"/>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Selected authorities with high child income-deprivation exposure, coloured by infant mortality.</a:t>
            </a:r>
          </a:p>
        </p:txBody>
      </p:sp>
      <p:sp>
        <p:nvSpPr>
          <p:cNvPr id="19" name="">
            <a:extLst xmlns:a="http://schemas.openxmlformats.org/drawingml/2006/main">
              <a:ext uri="{FF2B5EF4-FFF2-40B4-BE49-F238E27FC236}">
                <a16:creationId xmlns:a16="http://schemas.microsoft.com/office/drawing/2014/main" id="{5C6F9981-D7EB-492E-927E-0EFA2D3A76E0}"/>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MEASURE</a:t>
            </a:r>
          </a:p>
        </p:txBody>
      </p:sp>
      <p:sp>
        <p:nvSpPr>
          <p:cNvPr id="20" name="">
            <a:extLst xmlns:a="http://schemas.openxmlformats.org/drawingml/2006/main">
              <a:ext uri="{FF2B5EF4-FFF2-40B4-BE49-F238E27FC236}">
                <a16:creationId xmlns:a16="http://schemas.microsoft.com/office/drawing/2014/main" id="{86933A7B-672E-420D-964D-796BC89548DA}"/>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Exposure is the percentage of children in the most deprived 20% of IDACI LSOAs.</a:t>
            </a:r>
          </a:p>
        </p:txBody>
      </p:sp>
      <p:sp>
        <p:nvSpPr>
          <p:cNvPr id="21" name="">
            <a:extLst xmlns:a="http://schemas.openxmlformats.org/drawingml/2006/main">
              <a:ext uri="{FF2B5EF4-FFF2-40B4-BE49-F238E27FC236}">
                <a16:creationId xmlns:a16="http://schemas.microsoft.com/office/drawing/2014/main" id="{4C2A675D-D403-42B1-96C3-56FAD431F011}"/>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CAUTION</a:t>
            </a:r>
          </a:p>
        </p:txBody>
      </p:sp>
      <p:sp>
        <p:nvSpPr>
          <p:cNvPr id="22" name="">
            <a:extLst xmlns:a="http://schemas.openxmlformats.org/drawingml/2006/main">
              <a:ext uri="{FF2B5EF4-FFF2-40B4-BE49-F238E27FC236}">
                <a16:creationId xmlns:a16="http://schemas.microsoft.com/office/drawing/2014/main" id="{25CC4BA2-5CA3-42C1-95EA-345C2F787F78}"/>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exposure measure uses historical deprivation and child population data. It is not current infant exposure.</a:t>
            </a:r>
          </a:p>
        </p:txBody>
      </p:sp>
    </p:spTree>
    <p:extLst>
      <p:ext uri="{BB962C8B-B14F-4D97-AF65-F5344CB8AC3E}">
        <p14:creationId xmlns:p14="http://schemas.microsoft.com/office/powerpoint/2010/main" val="2017125607"/>
      </p:ext>
    </p:extLst>
  </p:cSld>
</p:sld>
</file>

<file path=ppt/slides/slide25.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The priority matrix supports exploratory review</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S12</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25</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829d1e87ab84e6e"/>
          <a:stretch xmlns:a="http://schemas.openxmlformats.org/drawingml/2006/main"/>
        </p:blipFill>
        <p:spPr>
          <a:xfrm xmlns:a="http://schemas.openxmlformats.org/drawingml/2006/main">
            <a:off x="523875" y="1011868"/>
            <a:ext cx="8096250" cy="4977138"/>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3A8678E3-4444-4950-B6F0-076BC6045A20}"/>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B6CD9AD6-94A7-4A35-AFBD-E0916CC3045C}"/>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Mortality and weighted IMD score, divided by average reference lines.</a:t>
            </a:r>
          </a:p>
        </p:txBody>
      </p:sp>
      <p:sp>
        <p:nvSpPr>
          <p:cNvPr id="19" name="">
            <a:extLst xmlns:a="http://schemas.openxmlformats.org/drawingml/2006/main">
              <a:ext uri="{FF2B5EF4-FFF2-40B4-BE49-F238E27FC236}">
                <a16:creationId xmlns:a16="http://schemas.microsoft.com/office/drawing/2014/main" id="{14555014-61ED-4B13-B357-C07080202E0B}"/>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POTENTIAL USE</a:t>
            </a:r>
          </a:p>
        </p:txBody>
      </p:sp>
      <p:sp>
        <p:nvSpPr>
          <p:cNvPr id="20" name="">
            <a:extLst xmlns:a="http://schemas.openxmlformats.org/drawingml/2006/main">
              <a:ext uri="{FF2B5EF4-FFF2-40B4-BE49-F238E27FC236}">
                <a16:creationId xmlns:a16="http://schemas.microsoft.com/office/drawing/2014/main" id="{7D5848F0-5D0F-4C42-B4CD-DA0EC95D3C18}"/>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Authorities above both averages are candidates for closer contextual review.</a:t>
            </a:r>
          </a:p>
        </p:txBody>
      </p:sp>
      <p:sp>
        <p:nvSpPr>
          <p:cNvPr id="21" name="">
            <a:extLst xmlns:a="http://schemas.openxmlformats.org/drawingml/2006/main">
              <a:ext uri="{FF2B5EF4-FFF2-40B4-BE49-F238E27FC236}">
                <a16:creationId xmlns:a16="http://schemas.microsoft.com/office/drawing/2014/main" id="{E103985D-3629-48E3-9CB7-E938805E6CAF}"/>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CAUTION</a:t>
            </a:r>
          </a:p>
        </p:txBody>
      </p:sp>
      <p:sp>
        <p:nvSpPr>
          <p:cNvPr id="22" name="">
            <a:extLst xmlns:a="http://schemas.openxmlformats.org/drawingml/2006/main">
              <a:ext uri="{FF2B5EF4-FFF2-40B4-BE49-F238E27FC236}">
                <a16:creationId xmlns:a16="http://schemas.microsoft.com/office/drawing/2014/main" id="{C7001309-DEC2-48E3-9AC5-13E2438A4FD8}"/>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lines are chart averages, not clinical thresholds or the official England mortality benchmark.</a:t>
            </a:r>
          </a:p>
        </p:txBody>
      </p:sp>
    </p:spTree>
    <p:extLst>
      <p:ext uri="{BB962C8B-B14F-4D97-AF65-F5344CB8AC3E}">
        <p14:creationId xmlns:p14="http://schemas.microsoft.com/office/powerpoint/2010/main" val="2017125607"/>
      </p:ext>
    </p:extLst>
  </p:cSld>
</p:sld>
</file>

<file path=ppt/slides/slide26.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Data quality and methodology</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DASHBOARD 4</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26</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84547f29dd04696"/>
          <a:stretch xmlns:a="http://schemas.openxmlformats.org/drawingml/2006/main"/>
        </p:blipFill>
        <p:spPr>
          <a:xfrm xmlns:a="http://schemas.openxmlformats.org/drawingml/2006/main">
            <a:off x="1537457" y="809625"/>
            <a:ext cx="8993261" cy="52387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554458F-3DF1-4EFF-A1DA-616506835B8F}"/>
              </a:ext>
            </a:extLst>
          </p:cNvPr>
          <p:cNvSpPr>
            <a:spLocks xmlns:a="http://schemas.openxmlformats.org/drawingml/2006/main" noGrp="1"/>
          </p:cNvSpPr>
          <p:nvPr/>
        </p:nvSpPr>
        <p:spPr>
          <a:xfrm xmlns:a="http://schemas.openxmlformats.org/drawingml/2006/main">
            <a:off x="628650" y="6105525"/>
            <a:ext cx="1090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54D13"/>
                </a:solidFill>
                <a:latin typeface="Calibri"/>
                <a:ea typeface="Calibri"/>
                <a:cs typeface="Calibri"/>
              </a:defRPr>
            </a:pPr>
            <a:r>
              <a:rPr sz="1350" b="0">
                <a:solidFill>
                  <a:srgbClr val="B54D13"/>
                </a:solidFill>
                <a:latin typeface="Calibri"/>
                <a:ea typeface="Calibri"/>
                <a:cs typeface="Calibri"/>
              </a:rPr>
              <a:t>Suppressed values remain missing. Nomis validates population coverage while Fingertips supplies mortality.</a:t>
            </a:r>
          </a:p>
        </p:txBody>
      </p:sp>
    </p:spTree>
    <p:extLst>
      <p:ext uri="{BB962C8B-B14F-4D97-AF65-F5344CB8AC3E}">
        <p14:creationId xmlns:p14="http://schemas.microsoft.com/office/powerpoint/2010/main" val="2017125607"/>
      </p:ext>
    </p:extLst>
  </p:cSld>
</p:sld>
</file>

<file path=ppt/slides/slide27.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Quality checks pass with visible coverage warnings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S13</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27</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8b5f2213f5d4e7a"/>
          <a:stretch xmlns:a="http://schemas.openxmlformats.org/drawingml/2006/main"/>
        </p:blipFill>
        <p:spPr>
          <a:xfrm xmlns:a="http://schemas.openxmlformats.org/drawingml/2006/main">
            <a:off x="523875" y="988149"/>
            <a:ext cx="8096250" cy="5024577"/>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9742159-3E9F-4C0D-8C37-CFA98DBE8BAF}"/>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PASSED CHECKS</a:t>
            </a:r>
          </a:p>
        </p:txBody>
      </p:sp>
      <p:sp>
        <p:nvSpPr>
          <p:cNvPr id="18" name="">
            <a:extLst xmlns:a="http://schemas.openxmlformats.org/drawingml/2006/main">
              <a:ext uri="{FF2B5EF4-FFF2-40B4-BE49-F238E27FC236}">
                <a16:creationId xmlns:a16="http://schemas.microsoft.com/office/drawing/2014/main" id="{E2477E14-4C51-449C-AD42-338FEC332CE1}"/>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Five required indicators, no duplicate analytical keys and no invalid reported interval bounds.</a:t>
            </a:r>
          </a:p>
        </p:txBody>
      </p:sp>
      <p:sp>
        <p:nvSpPr>
          <p:cNvPr id="19" name="">
            <a:extLst xmlns:a="http://schemas.openxmlformats.org/drawingml/2006/main">
              <a:ext uri="{FF2B5EF4-FFF2-40B4-BE49-F238E27FC236}">
                <a16:creationId xmlns:a16="http://schemas.microsoft.com/office/drawing/2014/main" id="{D5616DF9-D810-4B83-892B-16F935D2AA51}"/>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WARNINGS</a:t>
            </a:r>
          </a:p>
        </p:txBody>
      </p:sp>
      <p:sp>
        <p:nvSpPr>
          <p:cNvPr id="20" name="">
            <a:extLst xmlns:a="http://schemas.openxmlformats.org/drawingml/2006/main">
              <a:ext uri="{FF2B5EF4-FFF2-40B4-BE49-F238E27FC236}">
                <a16:creationId xmlns:a16="http://schemas.microsoft.com/office/drawing/2014/main" id="{0CF0A5CC-D1E7-4F69-B3C4-1F813C3E247F}"/>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45 unavailable local rates and seven unmatched IMD authority codes remain visible.</a:t>
            </a:r>
          </a:p>
        </p:txBody>
      </p:sp>
      <p:sp>
        <p:nvSpPr>
          <p:cNvPr id="21" name="">
            <a:extLst xmlns:a="http://schemas.openxmlformats.org/drawingml/2006/main">
              <a:ext uri="{FF2B5EF4-FFF2-40B4-BE49-F238E27FC236}">
                <a16:creationId xmlns:a16="http://schemas.microsoft.com/office/drawing/2014/main" id="{091660A3-1335-43AF-AF35-331F1D57CAD8}"/>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VALIDATION</a:t>
            </a:r>
          </a:p>
        </p:txBody>
      </p:sp>
      <p:sp>
        <p:nvSpPr>
          <p:cNvPr id="22" name="">
            <a:extLst xmlns:a="http://schemas.openxmlformats.org/drawingml/2006/main">
              <a:ext uri="{FF2B5EF4-FFF2-40B4-BE49-F238E27FC236}">
                <a16:creationId xmlns:a16="http://schemas.microsoft.com/office/drawing/2014/main" id="{A00F0C6B-68AF-4C4A-BDD4-B88195C5E837}"/>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 median absolute child-denominator difference versus Nomis is 0.95%.</a:t>
            </a:r>
          </a:p>
        </p:txBody>
      </p:sp>
    </p:spTree>
    <p:extLst>
      <p:ext uri="{BB962C8B-B14F-4D97-AF65-F5344CB8AC3E}">
        <p14:creationId xmlns:p14="http://schemas.microsoft.com/office/powerpoint/2010/main" val="2017125607"/>
      </p:ext>
    </p:extLst>
  </p:cSld>
</p:sld>
</file>

<file path=ppt/slides/slide28.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Indicator definitions preserve age and rate scale</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WORKSHEET S14</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28</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08de43866dd4714"/>
          <a:stretch xmlns:a="http://schemas.openxmlformats.org/drawingml/2006/main"/>
        </p:blipFill>
        <p:spPr>
          <a:xfrm xmlns:a="http://schemas.openxmlformats.org/drawingml/2006/main">
            <a:off x="523875" y="1005939"/>
            <a:ext cx="8096250" cy="4988998"/>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4D3570A-7969-474E-8FFB-EF60B9DB4AA3}"/>
              </a:ext>
            </a:extLst>
          </p:cNvPr>
          <p:cNvSpPr>
            <a:spLocks xmlns:a="http://schemas.openxmlformats.org/drawingml/2006/main" noGrp="1"/>
          </p:cNvSpPr>
          <p:nvPr/>
        </p:nvSpPr>
        <p:spPr>
          <a:xfrm xmlns:a="http://schemas.openxmlformats.org/drawingml/2006/main">
            <a:off x="8915400" y="10953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WHAT IT SHOWS</a:t>
            </a:r>
          </a:p>
        </p:txBody>
      </p:sp>
      <p:sp>
        <p:nvSpPr>
          <p:cNvPr id="18" name="">
            <a:extLst xmlns:a="http://schemas.openxmlformats.org/drawingml/2006/main">
              <a:ext uri="{FF2B5EF4-FFF2-40B4-BE49-F238E27FC236}">
                <a16:creationId xmlns:a16="http://schemas.microsoft.com/office/drawing/2014/main" id="{B7C334DD-FC95-429D-A680-A19DC393B2A3}"/>
              </a:ext>
            </a:extLst>
          </p:cNvPr>
          <p:cNvSpPr>
            <a:spLocks xmlns:a="http://schemas.openxmlformats.org/drawingml/2006/main" noGrp="1"/>
          </p:cNvSpPr>
          <p:nvPr/>
        </p:nvSpPr>
        <p:spPr>
          <a:xfrm xmlns:a="http://schemas.openxmlformats.org/drawingml/2006/main">
            <a:off x="8915400" y="14097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Five mortality indicators, each with 22 periods from 2001–03 to 2022–24.</a:t>
            </a:r>
          </a:p>
        </p:txBody>
      </p:sp>
      <p:sp>
        <p:nvSpPr>
          <p:cNvPr id="19" name="">
            <a:extLst xmlns:a="http://schemas.openxmlformats.org/drawingml/2006/main">
              <a:ext uri="{FF2B5EF4-FFF2-40B4-BE49-F238E27FC236}">
                <a16:creationId xmlns:a16="http://schemas.microsoft.com/office/drawing/2014/main" id="{087E936A-27C3-42C5-9DCC-0B9E5DE1BCEF}"/>
              </a:ext>
            </a:extLst>
          </p:cNvPr>
          <p:cNvSpPr>
            <a:spLocks xmlns:a="http://schemas.openxmlformats.org/drawingml/2006/main" noGrp="1"/>
          </p:cNvSpPr>
          <p:nvPr/>
        </p:nvSpPr>
        <p:spPr>
          <a:xfrm xmlns:a="http://schemas.openxmlformats.org/drawingml/2006/main">
            <a:off x="8915400" y="26765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UNIT DISTINCTION</a:t>
            </a:r>
          </a:p>
        </p:txBody>
      </p:sp>
      <p:sp>
        <p:nvSpPr>
          <p:cNvPr id="20" name="">
            <a:extLst xmlns:a="http://schemas.openxmlformats.org/drawingml/2006/main">
              <a:ext uri="{FF2B5EF4-FFF2-40B4-BE49-F238E27FC236}">
                <a16:creationId xmlns:a16="http://schemas.microsoft.com/office/drawing/2014/main" id="{5E9C4494-04B8-4319-8CC8-54E2294AFC9E}"/>
              </a:ext>
            </a:extLst>
          </p:cNvPr>
          <p:cNvSpPr>
            <a:spLocks xmlns:a="http://schemas.openxmlformats.org/drawingml/2006/main" noGrp="1"/>
          </p:cNvSpPr>
          <p:nvPr/>
        </p:nvSpPr>
        <p:spPr>
          <a:xfrm xmlns:a="http://schemas.openxmlformats.org/drawingml/2006/main">
            <a:off x="8915400" y="299085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Child mortality uses per 100,000. The remaining four indicators use per 1,000.</a:t>
            </a:r>
          </a:p>
        </p:txBody>
      </p:sp>
      <p:sp>
        <p:nvSpPr>
          <p:cNvPr id="21" name="">
            <a:extLst xmlns:a="http://schemas.openxmlformats.org/drawingml/2006/main">
              <a:ext uri="{FF2B5EF4-FFF2-40B4-BE49-F238E27FC236}">
                <a16:creationId xmlns:a16="http://schemas.microsoft.com/office/drawing/2014/main" id="{BCEB9D75-57D4-4078-93EC-5A4ABAE019B8}"/>
              </a:ext>
            </a:extLst>
          </p:cNvPr>
          <p:cNvSpPr>
            <a:spLocks xmlns:a="http://schemas.openxmlformats.org/drawingml/2006/main" noGrp="1"/>
          </p:cNvSpPr>
          <p:nvPr/>
        </p:nvSpPr>
        <p:spPr>
          <a:xfrm xmlns:a="http://schemas.openxmlformats.org/drawingml/2006/main">
            <a:off x="8915400" y="4257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54D13"/>
                </a:solidFill>
                <a:latin typeface="Calibri"/>
                <a:ea typeface="Calibri"/>
                <a:cs typeface="Calibri"/>
              </a:defRPr>
            </a:pPr>
            <a:r>
              <a:rPr sz="1275" b="1">
                <a:solidFill>
                  <a:srgbClr val="B54D13"/>
                </a:solidFill>
                <a:latin typeface="Calibri"/>
                <a:ea typeface="Calibri"/>
                <a:cs typeface="Calibri"/>
              </a:rPr>
              <a:t>METADATA LIMIT</a:t>
            </a:r>
          </a:p>
        </p:txBody>
      </p:sp>
      <p:sp>
        <p:nvSpPr>
          <p:cNvPr id="22" name="">
            <a:extLst xmlns:a="http://schemas.openxmlformats.org/drawingml/2006/main">
              <a:ext uri="{FF2B5EF4-FFF2-40B4-BE49-F238E27FC236}">
                <a16:creationId xmlns:a16="http://schemas.microsoft.com/office/drawing/2014/main" id="{CD925B47-8E48-4E72-9EF1-3F1503D1EE53}"/>
              </a:ext>
            </a:extLst>
          </p:cNvPr>
          <p:cNvSpPr>
            <a:spLocks xmlns:a="http://schemas.openxmlformats.org/drawingml/2006/main" noGrp="1"/>
          </p:cNvSpPr>
          <p:nvPr/>
        </p:nvSpPr>
        <p:spPr>
          <a:xfrm xmlns:a="http://schemas.openxmlformats.org/drawingml/2006/main">
            <a:off x="8915400" y="4572000"/>
            <a:ext cx="26479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26262"/>
                </a:solidFill>
                <a:latin typeface="Calibri"/>
                <a:ea typeface="Calibri"/>
                <a:cs typeface="Calibri"/>
              </a:defRPr>
            </a:pPr>
            <a:r>
              <a:rPr sz="1575" b="0">
                <a:solidFill>
                  <a:srgbClr val="626262"/>
                </a:solidFill>
                <a:latin typeface="Calibri"/>
                <a:ea typeface="Calibri"/>
                <a:cs typeface="Calibri"/>
              </a:rPr>
              <a:t>These summaries derive from indicator data. The formal Fingertips definitions file was not supplied.</a:t>
            </a:r>
          </a:p>
        </p:txBody>
      </p:sp>
    </p:spTree>
    <p:extLst>
      <p:ext uri="{BB962C8B-B14F-4D97-AF65-F5344CB8AC3E}">
        <p14:creationId xmlns:p14="http://schemas.microsoft.com/office/powerpoint/2010/main" val="2017125607"/>
      </p:ext>
    </p:extLst>
  </p:cSld>
</p:sld>
</file>

<file path=ppt/slides/slide29.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Interpretation limits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LIMITATIONS</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29</a:t>
            </a:r>
          </a:p>
        </p:txBody>
      </p:sp>
      <p:sp>
        <p:nvSpPr>
          <p:cNvPr id="16" name="">
            <a:extLst xmlns:a="http://schemas.openxmlformats.org/drawingml/2006/main">
              <a:ext uri="{FF2B5EF4-FFF2-40B4-BE49-F238E27FC236}">
                <a16:creationId xmlns:a16="http://schemas.microsoft.com/office/drawing/2014/main" id="{7942E397-00A0-438C-88B7-79F2C0F66373}"/>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Time and geography</a:t>
            </a:r>
          </a:p>
        </p:txBody>
      </p:sp>
      <p:sp>
        <p:nvSpPr>
          <p:cNvPr id="17" name="">
            <a:extLst xmlns:a="http://schemas.openxmlformats.org/drawingml/2006/main">
              <a:ext uri="{FF2B5EF4-FFF2-40B4-BE49-F238E27FC236}">
                <a16:creationId xmlns:a16="http://schemas.microsoft.com/office/drawing/2014/main" id="{9EC3D749-A287-46B8-8BBB-865523384E32}"/>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Rolling periods overlap. IMD 2019 and its 2015 child weights precede the 2022–24 mortality outcome.</a:t>
            </a:r>
          </a:p>
        </p:txBody>
      </p:sp>
      <p:sp>
        <p:nvSpPr>
          <p:cNvPr id="18" name="">
            <a:extLst xmlns:a="http://schemas.openxmlformats.org/drawingml/2006/main">
              <a:ext uri="{FF2B5EF4-FFF2-40B4-BE49-F238E27FC236}">
                <a16:creationId xmlns:a16="http://schemas.microsoft.com/office/drawing/2014/main" id="{9226D99A-C9C8-4D74-AA24-873D02A5A2CB}"/>
              </a:ext>
            </a:extLst>
          </p:cNvPr>
          <p:cNvSpPr>
            <a:spLocks xmlns:a="http://schemas.openxmlformats.org/drawingml/2006/main" noGrp="1"/>
          </p:cNvSpPr>
          <p:nvPr/>
        </p:nvSpPr>
        <p:spPr>
          <a:xfrm xmlns:a="http://schemas.openxmlformats.org/drawingml/2006/main">
            <a:off x="704850" y="22098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Incomplete coverage</a:t>
            </a:r>
          </a:p>
        </p:txBody>
      </p:sp>
      <p:sp>
        <p:nvSpPr>
          <p:cNvPr id="19" name="">
            <a:extLst xmlns:a="http://schemas.openxmlformats.org/drawingml/2006/main">
              <a:ext uri="{FF2B5EF4-FFF2-40B4-BE49-F238E27FC236}">
                <a16:creationId xmlns:a16="http://schemas.microsoft.com/office/drawing/2014/main" id="{FFE11548-EB03-45F5-9846-CEEFE25453A6}"/>
              </a:ext>
            </a:extLst>
          </p:cNvPr>
          <p:cNvSpPr>
            <a:spLocks xmlns:a="http://schemas.openxmlformats.org/drawingml/2006/main" noGrp="1"/>
          </p:cNvSpPr>
          <p:nvPr/>
        </p:nvSpPr>
        <p:spPr>
          <a:xfrm xmlns:a="http://schemas.openxmlformats.org/drawingml/2006/main">
            <a:off x="3143250" y="22098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Suppressed rates and missing quintiles restrict the available comparisons. Missing values remain unknown.</a:t>
            </a:r>
          </a:p>
        </p:txBody>
      </p:sp>
      <p:sp>
        <p:nvSpPr>
          <p:cNvPr id="20" name="">
            <a:extLst xmlns:a="http://schemas.openxmlformats.org/drawingml/2006/main">
              <a:ext uri="{FF2B5EF4-FFF2-40B4-BE49-F238E27FC236}">
                <a16:creationId xmlns:a16="http://schemas.microsoft.com/office/drawing/2014/main" id="{60A046E9-0F17-49E9-AA85-1925682F6036}"/>
              </a:ext>
            </a:extLst>
          </p:cNvPr>
          <p:cNvSpPr>
            <a:spLocks xmlns:a="http://schemas.openxmlformats.org/drawingml/2006/main" noGrp="1"/>
          </p:cNvSpPr>
          <p:nvPr/>
        </p:nvSpPr>
        <p:spPr>
          <a:xfrm xmlns:a="http://schemas.openxmlformats.org/drawingml/2006/main">
            <a:off x="704850" y="3276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Area-level inference</a:t>
            </a:r>
          </a:p>
        </p:txBody>
      </p:sp>
      <p:sp>
        <p:nvSpPr>
          <p:cNvPr id="21" name="">
            <a:extLst xmlns:a="http://schemas.openxmlformats.org/drawingml/2006/main">
              <a:ext uri="{FF2B5EF4-FFF2-40B4-BE49-F238E27FC236}">
                <a16:creationId xmlns:a16="http://schemas.microsoft.com/office/drawing/2014/main" id="{E73D1306-A0C1-4AE8-935B-91AD6CAA5185}"/>
              </a:ext>
            </a:extLst>
          </p:cNvPr>
          <p:cNvSpPr>
            <a:spLocks xmlns:a="http://schemas.openxmlformats.org/drawingml/2006/main" noGrp="1"/>
          </p:cNvSpPr>
          <p:nvPr/>
        </p:nvSpPr>
        <p:spPr>
          <a:xfrm xmlns:a="http://schemas.openxmlformats.org/drawingml/2006/main">
            <a:off x="3143250" y="3276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Deprivation associations can reflect other local factors. The data do not isolate individual risk or causal effects.</a:t>
            </a:r>
          </a:p>
        </p:txBody>
      </p:sp>
      <p:sp>
        <p:nvSpPr>
          <p:cNvPr id="22" name="">
            <a:extLst xmlns:a="http://schemas.openxmlformats.org/drawingml/2006/main">
              <a:ext uri="{FF2B5EF4-FFF2-40B4-BE49-F238E27FC236}">
                <a16:creationId xmlns:a16="http://schemas.microsoft.com/office/drawing/2014/main" id="{2331ABAF-8F1E-4727-A345-A43D3ADB82B5}"/>
              </a:ext>
            </a:extLst>
          </p:cNvPr>
          <p:cNvSpPr>
            <a:spLocks xmlns:a="http://schemas.openxmlformats.org/drawingml/2006/main" noGrp="1"/>
          </p:cNvSpPr>
          <p:nvPr/>
        </p:nvSpPr>
        <p:spPr>
          <a:xfrm xmlns:a="http://schemas.openxmlformats.org/drawingml/2006/main">
            <a:off x="704850" y="43434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Static evidence</a:t>
            </a:r>
          </a:p>
        </p:txBody>
      </p:sp>
      <p:sp>
        <p:nvSpPr>
          <p:cNvPr id="23" name="">
            <a:extLst xmlns:a="http://schemas.openxmlformats.org/drawingml/2006/main">
              <a:ext uri="{FF2B5EF4-FFF2-40B4-BE49-F238E27FC236}">
                <a16:creationId xmlns:a16="http://schemas.microsoft.com/office/drawing/2014/main" id="{7025A058-4B6B-4286-A255-771DCF7C14FB}"/>
              </a:ext>
            </a:extLst>
          </p:cNvPr>
          <p:cNvSpPr>
            <a:spLocks xmlns:a="http://schemas.openxmlformats.org/drawingml/2006/main" noGrp="1"/>
          </p:cNvSpPr>
          <p:nvPr/>
        </p:nvSpPr>
        <p:spPr>
          <a:xfrm xmlns:a="http://schemas.openxmlformats.org/drawingml/2006/main">
            <a:off x="3143250" y="43434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Dashboard exports capture visible states. A Tableau workbook, preparation code and formal definitions are outside the supplied evidence.</a:t>
            </a:r>
          </a:p>
        </p:txBody>
      </p:sp>
      <p:sp>
        <p:nvSpPr>
          <p:cNvPr id="24" name="">
            <a:extLst xmlns:a="http://schemas.openxmlformats.org/drawingml/2006/main">
              <a:ext uri="{FF2B5EF4-FFF2-40B4-BE49-F238E27FC236}">
                <a16:creationId xmlns:a16="http://schemas.microsoft.com/office/drawing/2014/main" id="{2FD82C5D-0287-4607-8278-35FDF0729A63}"/>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Findings support descriptive reporting and further investigation.</a:t>
            </a:r>
          </a:p>
        </p:txBody>
      </p:sp>
    </p:spTree>
    <p:extLst>
      <p:ext uri="{BB962C8B-B14F-4D97-AF65-F5344CB8AC3E}">
        <p14:creationId xmlns:p14="http://schemas.microsoft.com/office/powerpoint/2010/main" val="2017125607"/>
      </p:ext>
    </p:extLst>
  </p:cSld>
</p:sld>
</file>

<file path=ppt/slides/slide30.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Potential uses of the reporting</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PROPOSED NEXT STEPS</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30</a:t>
            </a:r>
          </a:p>
        </p:txBody>
      </p:sp>
      <p:sp>
        <p:nvSpPr>
          <p:cNvPr id="16" name="">
            <a:extLst xmlns:a="http://schemas.openxmlformats.org/drawingml/2006/main">
              <a:ext uri="{FF2B5EF4-FFF2-40B4-BE49-F238E27FC236}">
                <a16:creationId xmlns:a16="http://schemas.microsoft.com/office/drawing/2014/main" id="{639341BA-C467-450F-81B7-A78A6E9851D7}"/>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Local review</a:t>
            </a:r>
          </a:p>
        </p:txBody>
      </p:sp>
      <p:sp>
        <p:nvSpPr>
          <p:cNvPr id="17" name="">
            <a:extLst xmlns:a="http://schemas.openxmlformats.org/drawingml/2006/main">
              <a:ext uri="{FF2B5EF4-FFF2-40B4-BE49-F238E27FC236}">
                <a16:creationId xmlns:a16="http://schemas.microsoft.com/office/drawing/2014/main" id="{2201D897-DEDF-4203-A275-415BC82EA665}"/>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Use higher mortality, official Worse comparisons and deprivation exposure to shortlist authorities for contextual investigation.</a:t>
            </a:r>
          </a:p>
        </p:txBody>
      </p:sp>
      <p:sp>
        <p:nvSpPr>
          <p:cNvPr id="18" name="">
            <a:extLst xmlns:a="http://schemas.openxmlformats.org/drawingml/2006/main">
              <a:ext uri="{FF2B5EF4-FFF2-40B4-BE49-F238E27FC236}">
                <a16:creationId xmlns:a16="http://schemas.microsoft.com/office/drawing/2014/main" id="{A9BD0522-4310-4F31-9EF0-D2E4A66D377C}"/>
              </a:ext>
            </a:extLst>
          </p:cNvPr>
          <p:cNvSpPr>
            <a:spLocks xmlns:a="http://schemas.openxmlformats.org/drawingml/2006/main" noGrp="1"/>
          </p:cNvSpPr>
          <p:nvPr/>
        </p:nvSpPr>
        <p:spPr>
          <a:xfrm xmlns:a="http://schemas.openxmlformats.org/drawingml/2006/main">
            <a:off x="704850" y="2514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Further validation</a:t>
            </a:r>
          </a:p>
        </p:txBody>
      </p:sp>
      <p:sp>
        <p:nvSpPr>
          <p:cNvPr id="19" name="">
            <a:extLst xmlns:a="http://schemas.openxmlformats.org/drawingml/2006/main">
              <a:ext uri="{FF2B5EF4-FFF2-40B4-BE49-F238E27FC236}">
                <a16:creationId xmlns:a16="http://schemas.microsoft.com/office/drawing/2014/main" id="{82DC8C4E-6058-4786-907F-DF232208EEFA}"/>
              </a:ext>
            </a:extLst>
          </p:cNvPr>
          <p:cNvSpPr>
            <a:spLocks xmlns:a="http://schemas.openxmlformats.org/drawingml/2006/main" noGrp="1"/>
          </p:cNvSpPr>
          <p:nvPr/>
        </p:nvSpPr>
        <p:spPr>
          <a:xfrm xmlns:a="http://schemas.openxmlformats.org/drawingml/2006/main">
            <a:off x="3143250" y="2514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Resolve boundary changes using a documented geography method and check why matched authorities lack assigned quintiles.</a:t>
            </a:r>
          </a:p>
        </p:txBody>
      </p:sp>
      <p:sp>
        <p:nvSpPr>
          <p:cNvPr id="20" name="">
            <a:extLst xmlns:a="http://schemas.openxmlformats.org/drawingml/2006/main">
              <a:ext uri="{FF2B5EF4-FFF2-40B4-BE49-F238E27FC236}">
                <a16:creationId xmlns:a16="http://schemas.microsoft.com/office/drawing/2014/main" id="{643D1D65-EEAF-4EC3-B3D8-83AE134EEC7C}"/>
              </a:ext>
            </a:extLst>
          </p:cNvPr>
          <p:cNvSpPr>
            <a:spLocks xmlns:a="http://schemas.openxmlformats.org/drawingml/2006/main" noGrp="1"/>
          </p:cNvSpPr>
          <p:nvPr/>
        </p:nvSpPr>
        <p:spPr>
          <a:xfrm xmlns:a="http://schemas.openxmlformats.org/drawingml/2006/main">
            <a:off x="704850" y="38862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Ongoing reporting</a:t>
            </a:r>
          </a:p>
        </p:txBody>
      </p:sp>
      <p:sp>
        <p:nvSpPr>
          <p:cNvPr id="21" name="">
            <a:extLst xmlns:a="http://schemas.openxmlformats.org/drawingml/2006/main">
              <a:ext uri="{FF2B5EF4-FFF2-40B4-BE49-F238E27FC236}">
                <a16:creationId xmlns:a16="http://schemas.microsoft.com/office/drawing/2014/main" id="{7E2D9B61-D994-4027-91AD-63A5807A6C5D}"/>
              </a:ext>
            </a:extLst>
          </p:cNvPr>
          <p:cNvSpPr>
            <a:spLocks xmlns:a="http://schemas.openxmlformats.org/drawingml/2006/main" noGrp="1"/>
          </p:cNvSpPr>
          <p:nvPr/>
        </p:nvSpPr>
        <p:spPr>
          <a:xfrm xmlns:a="http://schemas.openxmlformats.org/drawingml/2006/main">
            <a:off x="3143250" y="38862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Refresh compatible periods and definitions, retain suppressed values, and track coverage alongside the mortality indicators.</a:t>
            </a:r>
          </a:p>
        </p:txBody>
      </p:sp>
      <p:sp>
        <p:nvSpPr>
          <p:cNvPr id="22" name="">
            <a:extLst xmlns:a="http://schemas.openxmlformats.org/drawingml/2006/main">
              <a:ext uri="{FF2B5EF4-FFF2-40B4-BE49-F238E27FC236}">
                <a16:creationId xmlns:a16="http://schemas.microsoft.com/office/drawing/2014/main" id="{868513BA-A948-452A-9199-695516D91F70}"/>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These are proposed uses of the findings, not evaluated intervention recommendations.</a:t>
            </a:r>
          </a:p>
        </p:txBody>
      </p:sp>
    </p:spTree>
    <p:extLst>
      <p:ext uri="{BB962C8B-B14F-4D97-AF65-F5344CB8AC3E}">
        <p14:creationId xmlns:p14="http://schemas.microsoft.com/office/powerpoint/2010/main" val="2017125607"/>
      </p:ext>
    </p:extLst>
  </p:cSld>
</p:sld>
</file>

<file path=ppt/slides/slide31.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The project makes mortality patterns and limitations visible</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CONCLUSION</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31</a:t>
            </a:r>
          </a:p>
        </p:txBody>
      </p:sp>
      <p:sp>
        <p:nvSpPr>
          <p:cNvPr id="16" name="">
            <a:extLst xmlns:a="http://schemas.openxmlformats.org/drawingml/2006/main">
              <a:ext uri="{FF2B5EF4-FFF2-40B4-BE49-F238E27FC236}">
                <a16:creationId xmlns:a16="http://schemas.microsoft.com/office/drawing/2014/main" id="{AE4CBD4F-0BC3-45EC-9138-606B1C77535F}"/>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National perspective</a:t>
            </a:r>
          </a:p>
        </p:txBody>
      </p:sp>
      <p:sp>
        <p:nvSpPr>
          <p:cNvPr id="17" name="">
            <a:extLst xmlns:a="http://schemas.openxmlformats.org/drawingml/2006/main">
              <a:ext uri="{FF2B5EF4-FFF2-40B4-BE49-F238E27FC236}">
                <a16:creationId xmlns:a16="http://schemas.microsoft.com/office/drawing/2014/main" id="{1ACF9D62-56C7-4358-B6F6-AA8B58AE187A}"/>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Mortality is lower than at the start of the series, while recent increases warrant continued monitoring.</a:t>
            </a:r>
          </a:p>
        </p:txBody>
      </p:sp>
      <p:sp>
        <p:nvSpPr>
          <p:cNvPr id="18" name="">
            <a:extLst xmlns:a="http://schemas.openxmlformats.org/drawingml/2006/main">
              <a:ext uri="{FF2B5EF4-FFF2-40B4-BE49-F238E27FC236}">
                <a16:creationId xmlns:a16="http://schemas.microsoft.com/office/drawing/2014/main" id="{2347D63E-7254-4EBA-972B-A074635898EA}"/>
              </a:ext>
            </a:extLst>
          </p:cNvPr>
          <p:cNvSpPr>
            <a:spLocks xmlns:a="http://schemas.openxmlformats.org/drawingml/2006/main" noGrp="1"/>
          </p:cNvSpPr>
          <p:nvPr/>
        </p:nvSpPr>
        <p:spPr>
          <a:xfrm xmlns:a="http://schemas.openxmlformats.org/drawingml/2006/main">
            <a:off x="704850" y="2514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Local perspective</a:t>
            </a:r>
          </a:p>
        </p:txBody>
      </p:sp>
      <p:sp>
        <p:nvSpPr>
          <p:cNvPr id="19" name="">
            <a:extLst xmlns:a="http://schemas.openxmlformats.org/drawingml/2006/main">
              <a:ext uri="{FF2B5EF4-FFF2-40B4-BE49-F238E27FC236}">
                <a16:creationId xmlns:a16="http://schemas.microsoft.com/office/drawing/2014/main" id="{26D40CF0-9FE0-4E02-8A64-511C7EB6393D}"/>
              </a:ext>
            </a:extLst>
          </p:cNvPr>
          <p:cNvSpPr>
            <a:spLocks xmlns:a="http://schemas.openxmlformats.org/drawingml/2006/main" noGrp="1"/>
          </p:cNvSpPr>
          <p:nvPr/>
        </p:nvSpPr>
        <p:spPr>
          <a:xfrm xmlns:a="http://schemas.openxmlformats.org/drawingml/2006/main">
            <a:off x="3143250" y="2514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Confidence intervals and England comparison categories add essential context to authority rankings.</a:t>
            </a:r>
          </a:p>
        </p:txBody>
      </p:sp>
      <p:sp>
        <p:nvSpPr>
          <p:cNvPr id="20" name="">
            <a:extLst xmlns:a="http://schemas.openxmlformats.org/drawingml/2006/main">
              <a:ext uri="{FF2B5EF4-FFF2-40B4-BE49-F238E27FC236}">
                <a16:creationId xmlns:a16="http://schemas.microsoft.com/office/drawing/2014/main" id="{0AD0B25A-CAFB-438D-B8A3-66AD98A6FDBC}"/>
              </a:ext>
            </a:extLst>
          </p:cNvPr>
          <p:cNvSpPr>
            <a:spLocks xmlns:a="http://schemas.openxmlformats.org/drawingml/2006/main" noGrp="1"/>
          </p:cNvSpPr>
          <p:nvPr/>
        </p:nvSpPr>
        <p:spPr>
          <a:xfrm xmlns:a="http://schemas.openxmlformats.org/drawingml/2006/main">
            <a:off x="704850" y="38862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Inequality perspective</a:t>
            </a:r>
          </a:p>
        </p:txBody>
      </p:sp>
      <p:sp>
        <p:nvSpPr>
          <p:cNvPr id="21" name="">
            <a:extLst xmlns:a="http://schemas.openxmlformats.org/drawingml/2006/main">
              <a:ext uri="{FF2B5EF4-FFF2-40B4-BE49-F238E27FC236}">
                <a16:creationId xmlns:a16="http://schemas.microsoft.com/office/drawing/2014/main" id="{F38C0166-B6D1-45E0-8BE9-D1FFE21493E0}"/>
              </a:ext>
            </a:extLst>
          </p:cNvPr>
          <p:cNvSpPr>
            <a:spLocks xmlns:a="http://schemas.openxmlformats.org/drawingml/2006/main" noGrp="1"/>
          </p:cNvSpPr>
          <p:nvPr/>
        </p:nvSpPr>
        <p:spPr>
          <a:xfrm xmlns:a="http://schemas.openxmlformats.org/drawingml/2006/main">
            <a:off x="3143250" y="38862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Assigned deprivation quintiles show a clear gradient, with coverage and historical-data caveats.</a:t>
            </a:r>
          </a:p>
        </p:txBody>
      </p:sp>
      <p:sp>
        <p:nvSpPr>
          <p:cNvPr id="22" name="">
            <a:extLst xmlns:a="http://schemas.openxmlformats.org/drawingml/2006/main">
              <a:ext uri="{FF2B5EF4-FFF2-40B4-BE49-F238E27FC236}">
                <a16:creationId xmlns:a16="http://schemas.microsoft.com/office/drawing/2014/main" id="{617CBC96-05AC-47FE-9691-687F5999CB8C}"/>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Four dashboards connect descriptive findings with the evidence needed to interpret them.</a:t>
            </a:r>
          </a:p>
        </p:txBody>
      </p:sp>
    </p:spTree>
    <p:extLst>
      <p:ext uri="{BB962C8B-B14F-4D97-AF65-F5344CB8AC3E}">
        <p14:creationId xmlns:p14="http://schemas.microsoft.com/office/powerpoint/2010/main" val="2017125607"/>
      </p:ext>
    </p:extLst>
  </p:cSld>
</p:sld>
</file>

<file path=ppt/slides/slide32.xml><?xml version="1.0" encoding="utf-8"?>
<p:sld xmlns:p="http://schemas.openxmlformats.org/presentationml/2006/main">
  <p:cSld>
    <p:bg>
      <p:bgPr>
        <a:solidFill xmlns:a="http://schemas.openxmlformats.org/drawingml/2006/main">
          <a:srgbClr val="FFF0E2"/>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6CE64F39-2F7A-4C53-BBB9-3A724BD3C9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A29B55B-EC65-45BA-9CB8-521B515F6DB1}"/>
              </a:ext>
            </a:extLst>
          </p:cNvPr>
          <p:cNvSpPr>
            <a:spLocks xmlns:a="http://schemas.openxmlformats.org/drawingml/2006/main" noGrp="1"/>
          </p:cNvSpPr>
          <p:nvPr/>
        </p:nvSpPr>
        <p:spPr>
          <a:xfrm xmlns:a="http://schemas.openxmlformats.org/drawingml/2006/main">
            <a:off x="495300" y="2190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1800" b="1" i="0">
                <a:solidFill>
                  <a:srgbClr val="262626"/>
                </a:solidFill>
                <a:latin typeface="Calibri"/>
                <a:ea typeface="Calibri"/>
                <a:cs typeface="Calibri"/>
              </a:defRPr>
            </a:pPr>
            <a:r>
              <a:rPr sz="1800" b="1" i="0">
                <a:solidFill>
                  <a:srgbClr val="262626"/>
                </a:solidFill>
                <a:latin typeface="Calibri"/>
                <a:ea typeface="Calibri"/>
                <a:cs typeface="Calibri"/>
              </a:rPr>
              <a:t>Sources and analytical notes</a:t>
            </a:r>
          </a:p>
        </p:txBody>
      </p:sp>
      <p:sp>
        <p:nvSpPr>
          <p:cNvPr id="3" name="Rectangle 2">
            <a:extLst xmlns:a="http://schemas.openxmlformats.org/drawingml/2006/main">
              <a:ext uri="{FF2B5EF4-FFF2-40B4-BE49-F238E27FC236}">
                <a16:creationId xmlns:a16="http://schemas.microsoft.com/office/drawing/2014/main" id="{55D4ABB0-D80A-4E5F-9CA5-D2AD32752284}"/>
              </a:ext>
            </a:extLst>
          </p:cNvPr>
          <p:cNvSpPr>
            <a:spLocks xmlns:a="http://schemas.openxmlformats.org/drawingml/2006/main" noGrp="1"/>
          </p:cNvSpPr>
          <p:nvPr/>
        </p:nvSpPr>
        <p:spPr>
          <a:xfrm xmlns:a="http://schemas.openxmlformats.org/drawingml/2006/main">
            <a:off x="9525000" y="228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REFERENCES</a:t>
            </a:r>
          </a:p>
        </p:txBody>
      </p:sp>
      <p:sp>
        <p:nvSpPr>
          <p:cNvPr id="4" name="Straight Connector 3">
            <a:extLst xmlns:a="http://schemas.openxmlformats.org/drawingml/2006/main">
              <a:ext uri="{FF2B5EF4-FFF2-40B4-BE49-F238E27FC236}">
                <a16:creationId xmlns:a16="http://schemas.microsoft.com/office/drawing/2014/main" id="{D3F3AADB-5E4B-4FE4-A077-3920A21C12E0}"/>
              </a:ext>
            </a:extLst>
          </p:cNvPr>
          <p:cNvSpPr>
            <a:spLocks xmlns:a="http://schemas.openxmlformats.org/drawingml/2006/main" noGrp="1"/>
          </p:cNvSpPr>
          <p:nvPr/>
        </p:nvSpPr>
        <p:spPr>
          <a:xfrm xmlns:a="http://schemas.openxmlformats.org/drawingml/2006/main">
            <a:off x="495300" y="600075"/>
            <a:ext cx="11125200" cy="0"/>
          </a:xfrm>
          <a:prstGeom xmlns:a="http://schemas.openxmlformats.org/drawingml/2006/main" prst="line">
            <a:avLst/>
          </a:prstGeom>
          <a:noFill xmlns:a="http://schemas.openxmlformats.org/drawingml/2006/main"/>
          <a:ln xmlns:a="http://schemas.openxmlformats.org/drawingml/2006/main" w="9525">
            <a:solidFill>
              <a:srgbClr val="F2C39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A469B22-884D-4C29-AD74-E6F4DCD2416B}"/>
              </a:ext>
            </a:extLst>
          </p:cNvPr>
          <p:cNvSpPr>
            <a:spLocks xmlns:a="http://schemas.openxmlformats.org/drawingml/2006/main" noGrp="1"/>
          </p:cNvSpPr>
          <p:nvPr/>
        </p:nvSpPr>
        <p:spPr>
          <a:xfrm xmlns:a="http://schemas.openxmlformats.org/drawingml/2006/main">
            <a:off x="495300" y="65722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00" b="0" i="0">
                <a:solidFill>
                  <a:srgbClr val="666666"/>
                </a:solidFill>
              </a:defRPr>
            </a:pPr>
            <a:r>
              <a:rPr sz="1000" b="0" i="0">
                <a:solidFill>
                  <a:srgbClr val="666666"/>
                </a:solidFill>
              </a:rPr>
              <a:t>England Mortality &amp; Deprivation Analytics</a:t>
            </a:r>
          </a:p>
        </p:txBody>
      </p:sp>
      <p:sp>
        <p:nvSpPr>
          <p:cNvPr id="6" name="Rectangle 5">
            <a:extLst xmlns:a="http://schemas.openxmlformats.org/drawingml/2006/main">
              <a:ext uri="{FF2B5EF4-FFF2-40B4-BE49-F238E27FC236}">
                <a16:creationId xmlns:a16="http://schemas.microsoft.com/office/drawing/2014/main" id="{57E68BB6-9C33-4DA0-9100-F03E8703CC8C}"/>
              </a:ext>
            </a:extLst>
          </p:cNvPr>
          <p:cNvSpPr>
            <a:spLocks xmlns:a="http://schemas.openxmlformats.org/drawingml/2006/main" noGrp="1"/>
          </p:cNvSpPr>
          <p:nvPr/>
        </p:nvSpPr>
        <p:spPr>
          <a:xfrm xmlns:a="http://schemas.openxmlformats.org/drawingml/2006/main">
            <a:off x="111252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1" i="0">
                <a:solidFill>
                  <a:srgbClr val="C2410C"/>
                </a:solidFill>
              </a:defRPr>
            </a:pPr>
            <a:r>
              <a:rPr sz="1000" b="1" i="0">
                <a:solidFill>
                  <a:srgbClr val="C2410C"/>
                </a:solidFill>
              </a:rPr>
              <a:t>32</a:t>
            </a:r>
          </a:p>
        </p:txBody>
      </p:sp>
      <p:sp>
        <p:nvSpPr>
          <p:cNvPr id="16" name="">
            <a:extLst xmlns:a="http://schemas.openxmlformats.org/drawingml/2006/main">
              <a:ext uri="{FF2B5EF4-FFF2-40B4-BE49-F238E27FC236}">
                <a16:creationId xmlns:a16="http://schemas.microsoft.com/office/drawing/2014/main" id="{124DC2B1-C573-47DB-97A4-4D03CC1564C8}"/>
              </a:ext>
            </a:extLst>
          </p:cNvPr>
          <p:cNvSpPr>
            <a:spLocks xmlns:a="http://schemas.openxmlformats.org/drawingml/2006/main" noGrp="1"/>
          </p:cNvSpPr>
          <p:nvPr/>
        </p:nvSpPr>
        <p:spPr>
          <a:xfrm xmlns:a="http://schemas.openxmlformats.org/drawingml/2006/main">
            <a:off x="704850" y="11430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Mortality evidence</a:t>
            </a:r>
          </a:p>
        </p:txBody>
      </p:sp>
      <p:sp>
        <p:nvSpPr>
          <p:cNvPr id="17" name="">
            <a:extLst xmlns:a="http://schemas.openxmlformats.org/drawingml/2006/main">
              <a:ext uri="{FF2B5EF4-FFF2-40B4-BE49-F238E27FC236}">
                <a16:creationId xmlns:a16="http://schemas.microsoft.com/office/drawing/2014/main" id="{1A8393F7-7BEE-4A38-A081-C4FB2C35CD21}"/>
              </a:ext>
            </a:extLst>
          </p:cNvPr>
          <p:cNvSpPr>
            <a:spLocks xmlns:a="http://schemas.openxmlformats.org/drawingml/2006/main" noGrp="1"/>
          </p:cNvSpPr>
          <p:nvPr/>
        </p:nvSpPr>
        <p:spPr>
          <a:xfrm xmlns:a="http://schemas.openxmlformats.org/drawingml/2006/main">
            <a:off x="3143250" y="11430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mortality_trends(1).csv, local_authority_comparison(1).csv and indicator_definitions(1).csv. Underlying source identified as Fingertips.</a:t>
            </a:r>
          </a:p>
        </p:txBody>
      </p:sp>
      <p:sp>
        <p:nvSpPr>
          <p:cNvPr id="18" name="">
            <a:extLst xmlns:a="http://schemas.openxmlformats.org/drawingml/2006/main">
              <a:ext uri="{FF2B5EF4-FFF2-40B4-BE49-F238E27FC236}">
                <a16:creationId xmlns:a16="http://schemas.microsoft.com/office/drawing/2014/main" id="{CAEE1500-D6EB-4FC4-856B-32D61F04FA15}"/>
              </a:ext>
            </a:extLst>
          </p:cNvPr>
          <p:cNvSpPr>
            <a:spLocks xmlns:a="http://schemas.openxmlformats.org/drawingml/2006/main" noGrp="1"/>
          </p:cNvSpPr>
          <p:nvPr/>
        </p:nvSpPr>
        <p:spPr>
          <a:xfrm xmlns:a="http://schemas.openxmlformats.org/drawingml/2006/main">
            <a:off x="704850" y="22098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Deprivation evidence</a:t>
            </a:r>
          </a:p>
        </p:txBody>
      </p:sp>
      <p:sp>
        <p:nvSpPr>
          <p:cNvPr id="19" name="">
            <a:extLst xmlns:a="http://schemas.openxmlformats.org/drawingml/2006/main">
              <a:ext uri="{FF2B5EF4-FFF2-40B4-BE49-F238E27FC236}">
                <a16:creationId xmlns:a16="http://schemas.microsoft.com/office/drawing/2014/main" id="{9B850563-466D-4CDD-84A5-4E1D82065447}"/>
              </a:ext>
            </a:extLst>
          </p:cNvPr>
          <p:cNvSpPr>
            <a:spLocks xmlns:a="http://schemas.openxmlformats.org/drawingml/2006/main" noGrp="1"/>
          </p:cNvSpPr>
          <p:nvPr/>
        </p:nvSpPr>
        <p:spPr>
          <a:xfrm xmlns:a="http://schemas.openxmlformats.org/drawingml/2006/main">
            <a:off x="3143250" y="22098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deprivation_inequality(1).csv links IMD 2019 and historical child-population measures to local mortality.</a:t>
            </a:r>
          </a:p>
        </p:txBody>
      </p:sp>
      <p:sp>
        <p:nvSpPr>
          <p:cNvPr id="20" name="">
            <a:extLst xmlns:a="http://schemas.openxmlformats.org/drawingml/2006/main">
              <a:ext uri="{FF2B5EF4-FFF2-40B4-BE49-F238E27FC236}">
                <a16:creationId xmlns:a16="http://schemas.microsoft.com/office/drawing/2014/main" id="{D4458FBE-F093-4C4C-AB14-A74898719469}"/>
              </a:ext>
            </a:extLst>
          </p:cNvPr>
          <p:cNvSpPr>
            <a:spLocks xmlns:a="http://schemas.openxmlformats.org/drawingml/2006/main" noGrp="1"/>
          </p:cNvSpPr>
          <p:nvPr/>
        </p:nvSpPr>
        <p:spPr>
          <a:xfrm xmlns:a="http://schemas.openxmlformats.org/drawingml/2006/main">
            <a:off x="704850" y="32766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Quality evidence</a:t>
            </a:r>
          </a:p>
        </p:txBody>
      </p:sp>
      <p:sp>
        <p:nvSpPr>
          <p:cNvPr id="21" name="">
            <a:extLst xmlns:a="http://schemas.openxmlformats.org/drawingml/2006/main">
              <a:ext uri="{FF2B5EF4-FFF2-40B4-BE49-F238E27FC236}">
                <a16:creationId xmlns:a16="http://schemas.microsoft.com/office/drawing/2014/main" id="{44B2479B-0972-4D55-8C0F-94DB0D871296}"/>
              </a:ext>
            </a:extLst>
          </p:cNvPr>
          <p:cNvSpPr>
            <a:spLocks xmlns:a="http://schemas.openxmlformats.org/drawingml/2006/main" noGrp="1"/>
          </p:cNvSpPr>
          <p:nvPr/>
        </p:nvSpPr>
        <p:spPr>
          <a:xfrm xmlns:a="http://schemas.openxmlformats.org/drawingml/2006/main">
            <a:off x="3143250" y="32766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data_quality_summary(1).csv records joins, missing values, duplicate keys and Nomis denominator validation.</a:t>
            </a:r>
          </a:p>
        </p:txBody>
      </p:sp>
      <p:sp>
        <p:nvSpPr>
          <p:cNvPr id="22" name="">
            <a:extLst xmlns:a="http://schemas.openxmlformats.org/drawingml/2006/main">
              <a:ext uri="{FF2B5EF4-FFF2-40B4-BE49-F238E27FC236}">
                <a16:creationId xmlns:a16="http://schemas.microsoft.com/office/drawing/2014/main" id="{594E5B00-C973-4B24-8DBE-BAB525398F04}"/>
              </a:ext>
            </a:extLst>
          </p:cNvPr>
          <p:cNvSpPr>
            <a:spLocks xmlns:a="http://schemas.openxmlformats.org/drawingml/2006/main" noGrp="1"/>
          </p:cNvSpPr>
          <p:nvPr/>
        </p:nvSpPr>
        <p:spPr>
          <a:xfrm xmlns:a="http://schemas.openxmlformats.org/drawingml/2006/main">
            <a:off x="704850" y="43434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2626"/>
                </a:solidFill>
                <a:latin typeface="Calibri"/>
                <a:ea typeface="Calibri"/>
                <a:cs typeface="Calibri"/>
              </a:defRPr>
            </a:pPr>
            <a:r>
              <a:rPr sz="1725" b="1">
                <a:solidFill>
                  <a:srgbClr val="262626"/>
                </a:solidFill>
                <a:latin typeface="Calibri"/>
                <a:ea typeface="Calibri"/>
                <a:cs typeface="Calibri"/>
              </a:rPr>
              <a:t>Visual evidence</a:t>
            </a:r>
          </a:p>
        </p:txBody>
      </p:sp>
      <p:sp>
        <p:nvSpPr>
          <p:cNvPr id="23" name="">
            <a:extLst xmlns:a="http://schemas.openxmlformats.org/drawingml/2006/main">
              <a:ext uri="{FF2B5EF4-FFF2-40B4-BE49-F238E27FC236}">
                <a16:creationId xmlns:a16="http://schemas.microsoft.com/office/drawing/2014/main" id="{F4E6A10A-304C-4BD9-B878-AC29DEB74754}"/>
              </a:ext>
            </a:extLst>
          </p:cNvPr>
          <p:cNvSpPr>
            <a:spLocks xmlns:a="http://schemas.openxmlformats.org/drawingml/2006/main" noGrp="1"/>
          </p:cNvSpPr>
          <p:nvPr/>
        </p:nvSpPr>
        <p:spPr>
          <a:xfrm xmlns:a="http://schemas.openxmlformats.org/drawingml/2006/main">
            <a:off x="3143250" y="4343400"/>
            <a:ext cx="823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2"/>
                </a:solidFill>
                <a:latin typeface="Calibri"/>
                <a:ea typeface="Calibri"/>
                <a:cs typeface="Calibri"/>
              </a:defRPr>
            </a:pPr>
            <a:r>
              <a:rPr sz="1800" b="0">
                <a:solidFill>
                  <a:srgbClr val="626262"/>
                </a:solidFill>
                <a:latin typeface="Calibri"/>
                <a:ea typeface="Calibri"/>
                <a:cs typeface="Calibri"/>
              </a:rPr>
              <a:t>Four dashboard PNGs and worksheets S1–S14. Design follows Global_Finance_Operations_Analytics(1).pptx.</a:t>
            </a:r>
          </a:p>
        </p:txBody>
      </p:sp>
      <p:sp>
        <p:nvSpPr>
          <p:cNvPr id="24" name="">
            <a:extLst xmlns:a="http://schemas.openxmlformats.org/drawingml/2006/main">
              <a:ext uri="{FF2B5EF4-FFF2-40B4-BE49-F238E27FC236}">
                <a16:creationId xmlns:a16="http://schemas.microsoft.com/office/drawing/2014/main" id="{D2A857DC-10DF-42CB-A94D-058217C73B3D}"/>
              </a:ext>
            </a:extLst>
          </p:cNvPr>
          <p:cNvSpPr>
            <a:spLocks xmlns:a="http://schemas.openxmlformats.org/drawingml/2006/main" noGrp="1"/>
          </p:cNvSpPr>
          <p:nvPr/>
        </p:nvSpPr>
        <p:spPr>
          <a:xfrm xmlns:a="http://schemas.openxmlformats.org/drawingml/2006/main">
            <a:off x="7048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B54D13"/>
                </a:solidFill>
                <a:latin typeface="Calibri"/>
                <a:ea typeface="Calibri"/>
                <a:cs typeface="Calibri"/>
              </a:defRPr>
            </a:pPr>
            <a:r>
              <a:rPr sz="1500" b="1">
                <a:solidFill>
                  <a:srgbClr val="B54D13"/>
                </a:solidFill>
                <a:latin typeface="Calibri"/>
                <a:ea typeface="Calibri"/>
                <a:cs typeface="Calibri"/>
              </a:rPr>
              <a:t>Each evidence slide includes source details and relevant calculation notes.</a:t>
            </a:r>
          </a:p>
        </p:txBody>
      </p:sp>
    </p:spTree>
    <p:extLst>
      <p:ext uri="{BB962C8B-B14F-4D97-AF65-F5344CB8AC3E}">
        <p14:creationId xmlns:p14="http://schemas.microsoft.com/office/powerpoint/2010/main" val="20171256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2026-09-12T12:23:37.1260000Z</dcterms:created>
  <dcterms:modified xsi:type="dcterms:W3CDTF">2026-09-12T12:23:37.1260000Z</dcterms:modified>
</coreProperties>
</file>