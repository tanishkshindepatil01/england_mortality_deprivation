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37"/>
  </p:normalViewPr>
  <p:slideViewPr>
    <p:cSldViewPr snapToGrid="0">
      <p:cViewPr varScale="1">
        <p:scale>
          <a:sx n="147" d="100"/>
          <a:sy n="147" d="100"/>
        </p:scale>
        <p:origin x="22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a:p>
            <a:r>
              <a:t>- Global_Finance_SQL_Report.docx</a:t>
            </a:r>
          </a:p>
          <a:p>
            <a:r>
              <a:t>- User-provided Tableau images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Global_Finance_SQL_Report.docx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- 01 Executive KPI Cards(3).png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- 02 OTC Billing &amp; AR Trend(1).png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- 03 PTP Procurement Spend Trend(1).png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- 04 RTR Profit &amp; Margin Trend(1).png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- 05 OTC Billing &amp; Overdue AR(1).png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- 06 OTC DSO Trend(1).png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- 07 Top 10 Customers(1).png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- 08 Customer Payment Risk(1).png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- 09 PTP Procurement Spend Trend(1).png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- 10 PTP Spend Growth(1).png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- 11 Top 10 Material Groups(1).png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- 12 PTP Material Group Risk(1).png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- 13 RTR Revenue vs Expenses(1).png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- 14 RTR Profit &amp; Margin(1).png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- 15 RTR Account Net Movement(1).png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- 16 RTR Account Investigation Risk(1).png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- 01  Executive KPI Cards(2).png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- 01 Executive KPI Cards(2).png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D02 Order-to-Cash Performance &amp; Receivables(1).png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D02 Order-to-Cash Performance &amp; Receivables(1).png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D03  Procure-to-Pay Spend Analytics.png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D03 Procure-to-Pay Spend Analytics.png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D04 Record-to-Report Financial Performance.png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D04 Record-to-Report Financial Performance.png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Global_Finance_Operations_Analytics_V2.ipynb</a:t>
            </a:r>
          </a:p>
          <a:p>
            <a:r>
              <a:t>- Global_Finance_SQL_Report.docx</a:t>
            </a:r>
          </a:p>
          <a:p>
            <a:r>
              <a:t>- User-provided Tableau images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BB4B50-12B6-484F-93F7-D99DB5DE1C07}"/>
              </a:ext>
            </a:extLst>
          </p:cNvPr>
          <p:cNvSpPr>
            <a:spLocks noGrp="1"/>
          </p:cNvSpPr>
          <p:nvPr/>
        </p:nvSpPr>
        <p:spPr>
          <a:xfrm>
            <a:off x="0" y="0"/>
            <a:ext cx="171450" cy="6858000"/>
          </a:xfrm>
          <a:prstGeom prst="rect">
            <a:avLst/>
          </a:prstGeom>
          <a:solidFill>
            <a:srgbClr val="F97316"/>
          </a:solidFill>
          <a:ln w="0">
            <a:noFill/>
            <a:prstDash val="solid"/>
          </a:ln>
        </p:spPr>
        <p:txBody>
          <a:bodyPr/>
          <a:lstStyle/>
          <a:p>
            <a:endParaRPr lang="en-US"/>
          </a:p>
        </p:txBody>
      </p:sp>
      <p:sp>
        <p:nvSpPr>
          <p:cNvPr id="2" name="Oval 1">
            <a:extLst>
              <a:ext uri="{FF2B5EF4-FFF2-40B4-BE49-F238E27FC236}">
                <a16:creationId xmlns:a16="http://schemas.microsoft.com/office/drawing/2014/main" id="{AA409E40-842B-4FE7-9D8B-1C760360F17D}"/>
              </a:ext>
            </a:extLst>
          </p:cNvPr>
          <p:cNvSpPr>
            <a:spLocks noGrp="1"/>
          </p:cNvSpPr>
          <p:nvPr/>
        </p:nvSpPr>
        <p:spPr>
          <a:xfrm>
            <a:off x="9048750" y="323850"/>
            <a:ext cx="2571750" cy="2571750"/>
          </a:xfrm>
          <a:prstGeom prst="ellipse">
            <a:avLst/>
          </a:prstGeom>
          <a:solidFill>
            <a:srgbClr val="FFE0C2"/>
          </a:solidFill>
          <a:ln w="0">
            <a:noFill/>
            <a:prstDash val="solid"/>
          </a:ln>
        </p:spPr>
        <p:txBody>
          <a:bodyPr/>
          <a:lstStyle/>
          <a:p>
            <a:endParaRPr lang="en-US"/>
          </a:p>
        </p:txBody>
      </p:sp>
      <p:sp>
        <p:nvSpPr>
          <p:cNvPr id="3" name="Oval 2">
            <a:extLst>
              <a:ext uri="{FF2B5EF4-FFF2-40B4-BE49-F238E27FC236}">
                <a16:creationId xmlns:a16="http://schemas.microsoft.com/office/drawing/2014/main" id="{3F5EF6DB-A4BD-4EF3-9529-B6BDAE397335}"/>
              </a:ext>
            </a:extLst>
          </p:cNvPr>
          <p:cNvSpPr>
            <a:spLocks noGrp="1"/>
          </p:cNvSpPr>
          <p:nvPr/>
        </p:nvSpPr>
        <p:spPr>
          <a:xfrm>
            <a:off x="9810750" y="1028700"/>
            <a:ext cx="1619250" cy="1619250"/>
          </a:xfrm>
          <a:prstGeom prst="ellipse">
            <a:avLst/>
          </a:prstGeom>
          <a:solidFill>
            <a:srgbClr val="FDBA74"/>
          </a:solidFill>
          <a:ln w="0">
            <a:noFill/>
            <a:prstDash val="solid"/>
          </a:ln>
        </p:spPr>
        <p:txBody>
          <a:bodyPr/>
          <a:lstStyle/>
          <a:p>
            <a:endParaRPr lang="en-US"/>
          </a:p>
        </p:txBody>
      </p:sp>
      <p:sp>
        <p:nvSpPr>
          <p:cNvPr id="4" name="Rectangle 3">
            <a:extLst>
              <a:ext uri="{FF2B5EF4-FFF2-40B4-BE49-F238E27FC236}">
                <a16:creationId xmlns:a16="http://schemas.microsoft.com/office/drawing/2014/main" id="{522EDA3E-8077-4A4B-88A9-9C4CB7781697}"/>
              </a:ext>
            </a:extLst>
          </p:cNvPr>
          <p:cNvSpPr>
            <a:spLocks noGrp="1"/>
          </p:cNvSpPr>
          <p:nvPr/>
        </p:nvSpPr>
        <p:spPr>
          <a:xfrm>
            <a:off x="762000" y="875756"/>
            <a:ext cx="9144000" cy="3544387"/>
          </a:xfrm>
          <a:prstGeom prst="rect">
            <a:avLst/>
          </a:prstGeom>
          <a:noFill/>
          <a:ln w="0">
            <a:noFill/>
            <a:prstDash val="solid"/>
          </a:ln>
        </p:spPr>
        <p:txBody>
          <a:bodyPr/>
          <a:lstStyle/>
          <a:p>
            <a:pPr>
              <a:defRPr sz="1600" b="1" i="0">
                <a:solidFill>
                  <a:srgbClr val="252525"/>
                </a:solidFill>
              </a:defRPr>
            </a:pPr>
            <a:r>
              <a:rPr sz="8800" b="1" i="0" dirty="0">
                <a:solidFill>
                  <a:srgbClr val="252525"/>
                </a:solidFill>
              </a:rPr>
              <a:t>GLOBAL FINANCE OPERATIONS ANALYTICS</a:t>
            </a:r>
          </a:p>
        </p:txBody>
      </p:sp>
    </p:spTree>
    <p:extLst>
      <p:ext uri="{BB962C8B-B14F-4D97-AF65-F5344CB8AC3E}">
        <p14:creationId xmlns:p14="http://schemas.microsoft.com/office/powerpoint/2010/main" val="1956025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FAA95E0-A0A1-488A-8B53-8C3ED45F453B}"/>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2078065E-E377-4AA7-8A27-D23407A1F935}"/>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endParaRPr sz="1600" b="1" i="0" dirty="0">
              <a:solidFill>
                <a:srgbClr val="252525"/>
              </a:solidFill>
            </a:endParaRPr>
          </a:p>
        </p:txBody>
      </p:sp>
      <p:sp>
        <p:nvSpPr>
          <p:cNvPr id="3" name="Rectangle 2">
            <a:extLst>
              <a:ext uri="{FF2B5EF4-FFF2-40B4-BE49-F238E27FC236}">
                <a16:creationId xmlns:a16="http://schemas.microsoft.com/office/drawing/2014/main" id="{1564721E-119E-4168-A7B6-18A329375B9C}"/>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PROJECT OVERVIEW</a:t>
            </a:r>
          </a:p>
        </p:txBody>
      </p:sp>
      <p:sp>
        <p:nvSpPr>
          <p:cNvPr id="4" name="Straight Connector 3">
            <a:extLst>
              <a:ext uri="{FF2B5EF4-FFF2-40B4-BE49-F238E27FC236}">
                <a16:creationId xmlns:a16="http://schemas.microsoft.com/office/drawing/2014/main" id="{828DE79E-5915-4801-A211-8C1140F00CF8}"/>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26E18FC5-48D4-4E19-AA46-1DE5520C543A}"/>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BAF5B043-A5EC-4B76-8B2D-AA1A5D89337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02</a:t>
            </a:r>
          </a:p>
        </p:txBody>
      </p:sp>
      <p:sp>
        <p:nvSpPr>
          <p:cNvPr id="7" name="Rectangle 6">
            <a:extLst>
              <a:ext uri="{FF2B5EF4-FFF2-40B4-BE49-F238E27FC236}">
                <a16:creationId xmlns:a16="http://schemas.microsoft.com/office/drawing/2014/main" id="{48F15D96-A2BC-4591-9594-FAC3CF2B1B30}"/>
              </a:ext>
            </a:extLst>
          </p:cNvPr>
          <p:cNvSpPr>
            <a:spLocks noGrp="1"/>
          </p:cNvSpPr>
          <p:nvPr/>
        </p:nvSpPr>
        <p:spPr>
          <a:xfrm>
            <a:off x="685800" y="990600"/>
            <a:ext cx="57150" cy="99060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61720448-60B0-42F8-A036-5B05A8D751BE}"/>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Objective</a:t>
            </a:r>
          </a:p>
        </p:txBody>
      </p:sp>
      <p:sp>
        <p:nvSpPr>
          <p:cNvPr id="9" name="Rectangle 8">
            <a:extLst>
              <a:ext uri="{FF2B5EF4-FFF2-40B4-BE49-F238E27FC236}">
                <a16:creationId xmlns:a16="http://schemas.microsoft.com/office/drawing/2014/main" id="{F75F3ECF-8E0F-4B75-8176-E56B4B530ADD}"/>
              </a:ext>
            </a:extLst>
          </p:cNvPr>
          <p:cNvSpPr>
            <a:spLocks noGrp="1"/>
          </p:cNvSpPr>
          <p:nvPr/>
        </p:nvSpPr>
        <p:spPr>
          <a:xfrm>
            <a:off x="3333750" y="1066800"/>
            <a:ext cx="7810500" cy="876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Build a traceable analytics pipeline that converts operational finance data into validated KPIs, investigation flags and dashboard-ready reporting views.</a:t>
            </a:r>
          </a:p>
        </p:txBody>
      </p:sp>
      <p:sp>
        <p:nvSpPr>
          <p:cNvPr id="10" name="Rectangle 9">
            <a:extLst>
              <a:ext uri="{FF2B5EF4-FFF2-40B4-BE49-F238E27FC236}">
                <a16:creationId xmlns:a16="http://schemas.microsoft.com/office/drawing/2014/main" id="{7A5A0F29-520C-426B-B0C7-62E652219184}"/>
              </a:ext>
            </a:extLst>
          </p:cNvPr>
          <p:cNvSpPr>
            <a:spLocks noGrp="1"/>
          </p:cNvSpPr>
          <p:nvPr/>
        </p:nvSpPr>
        <p:spPr>
          <a:xfrm>
            <a:off x="685800" y="2209800"/>
            <a:ext cx="57150" cy="118110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4D653C8-7185-4204-B1DB-319D38FC5092}"/>
              </a:ext>
            </a:extLst>
          </p:cNvPr>
          <p:cNvSpPr>
            <a:spLocks noGrp="1"/>
          </p:cNvSpPr>
          <p:nvPr/>
        </p:nvSpPr>
        <p:spPr>
          <a:xfrm>
            <a:off x="914400" y="22860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Processes</a:t>
            </a:r>
          </a:p>
        </p:txBody>
      </p:sp>
      <p:sp>
        <p:nvSpPr>
          <p:cNvPr id="12" name="Rectangle 11">
            <a:extLst>
              <a:ext uri="{FF2B5EF4-FFF2-40B4-BE49-F238E27FC236}">
                <a16:creationId xmlns:a16="http://schemas.microsoft.com/office/drawing/2014/main" id="{7BA9F43F-93F8-4B02-B7FF-503C0FD3D461}"/>
              </a:ext>
            </a:extLst>
          </p:cNvPr>
          <p:cNvSpPr>
            <a:spLocks noGrp="1"/>
          </p:cNvSpPr>
          <p:nvPr/>
        </p:nvSpPr>
        <p:spPr>
          <a:xfrm>
            <a:off x="3333750" y="2286000"/>
            <a:ext cx="7810500" cy="1066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OTC evaluates billing, receivables and customer payment behaviour. PTP analyses valid procurement spend and concentration. RTR explains revenue, expenses, profit and account movements.</a:t>
            </a:r>
          </a:p>
        </p:txBody>
      </p:sp>
      <p:sp>
        <p:nvSpPr>
          <p:cNvPr id="13" name="Rectangle 12">
            <a:extLst>
              <a:ext uri="{FF2B5EF4-FFF2-40B4-BE49-F238E27FC236}">
                <a16:creationId xmlns:a16="http://schemas.microsoft.com/office/drawing/2014/main" id="{B0BAD582-584B-4CF1-9874-4EA6F31F9655}"/>
              </a:ext>
            </a:extLst>
          </p:cNvPr>
          <p:cNvSpPr>
            <a:spLocks noGrp="1"/>
          </p:cNvSpPr>
          <p:nvPr/>
        </p:nvSpPr>
        <p:spPr>
          <a:xfrm>
            <a:off x="685800" y="3619500"/>
            <a:ext cx="57150" cy="112395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4296C51-F3E1-4B7B-9F2E-93FF6CD80F0C}"/>
              </a:ext>
            </a:extLst>
          </p:cNvPr>
          <p:cNvSpPr>
            <a:spLocks noGrp="1"/>
          </p:cNvSpPr>
          <p:nvPr/>
        </p:nvSpPr>
        <p:spPr>
          <a:xfrm>
            <a:off x="914400" y="36957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Delivery</a:t>
            </a:r>
          </a:p>
        </p:txBody>
      </p:sp>
      <p:sp>
        <p:nvSpPr>
          <p:cNvPr id="15" name="Rectangle 14">
            <a:extLst>
              <a:ext uri="{FF2B5EF4-FFF2-40B4-BE49-F238E27FC236}">
                <a16:creationId xmlns:a16="http://schemas.microsoft.com/office/drawing/2014/main" id="{5520B37D-56AF-466F-A354-F670FA8835AB}"/>
              </a:ext>
            </a:extLst>
          </p:cNvPr>
          <p:cNvSpPr>
            <a:spLocks noGrp="1"/>
          </p:cNvSpPr>
          <p:nvPr/>
        </p:nvSpPr>
        <p:spPr>
          <a:xfrm>
            <a:off x="3333750" y="3695700"/>
            <a:ext cx="7810500" cy="10096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Python performs EDA and data preparation; PostgreSQL enforces the analytical model; Tableau communicates trends, concentration, risk and executive performance.</a:t>
            </a:r>
          </a:p>
        </p:txBody>
      </p:sp>
      <p:sp>
        <p:nvSpPr>
          <p:cNvPr id="16" name="Rounded Rectangle 15">
            <a:extLst>
              <a:ext uri="{FF2B5EF4-FFF2-40B4-BE49-F238E27FC236}">
                <a16:creationId xmlns:a16="http://schemas.microsoft.com/office/drawing/2014/main" id="{C4218A4E-132C-4A85-96F4-5F92F9FCCE3E}"/>
              </a:ext>
            </a:extLst>
          </p:cNvPr>
          <p:cNvSpPr>
            <a:spLocks noGrp="1"/>
          </p:cNvSpPr>
          <p:nvPr/>
        </p:nvSpPr>
        <p:spPr>
          <a:xfrm>
            <a:off x="685800" y="521970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7" name="Rectangle 16">
            <a:extLst>
              <a:ext uri="{FF2B5EF4-FFF2-40B4-BE49-F238E27FC236}">
                <a16:creationId xmlns:a16="http://schemas.microsoft.com/office/drawing/2014/main" id="{CD850471-9DE8-4091-A6A8-5B6A2A39B3F0}"/>
              </a:ext>
            </a:extLst>
          </p:cNvPr>
          <p:cNvSpPr>
            <a:spLocks noGrp="1"/>
          </p:cNvSpPr>
          <p:nvPr/>
        </p:nvSpPr>
        <p:spPr>
          <a:xfrm>
            <a:off x="895350" y="5314950"/>
            <a:ext cx="10401300" cy="2667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Tree>
    <p:extLst>
      <p:ext uri="{BB962C8B-B14F-4D97-AF65-F5344CB8AC3E}">
        <p14:creationId xmlns:p14="http://schemas.microsoft.com/office/powerpoint/2010/main" val="899409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29C1F89-8CCB-471F-AEB6-3CADF37F7B8E}"/>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02697935-B53A-4631-9389-16F5DFC2E32F}"/>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dirty="0">
                <a:solidFill>
                  <a:srgbClr val="252525"/>
                </a:solidFill>
              </a:rPr>
              <a:t>A five-stage workflow</a:t>
            </a:r>
          </a:p>
        </p:txBody>
      </p:sp>
      <p:sp>
        <p:nvSpPr>
          <p:cNvPr id="3" name="Rectangle 2">
            <a:extLst>
              <a:ext uri="{FF2B5EF4-FFF2-40B4-BE49-F238E27FC236}">
                <a16:creationId xmlns:a16="http://schemas.microsoft.com/office/drawing/2014/main" id="{DFBF49ED-2465-4D96-9C28-0FA7FD341A7D}"/>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PROJECT OVERVIEW</a:t>
            </a:r>
          </a:p>
        </p:txBody>
      </p:sp>
      <p:sp>
        <p:nvSpPr>
          <p:cNvPr id="4" name="Straight Connector 3">
            <a:extLst>
              <a:ext uri="{FF2B5EF4-FFF2-40B4-BE49-F238E27FC236}">
                <a16:creationId xmlns:a16="http://schemas.microsoft.com/office/drawing/2014/main" id="{84466610-D14B-43CB-8FE8-D1E450802AB6}"/>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A0C34C0F-47A7-4982-A5C3-69F516FF8B2D}"/>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64E4AA15-A579-4C46-8368-9C96DFC7A87A}"/>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03</a:t>
            </a:r>
          </a:p>
        </p:txBody>
      </p:sp>
      <p:sp>
        <p:nvSpPr>
          <p:cNvPr id="7" name="Right Arrow 6">
            <a:extLst>
              <a:ext uri="{FF2B5EF4-FFF2-40B4-BE49-F238E27FC236}">
                <a16:creationId xmlns:a16="http://schemas.microsoft.com/office/drawing/2014/main" id="{599F3D2E-9158-481D-8DEB-ED45200360BD}"/>
              </a:ext>
            </a:extLst>
          </p:cNvPr>
          <p:cNvSpPr>
            <a:spLocks noGrp="1"/>
          </p:cNvSpPr>
          <p:nvPr/>
        </p:nvSpPr>
        <p:spPr>
          <a:xfrm>
            <a:off x="2324100" y="2724150"/>
            <a:ext cx="571500" cy="323850"/>
          </a:xfrm>
          <a:prstGeom prst="rightArrow">
            <a:avLst/>
          </a:prstGeom>
          <a:solidFill>
            <a:srgbClr val="FDBA74"/>
          </a:solidFill>
          <a:ln w="9525">
            <a:solidFill>
              <a:srgbClr val="F97316"/>
            </a:solidFill>
            <a:prstDash val="solid"/>
          </a:ln>
        </p:spPr>
        <p:txBody>
          <a:bodyPr/>
          <a:lstStyle/>
          <a:p>
            <a:endParaRPr lang="en-US"/>
          </a:p>
        </p:txBody>
      </p:sp>
      <p:sp>
        <p:nvSpPr>
          <p:cNvPr id="8" name="Right Arrow 7">
            <a:extLst>
              <a:ext uri="{FF2B5EF4-FFF2-40B4-BE49-F238E27FC236}">
                <a16:creationId xmlns:a16="http://schemas.microsoft.com/office/drawing/2014/main" id="{170D56BE-C252-4CC4-9DF2-A98565351E03}"/>
              </a:ext>
            </a:extLst>
          </p:cNvPr>
          <p:cNvSpPr>
            <a:spLocks noGrp="1"/>
          </p:cNvSpPr>
          <p:nvPr/>
        </p:nvSpPr>
        <p:spPr>
          <a:xfrm>
            <a:off x="4495800" y="2724150"/>
            <a:ext cx="571500" cy="323850"/>
          </a:xfrm>
          <a:prstGeom prst="rightArrow">
            <a:avLst/>
          </a:prstGeom>
          <a:solidFill>
            <a:srgbClr val="FDBA74"/>
          </a:solidFill>
          <a:ln w="9525">
            <a:solidFill>
              <a:srgbClr val="F97316"/>
            </a:solidFill>
            <a:prstDash val="solid"/>
          </a:ln>
        </p:spPr>
        <p:txBody>
          <a:bodyPr/>
          <a:lstStyle/>
          <a:p>
            <a:endParaRPr lang="en-US"/>
          </a:p>
        </p:txBody>
      </p:sp>
      <p:sp>
        <p:nvSpPr>
          <p:cNvPr id="9" name="Right Arrow 8">
            <a:extLst>
              <a:ext uri="{FF2B5EF4-FFF2-40B4-BE49-F238E27FC236}">
                <a16:creationId xmlns:a16="http://schemas.microsoft.com/office/drawing/2014/main" id="{A9B6F99F-A777-432A-A52C-083920642CFF}"/>
              </a:ext>
            </a:extLst>
          </p:cNvPr>
          <p:cNvSpPr>
            <a:spLocks noGrp="1"/>
          </p:cNvSpPr>
          <p:nvPr/>
        </p:nvSpPr>
        <p:spPr>
          <a:xfrm>
            <a:off x="6667500" y="2724150"/>
            <a:ext cx="571500" cy="323850"/>
          </a:xfrm>
          <a:prstGeom prst="rightArrow">
            <a:avLst/>
          </a:prstGeom>
          <a:solidFill>
            <a:srgbClr val="FDBA74"/>
          </a:solidFill>
          <a:ln w="9525">
            <a:solidFill>
              <a:srgbClr val="F97316"/>
            </a:solidFill>
            <a:prstDash val="solid"/>
          </a:ln>
        </p:spPr>
        <p:txBody>
          <a:bodyPr/>
          <a:lstStyle/>
          <a:p>
            <a:endParaRPr lang="en-US"/>
          </a:p>
        </p:txBody>
      </p:sp>
      <p:sp>
        <p:nvSpPr>
          <p:cNvPr id="10" name="Right Arrow 9">
            <a:extLst>
              <a:ext uri="{FF2B5EF4-FFF2-40B4-BE49-F238E27FC236}">
                <a16:creationId xmlns:a16="http://schemas.microsoft.com/office/drawing/2014/main" id="{3BC25334-5160-4F1E-A375-E753B9B12880}"/>
              </a:ext>
            </a:extLst>
          </p:cNvPr>
          <p:cNvSpPr>
            <a:spLocks noGrp="1"/>
          </p:cNvSpPr>
          <p:nvPr/>
        </p:nvSpPr>
        <p:spPr>
          <a:xfrm>
            <a:off x="8839200" y="2724150"/>
            <a:ext cx="571500" cy="323850"/>
          </a:xfrm>
          <a:prstGeom prst="rightArrow">
            <a:avLst/>
          </a:prstGeom>
          <a:solidFill>
            <a:srgbClr val="FDBA74"/>
          </a:solidFill>
          <a:ln w="9525">
            <a:solidFill>
              <a:srgbClr val="F97316"/>
            </a:solidFill>
            <a:prstDash val="solid"/>
          </a:ln>
        </p:spPr>
        <p:txBody>
          <a:bodyPr/>
          <a:lstStyle/>
          <a:p>
            <a:endParaRPr lang="en-US"/>
          </a:p>
        </p:txBody>
      </p:sp>
      <p:sp>
        <p:nvSpPr>
          <p:cNvPr id="11" name="Rounded Rectangle 10">
            <a:extLst>
              <a:ext uri="{FF2B5EF4-FFF2-40B4-BE49-F238E27FC236}">
                <a16:creationId xmlns:a16="http://schemas.microsoft.com/office/drawing/2014/main" id="{2520654D-E071-4778-8532-70AA9ACE8919}"/>
              </a:ext>
            </a:extLst>
          </p:cNvPr>
          <p:cNvSpPr>
            <a:spLocks noGrp="1"/>
          </p:cNvSpPr>
          <p:nvPr/>
        </p:nvSpPr>
        <p:spPr>
          <a:xfrm>
            <a:off x="704850" y="2038350"/>
            <a:ext cx="1695450" cy="2190750"/>
          </a:xfrm>
          <a:prstGeom prst="roundRect">
            <a:avLst>
              <a:gd name="adj" fmla="val 674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Rectangle 11">
            <a:extLst>
              <a:ext uri="{FF2B5EF4-FFF2-40B4-BE49-F238E27FC236}">
                <a16:creationId xmlns:a16="http://schemas.microsoft.com/office/drawing/2014/main" id="{CAB19F51-0AFD-428F-9090-51CA45A1E456}"/>
              </a:ext>
            </a:extLst>
          </p:cNvPr>
          <p:cNvSpPr>
            <a:spLocks noGrp="1"/>
          </p:cNvSpPr>
          <p:nvPr/>
        </p:nvSpPr>
        <p:spPr>
          <a:xfrm>
            <a:off x="876300" y="2209800"/>
            <a:ext cx="266700" cy="228600"/>
          </a:xfrm>
          <a:prstGeom prst="rect">
            <a:avLst/>
          </a:prstGeom>
          <a:noFill/>
          <a:ln w="0">
            <a:noFill/>
            <a:prstDash val="solid"/>
          </a:ln>
        </p:spPr>
        <p:txBody>
          <a:bodyPr/>
          <a:lstStyle/>
          <a:p>
            <a:pPr algn="l">
              <a:defRPr sz="1100" b="1" i="0">
                <a:solidFill>
                  <a:srgbClr val="C2410C"/>
                </a:solidFill>
              </a:defRPr>
            </a:pPr>
            <a:r>
              <a:rPr sz="1100" b="1" i="0">
                <a:solidFill>
                  <a:srgbClr val="C2410C"/>
                </a:solidFill>
              </a:rPr>
              <a:t>1</a:t>
            </a:r>
          </a:p>
        </p:txBody>
      </p:sp>
      <p:sp>
        <p:nvSpPr>
          <p:cNvPr id="13" name="Rectangle 12">
            <a:extLst>
              <a:ext uri="{FF2B5EF4-FFF2-40B4-BE49-F238E27FC236}">
                <a16:creationId xmlns:a16="http://schemas.microsoft.com/office/drawing/2014/main" id="{1A3D22B8-6294-4AD4-B09D-E9DCA891D0BA}"/>
              </a:ext>
            </a:extLst>
          </p:cNvPr>
          <p:cNvSpPr>
            <a:spLocks noGrp="1"/>
          </p:cNvSpPr>
          <p:nvPr/>
        </p:nvSpPr>
        <p:spPr>
          <a:xfrm>
            <a:off x="876300" y="2533650"/>
            <a:ext cx="1352550" cy="24765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Source files</a:t>
            </a:r>
          </a:p>
        </p:txBody>
      </p:sp>
      <p:sp>
        <p:nvSpPr>
          <p:cNvPr id="14" name="Rectangle 13">
            <a:extLst>
              <a:ext uri="{FF2B5EF4-FFF2-40B4-BE49-F238E27FC236}">
                <a16:creationId xmlns:a16="http://schemas.microsoft.com/office/drawing/2014/main" id="{8AB5EEF9-49E8-4228-9554-176A63FD5CF7}"/>
              </a:ext>
            </a:extLst>
          </p:cNvPr>
          <p:cNvSpPr>
            <a:spLocks noGrp="1"/>
          </p:cNvSpPr>
          <p:nvPr/>
        </p:nvSpPr>
        <p:spPr>
          <a:xfrm>
            <a:off x="876300" y="2971800"/>
            <a:ext cx="1352550" cy="1066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OTC CSV</a:t>
            </a:r>
          </a:p>
          <a:p>
            <a:pPr algn="l">
              <a:defRPr sz="1400" b="0" i="0">
                <a:solidFill>
                  <a:srgbClr val="666666"/>
                </a:solidFill>
              </a:defRPr>
            </a:pPr>
            <a:r>
              <a:rPr sz="1400" b="0" i="0">
                <a:solidFill>
                  <a:srgbClr val="666666"/>
                </a:solidFill>
              </a:rPr>
              <a:t>PTP workbook</a:t>
            </a:r>
          </a:p>
          <a:p>
            <a:pPr algn="l">
              <a:defRPr sz="1400" b="0" i="0">
                <a:solidFill>
                  <a:srgbClr val="666666"/>
                </a:solidFill>
              </a:defRPr>
            </a:pPr>
            <a:r>
              <a:rPr sz="1400" b="0" i="0">
                <a:solidFill>
                  <a:srgbClr val="666666"/>
                </a:solidFill>
              </a:rPr>
              <a:t>RTR workbook</a:t>
            </a:r>
          </a:p>
        </p:txBody>
      </p:sp>
      <p:sp>
        <p:nvSpPr>
          <p:cNvPr id="15" name="Rounded Rectangle 14">
            <a:extLst>
              <a:ext uri="{FF2B5EF4-FFF2-40B4-BE49-F238E27FC236}">
                <a16:creationId xmlns:a16="http://schemas.microsoft.com/office/drawing/2014/main" id="{9D105E60-C72A-4E54-B213-27AAD0DB5E6C}"/>
              </a:ext>
            </a:extLst>
          </p:cNvPr>
          <p:cNvSpPr>
            <a:spLocks noGrp="1"/>
          </p:cNvSpPr>
          <p:nvPr/>
        </p:nvSpPr>
        <p:spPr>
          <a:xfrm>
            <a:off x="2876550" y="2038350"/>
            <a:ext cx="1695450" cy="2190750"/>
          </a:xfrm>
          <a:prstGeom prst="roundRect">
            <a:avLst>
              <a:gd name="adj" fmla="val 674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6" name="Rectangle 15">
            <a:extLst>
              <a:ext uri="{FF2B5EF4-FFF2-40B4-BE49-F238E27FC236}">
                <a16:creationId xmlns:a16="http://schemas.microsoft.com/office/drawing/2014/main" id="{A4D4CA55-F655-4DD2-BE4D-B1F65EA41A5F}"/>
              </a:ext>
            </a:extLst>
          </p:cNvPr>
          <p:cNvSpPr>
            <a:spLocks noGrp="1"/>
          </p:cNvSpPr>
          <p:nvPr/>
        </p:nvSpPr>
        <p:spPr>
          <a:xfrm>
            <a:off x="3048000" y="2209800"/>
            <a:ext cx="266700" cy="228600"/>
          </a:xfrm>
          <a:prstGeom prst="rect">
            <a:avLst/>
          </a:prstGeom>
          <a:noFill/>
          <a:ln w="0">
            <a:noFill/>
            <a:prstDash val="solid"/>
          </a:ln>
        </p:spPr>
        <p:txBody>
          <a:bodyPr/>
          <a:lstStyle/>
          <a:p>
            <a:pPr algn="l">
              <a:defRPr sz="1100" b="1" i="0">
                <a:solidFill>
                  <a:srgbClr val="C2410C"/>
                </a:solidFill>
              </a:defRPr>
            </a:pPr>
            <a:r>
              <a:rPr sz="1100" b="1" i="0">
                <a:solidFill>
                  <a:srgbClr val="C2410C"/>
                </a:solidFill>
              </a:rPr>
              <a:t>2</a:t>
            </a:r>
          </a:p>
        </p:txBody>
      </p:sp>
      <p:sp>
        <p:nvSpPr>
          <p:cNvPr id="17" name="Rectangle 16">
            <a:extLst>
              <a:ext uri="{FF2B5EF4-FFF2-40B4-BE49-F238E27FC236}">
                <a16:creationId xmlns:a16="http://schemas.microsoft.com/office/drawing/2014/main" id="{E3400870-C014-4F32-AC2E-F4D252212DD9}"/>
              </a:ext>
            </a:extLst>
          </p:cNvPr>
          <p:cNvSpPr>
            <a:spLocks noGrp="1"/>
          </p:cNvSpPr>
          <p:nvPr/>
        </p:nvSpPr>
        <p:spPr>
          <a:xfrm>
            <a:off x="3048000" y="2533650"/>
            <a:ext cx="1352550" cy="24765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Jupyter</a:t>
            </a:r>
          </a:p>
        </p:txBody>
      </p:sp>
      <p:sp>
        <p:nvSpPr>
          <p:cNvPr id="18" name="Rectangle 17">
            <a:extLst>
              <a:ext uri="{FF2B5EF4-FFF2-40B4-BE49-F238E27FC236}">
                <a16:creationId xmlns:a16="http://schemas.microsoft.com/office/drawing/2014/main" id="{A94E7BC9-FBE5-4C18-A17D-D37178CF7DE1}"/>
              </a:ext>
            </a:extLst>
          </p:cNvPr>
          <p:cNvSpPr>
            <a:spLocks noGrp="1"/>
          </p:cNvSpPr>
          <p:nvPr/>
        </p:nvSpPr>
        <p:spPr>
          <a:xfrm>
            <a:off x="3048000" y="2971800"/>
            <a:ext cx="1352550" cy="1066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Clean fields</a:t>
            </a:r>
          </a:p>
          <a:p>
            <a:pPr algn="l">
              <a:defRPr sz="1400" b="0" i="0">
                <a:solidFill>
                  <a:srgbClr val="666666"/>
                </a:solidFill>
              </a:defRPr>
            </a:pPr>
            <a:r>
              <a:rPr sz="1400" b="0" i="0">
                <a:solidFill>
                  <a:srgbClr val="666666"/>
                </a:solidFill>
              </a:rPr>
              <a:t>EDA + validation</a:t>
            </a:r>
          </a:p>
          <a:p>
            <a:pPr algn="l">
              <a:defRPr sz="1400" b="0" i="0">
                <a:solidFill>
                  <a:srgbClr val="666666"/>
                </a:solidFill>
              </a:defRPr>
            </a:pPr>
            <a:r>
              <a:rPr sz="1400" b="0" i="0">
                <a:solidFill>
                  <a:srgbClr val="666666"/>
                </a:solidFill>
              </a:rPr>
              <a:t>Flags + forecast</a:t>
            </a:r>
          </a:p>
        </p:txBody>
      </p:sp>
      <p:sp>
        <p:nvSpPr>
          <p:cNvPr id="19" name="Rounded Rectangle 18">
            <a:extLst>
              <a:ext uri="{FF2B5EF4-FFF2-40B4-BE49-F238E27FC236}">
                <a16:creationId xmlns:a16="http://schemas.microsoft.com/office/drawing/2014/main" id="{744EB37A-7327-4E21-A764-11EADA1CF332}"/>
              </a:ext>
            </a:extLst>
          </p:cNvPr>
          <p:cNvSpPr>
            <a:spLocks noGrp="1"/>
          </p:cNvSpPr>
          <p:nvPr/>
        </p:nvSpPr>
        <p:spPr>
          <a:xfrm>
            <a:off x="5048250" y="2038350"/>
            <a:ext cx="1695450" cy="2190750"/>
          </a:xfrm>
          <a:prstGeom prst="roundRect">
            <a:avLst>
              <a:gd name="adj" fmla="val 674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Rectangle 19">
            <a:extLst>
              <a:ext uri="{FF2B5EF4-FFF2-40B4-BE49-F238E27FC236}">
                <a16:creationId xmlns:a16="http://schemas.microsoft.com/office/drawing/2014/main" id="{C204C572-05DB-462C-BEDE-3988BB249A60}"/>
              </a:ext>
            </a:extLst>
          </p:cNvPr>
          <p:cNvSpPr>
            <a:spLocks noGrp="1"/>
          </p:cNvSpPr>
          <p:nvPr/>
        </p:nvSpPr>
        <p:spPr>
          <a:xfrm>
            <a:off x="5219700" y="2209800"/>
            <a:ext cx="266700" cy="228600"/>
          </a:xfrm>
          <a:prstGeom prst="rect">
            <a:avLst/>
          </a:prstGeom>
          <a:noFill/>
          <a:ln w="0">
            <a:noFill/>
            <a:prstDash val="solid"/>
          </a:ln>
        </p:spPr>
        <p:txBody>
          <a:bodyPr/>
          <a:lstStyle/>
          <a:p>
            <a:pPr algn="l">
              <a:defRPr sz="1100" b="1" i="0">
                <a:solidFill>
                  <a:srgbClr val="C2410C"/>
                </a:solidFill>
              </a:defRPr>
            </a:pPr>
            <a:r>
              <a:rPr sz="1100" b="1" i="0">
                <a:solidFill>
                  <a:srgbClr val="C2410C"/>
                </a:solidFill>
              </a:rPr>
              <a:t>3</a:t>
            </a:r>
          </a:p>
        </p:txBody>
      </p:sp>
      <p:sp>
        <p:nvSpPr>
          <p:cNvPr id="21" name="Rectangle 20">
            <a:extLst>
              <a:ext uri="{FF2B5EF4-FFF2-40B4-BE49-F238E27FC236}">
                <a16:creationId xmlns:a16="http://schemas.microsoft.com/office/drawing/2014/main" id="{0FEFF1C5-DB68-4030-81C4-D4D2A8FBD175}"/>
              </a:ext>
            </a:extLst>
          </p:cNvPr>
          <p:cNvSpPr>
            <a:spLocks noGrp="1"/>
          </p:cNvSpPr>
          <p:nvPr/>
        </p:nvSpPr>
        <p:spPr>
          <a:xfrm>
            <a:off x="5219700" y="2533650"/>
            <a:ext cx="1352550" cy="24765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Processed CSVs</a:t>
            </a:r>
          </a:p>
        </p:txBody>
      </p:sp>
      <p:sp>
        <p:nvSpPr>
          <p:cNvPr id="22" name="Rectangle 21">
            <a:extLst>
              <a:ext uri="{FF2B5EF4-FFF2-40B4-BE49-F238E27FC236}">
                <a16:creationId xmlns:a16="http://schemas.microsoft.com/office/drawing/2014/main" id="{CEC5A3D1-5AE8-4C6B-B586-F020BE940328}"/>
              </a:ext>
            </a:extLst>
          </p:cNvPr>
          <p:cNvSpPr>
            <a:spLocks noGrp="1"/>
          </p:cNvSpPr>
          <p:nvPr/>
        </p:nvSpPr>
        <p:spPr>
          <a:xfrm>
            <a:off x="5219700" y="2971800"/>
            <a:ext cx="1352550" cy="1066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Dimensions</a:t>
            </a:r>
          </a:p>
          <a:p>
            <a:pPr algn="l">
              <a:defRPr sz="1400" b="0" i="0">
                <a:solidFill>
                  <a:srgbClr val="666666"/>
                </a:solidFill>
              </a:defRPr>
            </a:pPr>
            <a:r>
              <a:rPr sz="1400" b="0" i="0">
                <a:solidFill>
                  <a:srgbClr val="666666"/>
                </a:solidFill>
              </a:rPr>
              <a:t>Facts</a:t>
            </a:r>
          </a:p>
          <a:p>
            <a:pPr algn="l">
              <a:defRPr sz="1400" b="0" i="0">
                <a:solidFill>
                  <a:srgbClr val="666666"/>
                </a:solidFill>
              </a:defRPr>
            </a:pPr>
            <a:r>
              <a:rPr sz="1400" b="0" i="0">
                <a:solidFill>
                  <a:srgbClr val="666666"/>
                </a:solidFill>
              </a:rPr>
              <a:t>Monthly marts</a:t>
            </a:r>
          </a:p>
        </p:txBody>
      </p:sp>
      <p:sp>
        <p:nvSpPr>
          <p:cNvPr id="23" name="Rounded Rectangle 22">
            <a:extLst>
              <a:ext uri="{FF2B5EF4-FFF2-40B4-BE49-F238E27FC236}">
                <a16:creationId xmlns:a16="http://schemas.microsoft.com/office/drawing/2014/main" id="{E626D32C-384D-45E5-A9D3-A80A28077EDC}"/>
              </a:ext>
            </a:extLst>
          </p:cNvPr>
          <p:cNvSpPr>
            <a:spLocks noGrp="1"/>
          </p:cNvSpPr>
          <p:nvPr/>
        </p:nvSpPr>
        <p:spPr>
          <a:xfrm>
            <a:off x="7219950" y="2038350"/>
            <a:ext cx="1695450" cy="2190750"/>
          </a:xfrm>
          <a:prstGeom prst="roundRect">
            <a:avLst>
              <a:gd name="adj" fmla="val 6742"/>
            </a:avLst>
          </a:prstGeom>
          <a:solidFill>
            <a:srgbClr val="FFE0C2"/>
          </a:solidFill>
          <a:ln w="9525">
            <a:solidFill>
              <a:srgbClr val="F97316"/>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4" name="Rectangle 23">
            <a:extLst>
              <a:ext uri="{FF2B5EF4-FFF2-40B4-BE49-F238E27FC236}">
                <a16:creationId xmlns:a16="http://schemas.microsoft.com/office/drawing/2014/main" id="{D07EFD3C-16E1-4B40-AA47-B76D5B4962A4}"/>
              </a:ext>
            </a:extLst>
          </p:cNvPr>
          <p:cNvSpPr>
            <a:spLocks noGrp="1"/>
          </p:cNvSpPr>
          <p:nvPr/>
        </p:nvSpPr>
        <p:spPr>
          <a:xfrm>
            <a:off x="7391400" y="2209800"/>
            <a:ext cx="266700" cy="228600"/>
          </a:xfrm>
          <a:prstGeom prst="rect">
            <a:avLst/>
          </a:prstGeom>
          <a:noFill/>
          <a:ln w="0">
            <a:noFill/>
            <a:prstDash val="solid"/>
          </a:ln>
        </p:spPr>
        <p:txBody>
          <a:bodyPr/>
          <a:lstStyle/>
          <a:p>
            <a:pPr algn="l">
              <a:defRPr sz="1100" b="1" i="0">
                <a:solidFill>
                  <a:srgbClr val="C2410C"/>
                </a:solidFill>
              </a:defRPr>
            </a:pPr>
            <a:r>
              <a:rPr sz="1100" b="1" i="0">
                <a:solidFill>
                  <a:srgbClr val="C2410C"/>
                </a:solidFill>
              </a:rPr>
              <a:t>4</a:t>
            </a:r>
          </a:p>
        </p:txBody>
      </p:sp>
      <p:sp>
        <p:nvSpPr>
          <p:cNvPr id="25" name="Rectangle 24">
            <a:extLst>
              <a:ext uri="{FF2B5EF4-FFF2-40B4-BE49-F238E27FC236}">
                <a16:creationId xmlns:a16="http://schemas.microsoft.com/office/drawing/2014/main" id="{7D90EA4D-166A-4BA5-BB3C-AE19B35F5300}"/>
              </a:ext>
            </a:extLst>
          </p:cNvPr>
          <p:cNvSpPr>
            <a:spLocks noGrp="1"/>
          </p:cNvSpPr>
          <p:nvPr/>
        </p:nvSpPr>
        <p:spPr>
          <a:xfrm>
            <a:off x="7391400" y="2533650"/>
            <a:ext cx="1352550" cy="24765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PostgreSQL</a:t>
            </a:r>
          </a:p>
        </p:txBody>
      </p:sp>
      <p:sp>
        <p:nvSpPr>
          <p:cNvPr id="26" name="Rectangle 25">
            <a:extLst>
              <a:ext uri="{FF2B5EF4-FFF2-40B4-BE49-F238E27FC236}">
                <a16:creationId xmlns:a16="http://schemas.microsoft.com/office/drawing/2014/main" id="{E2A86750-7B37-4FCE-8BDD-1B11D1961CBE}"/>
              </a:ext>
            </a:extLst>
          </p:cNvPr>
          <p:cNvSpPr>
            <a:spLocks noGrp="1"/>
          </p:cNvSpPr>
          <p:nvPr/>
        </p:nvSpPr>
        <p:spPr>
          <a:xfrm>
            <a:off x="7391400" y="2971800"/>
            <a:ext cx="1352550" cy="1066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Core model</a:t>
            </a:r>
          </a:p>
          <a:p>
            <a:pPr algn="l">
              <a:defRPr sz="1400" b="0" i="0">
                <a:solidFill>
                  <a:srgbClr val="666666"/>
                </a:solidFill>
              </a:defRPr>
            </a:pPr>
            <a:r>
              <a:rPr sz="1400" b="0" i="0">
                <a:solidFill>
                  <a:srgbClr val="666666"/>
                </a:solidFill>
              </a:rPr>
              <a:t>Constraints</a:t>
            </a:r>
          </a:p>
          <a:p>
            <a:pPr algn="l">
              <a:defRPr sz="1400" b="0" i="0">
                <a:solidFill>
                  <a:srgbClr val="666666"/>
                </a:solidFill>
              </a:defRPr>
            </a:pPr>
            <a:r>
              <a:rPr sz="1400" b="0" i="0">
                <a:solidFill>
                  <a:srgbClr val="666666"/>
                </a:solidFill>
              </a:rPr>
              <a:t>Analytical views</a:t>
            </a:r>
          </a:p>
        </p:txBody>
      </p:sp>
      <p:sp>
        <p:nvSpPr>
          <p:cNvPr id="27" name="Rounded Rectangle 26">
            <a:extLst>
              <a:ext uri="{FF2B5EF4-FFF2-40B4-BE49-F238E27FC236}">
                <a16:creationId xmlns:a16="http://schemas.microsoft.com/office/drawing/2014/main" id="{5D69981C-8478-4FC3-B3F9-1D0109F419D6}"/>
              </a:ext>
            </a:extLst>
          </p:cNvPr>
          <p:cNvSpPr>
            <a:spLocks noGrp="1"/>
          </p:cNvSpPr>
          <p:nvPr/>
        </p:nvSpPr>
        <p:spPr>
          <a:xfrm>
            <a:off x="9391650" y="2038350"/>
            <a:ext cx="1695450" cy="2190750"/>
          </a:xfrm>
          <a:prstGeom prst="roundRect">
            <a:avLst>
              <a:gd name="adj" fmla="val 674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8" name="Rectangle 27">
            <a:extLst>
              <a:ext uri="{FF2B5EF4-FFF2-40B4-BE49-F238E27FC236}">
                <a16:creationId xmlns:a16="http://schemas.microsoft.com/office/drawing/2014/main" id="{70691A57-75EA-48A4-BC07-67B8AE56672C}"/>
              </a:ext>
            </a:extLst>
          </p:cNvPr>
          <p:cNvSpPr>
            <a:spLocks noGrp="1"/>
          </p:cNvSpPr>
          <p:nvPr/>
        </p:nvSpPr>
        <p:spPr>
          <a:xfrm>
            <a:off x="9563100" y="2209800"/>
            <a:ext cx="266700" cy="228600"/>
          </a:xfrm>
          <a:prstGeom prst="rect">
            <a:avLst/>
          </a:prstGeom>
          <a:noFill/>
          <a:ln w="0">
            <a:noFill/>
            <a:prstDash val="solid"/>
          </a:ln>
        </p:spPr>
        <p:txBody>
          <a:bodyPr/>
          <a:lstStyle/>
          <a:p>
            <a:pPr algn="l">
              <a:defRPr sz="1100" b="1" i="0">
                <a:solidFill>
                  <a:srgbClr val="C2410C"/>
                </a:solidFill>
              </a:defRPr>
            </a:pPr>
            <a:r>
              <a:rPr sz="1100" b="1" i="0">
                <a:solidFill>
                  <a:srgbClr val="C2410C"/>
                </a:solidFill>
              </a:rPr>
              <a:t>5</a:t>
            </a:r>
          </a:p>
        </p:txBody>
      </p:sp>
      <p:sp>
        <p:nvSpPr>
          <p:cNvPr id="29" name="Rectangle 28">
            <a:extLst>
              <a:ext uri="{FF2B5EF4-FFF2-40B4-BE49-F238E27FC236}">
                <a16:creationId xmlns:a16="http://schemas.microsoft.com/office/drawing/2014/main" id="{AFFC9B0B-EFE8-4CB3-9957-E9D7E6F4F2E8}"/>
              </a:ext>
            </a:extLst>
          </p:cNvPr>
          <p:cNvSpPr>
            <a:spLocks noGrp="1"/>
          </p:cNvSpPr>
          <p:nvPr/>
        </p:nvSpPr>
        <p:spPr>
          <a:xfrm>
            <a:off x="9563100" y="2533650"/>
            <a:ext cx="1352550" cy="24765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Tableau</a:t>
            </a:r>
          </a:p>
        </p:txBody>
      </p:sp>
      <p:sp>
        <p:nvSpPr>
          <p:cNvPr id="30" name="Rectangle 29">
            <a:extLst>
              <a:ext uri="{FF2B5EF4-FFF2-40B4-BE49-F238E27FC236}">
                <a16:creationId xmlns:a16="http://schemas.microsoft.com/office/drawing/2014/main" id="{E7757360-F565-45EE-A3E1-0AEB1FBF8480}"/>
              </a:ext>
            </a:extLst>
          </p:cNvPr>
          <p:cNvSpPr>
            <a:spLocks noGrp="1"/>
          </p:cNvSpPr>
          <p:nvPr/>
        </p:nvSpPr>
        <p:spPr>
          <a:xfrm>
            <a:off x="9563100" y="2971800"/>
            <a:ext cx="1352550" cy="1066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16 worksheets</a:t>
            </a:r>
          </a:p>
          <a:p>
            <a:pPr algn="l">
              <a:defRPr sz="1400" b="0" i="0">
                <a:solidFill>
                  <a:srgbClr val="666666"/>
                </a:solidFill>
              </a:defRPr>
            </a:pPr>
            <a:r>
              <a:rPr sz="1400" b="0" i="0">
                <a:solidFill>
                  <a:srgbClr val="666666"/>
                </a:solidFill>
              </a:rPr>
              <a:t>4 dashboards</a:t>
            </a:r>
          </a:p>
          <a:p>
            <a:pPr algn="l">
              <a:defRPr sz="1400" b="0" i="0">
                <a:solidFill>
                  <a:srgbClr val="666666"/>
                </a:solidFill>
              </a:defRPr>
            </a:pPr>
            <a:r>
              <a:rPr sz="1400" b="0" i="0">
                <a:solidFill>
                  <a:srgbClr val="666666"/>
                </a:solidFill>
              </a:rPr>
              <a:t>Executive story</a:t>
            </a:r>
          </a:p>
        </p:txBody>
      </p:sp>
      <p:sp>
        <p:nvSpPr>
          <p:cNvPr id="31" name="Rounded Rectangle 30">
            <a:extLst>
              <a:ext uri="{FF2B5EF4-FFF2-40B4-BE49-F238E27FC236}">
                <a16:creationId xmlns:a16="http://schemas.microsoft.com/office/drawing/2014/main" id="{AFFFC51F-E410-4FA6-85AA-F3D34822B462}"/>
              </a:ext>
            </a:extLst>
          </p:cNvPr>
          <p:cNvSpPr>
            <a:spLocks noGrp="1"/>
          </p:cNvSpPr>
          <p:nvPr/>
        </p:nvSpPr>
        <p:spPr>
          <a:xfrm>
            <a:off x="685800" y="495300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32" name="Rectangle 31">
            <a:extLst>
              <a:ext uri="{FF2B5EF4-FFF2-40B4-BE49-F238E27FC236}">
                <a16:creationId xmlns:a16="http://schemas.microsoft.com/office/drawing/2014/main" id="{3E47C68E-FE45-475C-B303-98A3612326D5}"/>
              </a:ext>
            </a:extLst>
          </p:cNvPr>
          <p:cNvSpPr>
            <a:spLocks noGrp="1"/>
          </p:cNvSpPr>
          <p:nvPr/>
        </p:nvSpPr>
        <p:spPr>
          <a:xfrm>
            <a:off x="895350" y="5048250"/>
            <a:ext cx="10401300" cy="2667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Tree>
    <p:extLst>
      <p:ext uri="{BB962C8B-B14F-4D97-AF65-F5344CB8AC3E}">
        <p14:creationId xmlns:p14="http://schemas.microsoft.com/office/powerpoint/2010/main" val="571181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9FEFE44-420F-4B6E-B242-1CAE16B68CF8}"/>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CA0DB3E6-BBDF-40B8-81A5-03AC1040FE53}"/>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The three processes cover different reporting periods</a:t>
            </a:r>
          </a:p>
        </p:txBody>
      </p:sp>
      <p:sp>
        <p:nvSpPr>
          <p:cNvPr id="3" name="Rectangle 2">
            <a:extLst>
              <a:ext uri="{FF2B5EF4-FFF2-40B4-BE49-F238E27FC236}">
                <a16:creationId xmlns:a16="http://schemas.microsoft.com/office/drawing/2014/main" id="{72017CF1-1A1C-40D0-9AF2-E2124769781B}"/>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DATA SCOPE</a:t>
            </a:r>
          </a:p>
        </p:txBody>
      </p:sp>
      <p:sp>
        <p:nvSpPr>
          <p:cNvPr id="4" name="Straight Connector 3">
            <a:extLst>
              <a:ext uri="{FF2B5EF4-FFF2-40B4-BE49-F238E27FC236}">
                <a16:creationId xmlns:a16="http://schemas.microsoft.com/office/drawing/2014/main" id="{B837A259-8FDF-49D3-B0AF-D909F2CA9332}"/>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F3BE47DD-8768-4254-874B-4FF21B96BE02}"/>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16D422B4-E877-43FB-8E8D-D77B9CA82FC1}"/>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04</a:t>
            </a:r>
          </a:p>
        </p:txBody>
      </p:sp>
      <p:sp>
        <p:nvSpPr>
          <p:cNvPr id="7" name="Rectangle 6">
            <a:extLst>
              <a:ext uri="{FF2B5EF4-FFF2-40B4-BE49-F238E27FC236}">
                <a16:creationId xmlns:a16="http://schemas.microsoft.com/office/drawing/2014/main" id="{12E23A6F-1C4F-4499-A200-AF7C7905F156}"/>
              </a:ext>
            </a:extLst>
          </p:cNvPr>
          <p:cNvSpPr>
            <a:spLocks noGrp="1"/>
          </p:cNvSpPr>
          <p:nvPr/>
        </p:nvSpPr>
        <p:spPr>
          <a:xfrm>
            <a:off x="685800" y="990600"/>
            <a:ext cx="57150" cy="876300"/>
          </a:xfrm>
          <a:prstGeom prst="rect">
            <a:avLst/>
          </a:prstGeom>
          <a:solidFill>
            <a:srgbClr val="4E79A7"/>
          </a:solidFill>
          <a:ln w="0">
            <a:noFill/>
            <a:prstDash val="solid"/>
          </a:ln>
        </p:spPr>
        <p:txBody>
          <a:bodyPr/>
          <a:lstStyle/>
          <a:p>
            <a:endParaRPr lang="en-US"/>
          </a:p>
        </p:txBody>
      </p:sp>
      <p:sp>
        <p:nvSpPr>
          <p:cNvPr id="8" name="Rectangle 7">
            <a:extLst>
              <a:ext uri="{FF2B5EF4-FFF2-40B4-BE49-F238E27FC236}">
                <a16:creationId xmlns:a16="http://schemas.microsoft.com/office/drawing/2014/main" id="{021D35A2-29FF-4B01-868F-902F07AB9E35}"/>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OTC | Accounts receivable</a:t>
            </a:r>
          </a:p>
        </p:txBody>
      </p:sp>
      <p:sp>
        <p:nvSpPr>
          <p:cNvPr id="9" name="Rectangle 8">
            <a:extLst>
              <a:ext uri="{FF2B5EF4-FFF2-40B4-BE49-F238E27FC236}">
                <a16:creationId xmlns:a16="http://schemas.microsoft.com/office/drawing/2014/main" id="{3C04886E-0883-4874-B023-4C4223B836C0}"/>
              </a:ext>
            </a:extLst>
          </p:cNvPr>
          <p:cNvSpPr>
            <a:spLocks noGrp="1"/>
          </p:cNvSpPr>
          <p:nvPr/>
        </p:nvSpPr>
        <p:spPr>
          <a:xfrm>
            <a:off x="3333750" y="1066800"/>
            <a:ext cx="7810500" cy="762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45,839 rows · 33 columns · 69 customers · 23 Nov 2011 to 17 Mar 2016 · no exact duplicate rows</a:t>
            </a:r>
          </a:p>
        </p:txBody>
      </p:sp>
      <p:sp>
        <p:nvSpPr>
          <p:cNvPr id="10" name="Rectangle 9">
            <a:extLst>
              <a:ext uri="{FF2B5EF4-FFF2-40B4-BE49-F238E27FC236}">
                <a16:creationId xmlns:a16="http://schemas.microsoft.com/office/drawing/2014/main" id="{11D80CB1-46AE-453F-A4EF-0F45D026453E}"/>
              </a:ext>
            </a:extLst>
          </p:cNvPr>
          <p:cNvSpPr>
            <a:spLocks noGrp="1"/>
          </p:cNvSpPr>
          <p:nvPr/>
        </p:nvSpPr>
        <p:spPr>
          <a:xfrm>
            <a:off x="685800" y="2114550"/>
            <a:ext cx="57150" cy="876300"/>
          </a:xfrm>
          <a:prstGeom prst="rect">
            <a:avLst/>
          </a:prstGeom>
          <a:solidFill>
            <a:srgbClr val="F97316"/>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C31CC7AA-F54C-4740-944C-8BDE0F955EA8}"/>
              </a:ext>
            </a:extLst>
          </p:cNvPr>
          <p:cNvSpPr>
            <a:spLocks noGrp="1"/>
          </p:cNvSpPr>
          <p:nvPr/>
        </p:nvSpPr>
        <p:spPr>
          <a:xfrm>
            <a:off x="914400" y="21907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PTP | Procurement</a:t>
            </a:r>
          </a:p>
        </p:txBody>
      </p:sp>
      <p:sp>
        <p:nvSpPr>
          <p:cNvPr id="12" name="Rectangle 11">
            <a:extLst>
              <a:ext uri="{FF2B5EF4-FFF2-40B4-BE49-F238E27FC236}">
                <a16:creationId xmlns:a16="http://schemas.microsoft.com/office/drawing/2014/main" id="{BC0DB5DA-0F0B-460C-BF20-623C30EF2E2F}"/>
              </a:ext>
            </a:extLst>
          </p:cNvPr>
          <p:cNvSpPr>
            <a:spLocks noGrp="1"/>
          </p:cNvSpPr>
          <p:nvPr/>
        </p:nvSpPr>
        <p:spPr>
          <a:xfrm>
            <a:off x="3333750" y="2190750"/>
            <a:ext cx="7810500" cy="762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75,349 rows · 31 selected columns · 61,924 valid positive-spend lines · 16 Jul 2012 to 9 Apr 2019 · no exact duplicate rows</a:t>
            </a:r>
          </a:p>
        </p:txBody>
      </p:sp>
      <p:sp>
        <p:nvSpPr>
          <p:cNvPr id="13" name="Rectangle 12">
            <a:extLst>
              <a:ext uri="{FF2B5EF4-FFF2-40B4-BE49-F238E27FC236}">
                <a16:creationId xmlns:a16="http://schemas.microsoft.com/office/drawing/2014/main" id="{D90607D0-7FA9-41CF-97B5-88676B6E599A}"/>
              </a:ext>
            </a:extLst>
          </p:cNvPr>
          <p:cNvSpPr>
            <a:spLocks noGrp="1"/>
          </p:cNvSpPr>
          <p:nvPr/>
        </p:nvSpPr>
        <p:spPr>
          <a:xfrm>
            <a:off x="685800" y="3238500"/>
            <a:ext cx="57150" cy="876300"/>
          </a:xfrm>
          <a:prstGeom prst="rect">
            <a:avLst/>
          </a:prstGeom>
          <a:solidFill>
            <a:srgbClr val="59A14F"/>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93A0DC42-D95F-4CE5-9B96-A707AB6264FC}"/>
              </a:ext>
            </a:extLst>
          </p:cNvPr>
          <p:cNvSpPr>
            <a:spLocks noGrp="1"/>
          </p:cNvSpPr>
          <p:nvPr/>
        </p:nvSpPr>
        <p:spPr>
          <a:xfrm>
            <a:off x="914400" y="33147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RTR | General ledger</a:t>
            </a:r>
          </a:p>
        </p:txBody>
      </p:sp>
      <p:sp>
        <p:nvSpPr>
          <p:cNvPr id="15" name="Rectangle 14">
            <a:extLst>
              <a:ext uri="{FF2B5EF4-FFF2-40B4-BE49-F238E27FC236}">
                <a16:creationId xmlns:a16="http://schemas.microsoft.com/office/drawing/2014/main" id="{96DD3CA7-865D-4DF7-B994-F95B7D745851}"/>
              </a:ext>
            </a:extLst>
          </p:cNvPr>
          <p:cNvSpPr>
            <a:spLocks noGrp="1"/>
          </p:cNvSpPr>
          <p:nvPr/>
        </p:nvSpPr>
        <p:spPr>
          <a:xfrm>
            <a:off x="3333750" y="3314700"/>
            <a:ext cx="7810500" cy="762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27,909 rows · 21 columns · 3,992 entries · 1 Jan 2018 to 31 Dec 2020 · no exact duplicate rows</a:t>
            </a:r>
          </a:p>
        </p:txBody>
      </p:sp>
      <p:sp>
        <p:nvSpPr>
          <p:cNvPr id="17" name="Rectangle 16">
            <a:extLst>
              <a:ext uri="{FF2B5EF4-FFF2-40B4-BE49-F238E27FC236}">
                <a16:creationId xmlns:a16="http://schemas.microsoft.com/office/drawing/2014/main" id="{0A4262FA-549D-45D0-9182-0EE2CCCCEEC3}"/>
              </a:ext>
            </a:extLst>
          </p:cNvPr>
          <p:cNvSpPr>
            <a:spLocks noGrp="1"/>
          </p:cNvSpPr>
          <p:nvPr/>
        </p:nvSpPr>
        <p:spPr>
          <a:xfrm>
            <a:off x="914400" y="4743450"/>
            <a:ext cx="2095500" cy="2286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
        <p:nvSpPr>
          <p:cNvPr id="18" name="Rectangle 17">
            <a:extLst>
              <a:ext uri="{FF2B5EF4-FFF2-40B4-BE49-F238E27FC236}">
                <a16:creationId xmlns:a16="http://schemas.microsoft.com/office/drawing/2014/main" id="{048114B2-1412-4152-8975-74517D733134}"/>
              </a:ext>
            </a:extLst>
          </p:cNvPr>
          <p:cNvSpPr>
            <a:spLocks noGrp="1"/>
          </p:cNvSpPr>
          <p:nvPr/>
        </p:nvSpPr>
        <p:spPr>
          <a:xfrm>
            <a:off x="914400" y="5067300"/>
            <a:ext cx="10172700" cy="457200"/>
          </a:xfrm>
          <a:prstGeom prst="rect">
            <a:avLst/>
          </a:prstGeom>
          <a:noFill/>
          <a:ln w="0">
            <a:noFill/>
            <a:prstDash val="solid"/>
          </a:ln>
        </p:spPr>
        <p:txBody>
          <a:bodyPr/>
          <a:lstStyle/>
          <a:p>
            <a:pPr algn="l">
              <a:defRPr sz="1400" b="0" i="0">
                <a:solidFill>
                  <a:srgbClr val="666666"/>
                </a:solidFill>
              </a:defRPr>
            </a:pPr>
            <a:endParaRPr sz="1400" b="0" i="0" dirty="0">
              <a:solidFill>
                <a:srgbClr val="666666"/>
              </a:solidFill>
            </a:endParaRPr>
          </a:p>
        </p:txBody>
      </p:sp>
    </p:spTree>
    <p:extLst>
      <p:ext uri="{BB962C8B-B14F-4D97-AF65-F5344CB8AC3E}">
        <p14:creationId xmlns:p14="http://schemas.microsoft.com/office/powerpoint/2010/main" val="39594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578F8B0-B9E3-4FB0-B34B-3E42374046FC}"/>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00130216-6E45-4C93-96AF-9EFA77EDE15C}"/>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dirty="0">
                <a:solidFill>
                  <a:srgbClr val="252525"/>
                </a:solidFill>
              </a:rPr>
              <a:t>Notebook preparation</a:t>
            </a:r>
          </a:p>
        </p:txBody>
      </p:sp>
      <p:sp>
        <p:nvSpPr>
          <p:cNvPr id="3" name="Rectangle 2">
            <a:extLst>
              <a:ext uri="{FF2B5EF4-FFF2-40B4-BE49-F238E27FC236}">
                <a16:creationId xmlns:a16="http://schemas.microsoft.com/office/drawing/2014/main" id="{429DF7F4-139B-4D65-B3BB-760C5BBA4D0E}"/>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JUPYTER NOTEBOOK</a:t>
            </a:r>
          </a:p>
        </p:txBody>
      </p:sp>
      <p:sp>
        <p:nvSpPr>
          <p:cNvPr id="4" name="Straight Connector 3">
            <a:extLst>
              <a:ext uri="{FF2B5EF4-FFF2-40B4-BE49-F238E27FC236}">
                <a16:creationId xmlns:a16="http://schemas.microsoft.com/office/drawing/2014/main" id="{4C89D08F-8749-442E-8A06-461871AD894F}"/>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3E6579CC-08B1-498F-AA87-F274F84F2C0B}"/>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2354E557-ED13-4961-B63E-06721D959762}"/>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05</a:t>
            </a:r>
          </a:p>
        </p:txBody>
      </p:sp>
      <p:sp>
        <p:nvSpPr>
          <p:cNvPr id="7" name="Rectangle 6">
            <a:extLst>
              <a:ext uri="{FF2B5EF4-FFF2-40B4-BE49-F238E27FC236}">
                <a16:creationId xmlns:a16="http://schemas.microsoft.com/office/drawing/2014/main" id="{4AE3DEFF-7357-4D0E-892B-A4C44653264A}"/>
              </a:ext>
            </a:extLst>
          </p:cNvPr>
          <p:cNvSpPr>
            <a:spLocks noGrp="1"/>
          </p:cNvSpPr>
          <p:nvPr/>
        </p:nvSpPr>
        <p:spPr>
          <a:xfrm>
            <a:off x="685800" y="990600"/>
            <a:ext cx="57150" cy="93345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430DC0F8-81D5-4F2D-91FB-D9382742B433}"/>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Load</a:t>
            </a:r>
          </a:p>
        </p:txBody>
      </p:sp>
      <p:sp>
        <p:nvSpPr>
          <p:cNvPr id="9" name="Rectangle 8">
            <a:extLst>
              <a:ext uri="{FF2B5EF4-FFF2-40B4-BE49-F238E27FC236}">
                <a16:creationId xmlns:a16="http://schemas.microsoft.com/office/drawing/2014/main" id="{9C995831-5396-49EA-A386-E144E1D38ADA}"/>
              </a:ext>
            </a:extLst>
          </p:cNvPr>
          <p:cNvSpPr>
            <a:spLocks noGrp="1"/>
          </p:cNvSpPr>
          <p:nvPr/>
        </p:nvSpPr>
        <p:spPr>
          <a:xfrm>
            <a:off x="3333750" y="1066800"/>
            <a:ext cx="7810500" cy="8191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notebook locates the data folder, reads the OTC CSV, selected PTP columns, RTR GL and master-data sheets, and the OTC data dictionary.</a:t>
            </a:r>
          </a:p>
        </p:txBody>
      </p:sp>
      <p:sp>
        <p:nvSpPr>
          <p:cNvPr id="10" name="Rectangle 9">
            <a:extLst>
              <a:ext uri="{FF2B5EF4-FFF2-40B4-BE49-F238E27FC236}">
                <a16:creationId xmlns:a16="http://schemas.microsoft.com/office/drawing/2014/main" id="{EDD01469-AD30-42F9-946D-79B9D11E4DD3}"/>
              </a:ext>
            </a:extLst>
          </p:cNvPr>
          <p:cNvSpPr>
            <a:spLocks noGrp="1"/>
          </p:cNvSpPr>
          <p:nvPr/>
        </p:nvSpPr>
        <p:spPr>
          <a:xfrm>
            <a:off x="685800" y="2152650"/>
            <a:ext cx="57150" cy="106680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7998110A-FBD9-4956-BAD4-6CAF8A034B5F}"/>
              </a:ext>
            </a:extLst>
          </p:cNvPr>
          <p:cNvSpPr>
            <a:spLocks noGrp="1"/>
          </p:cNvSpPr>
          <p:nvPr/>
        </p:nvSpPr>
        <p:spPr>
          <a:xfrm>
            <a:off x="914400" y="22288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Standardise</a:t>
            </a:r>
          </a:p>
        </p:txBody>
      </p:sp>
      <p:sp>
        <p:nvSpPr>
          <p:cNvPr id="12" name="Rectangle 11">
            <a:extLst>
              <a:ext uri="{FF2B5EF4-FFF2-40B4-BE49-F238E27FC236}">
                <a16:creationId xmlns:a16="http://schemas.microsoft.com/office/drawing/2014/main" id="{F1681532-D0EC-49AB-A817-297113E72167}"/>
              </a:ext>
            </a:extLst>
          </p:cNvPr>
          <p:cNvSpPr>
            <a:spLocks noGrp="1"/>
          </p:cNvSpPr>
          <p:nvPr/>
        </p:nvSpPr>
        <p:spPr>
          <a:xfrm>
            <a:off x="3333750" y="2228850"/>
            <a:ext cx="7810500" cy="9525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Column names are cleaned, duplicate names are made unique, dates are parsed from strings or Excel serials, and financial measures are converted to numeric types.</a:t>
            </a:r>
          </a:p>
        </p:txBody>
      </p:sp>
      <p:sp>
        <p:nvSpPr>
          <p:cNvPr id="13" name="Rectangle 12">
            <a:extLst>
              <a:ext uri="{FF2B5EF4-FFF2-40B4-BE49-F238E27FC236}">
                <a16:creationId xmlns:a16="http://schemas.microsoft.com/office/drawing/2014/main" id="{D674EDD6-788E-4DBF-91D7-D590FBCD2737}"/>
              </a:ext>
            </a:extLst>
          </p:cNvPr>
          <p:cNvSpPr>
            <a:spLocks noGrp="1"/>
          </p:cNvSpPr>
          <p:nvPr/>
        </p:nvSpPr>
        <p:spPr>
          <a:xfrm>
            <a:off x="685800" y="3448050"/>
            <a:ext cx="57150" cy="106680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32EB40A-E86A-41A5-9532-987DA5B04F1A}"/>
              </a:ext>
            </a:extLst>
          </p:cNvPr>
          <p:cNvSpPr>
            <a:spLocks noGrp="1"/>
          </p:cNvSpPr>
          <p:nvPr/>
        </p:nvSpPr>
        <p:spPr>
          <a:xfrm>
            <a:off x="914400" y="35242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Derive</a:t>
            </a:r>
          </a:p>
        </p:txBody>
      </p:sp>
      <p:sp>
        <p:nvSpPr>
          <p:cNvPr id="15" name="Rectangle 14">
            <a:extLst>
              <a:ext uri="{FF2B5EF4-FFF2-40B4-BE49-F238E27FC236}">
                <a16:creationId xmlns:a16="http://schemas.microsoft.com/office/drawing/2014/main" id="{794D5657-E484-4FA1-92ED-411CB4F1CC5C}"/>
              </a:ext>
            </a:extLst>
          </p:cNvPr>
          <p:cNvSpPr>
            <a:spLocks noGrp="1"/>
          </p:cNvSpPr>
          <p:nvPr/>
        </p:nvSpPr>
        <p:spPr>
          <a:xfrm>
            <a:off x="3333750" y="3524250"/>
            <a:ext cx="7810500" cy="9525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Payment delay, late-payment flags, valid-spend flags, monthly periods, account mappings, KPI marts and investigation flags are built before visual analysis.</a:t>
            </a:r>
          </a:p>
        </p:txBody>
      </p:sp>
      <p:sp>
        <p:nvSpPr>
          <p:cNvPr id="16" name="Rectangle 15">
            <a:extLst>
              <a:ext uri="{FF2B5EF4-FFF2-40B4-BE49-F238E27FC236}">
                <a16:creationId xmlns:a16="http://schemas.microsoft.com/office/drawing/2014/main" id="{5F3A6438-9BB4-4E04-AF30-496002981198}"/>
              </a:ext>
            </a:extLst>
          </p:cNvPr>
          <p:cNvSpPr>
            <a:spLocks noGrp="1"/>
          </p:cNvSpPr>
          <p:nvPr/>
        </p:nvSpPr>
        <p:spPr>
          <a:xfrm>
            <a:off x="685800" y="4743450"/>
            <a:ext cx="57150" cy="895350"/>
          </a:xfrm>
          <a:prstGeom prst="rect">
            <a:avLst/>
          </a:prstGeom>
          <a:solidFill>
            <a:srgbClr val="76B7B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6FBED6B6-945C-4844-962C-160D1CEF2410}"/>
              </a:ext>
            </a:extLst>
          </p:cNvPr>
          <p:cNvSpPr>
            <a:spLocks noGrp="1"/>
          </p:cNvSpPr>
          <p:nvPr/>
        </p:nvSpPr>
        <p:spPr>
          <a:xfrm>
            <a:off x="914400" y="48196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Validate</a:t>
            </a:r>
          </a:p>
        </p:txBody>
      </p:sp>
      <p:sp>
        <p:nvSpPr>
          <p:cNvPr id="18" name="Rectangle 17">
            <a:extLst>
              <a:ext uri="{FF2B5EF4-FFF2-40B4-BE49-F238E27FC236}">
                <a16:creationId xmlns:a16="http://schemas.microsoft.com/office/drawing/2014/main" id="{36D1DC60-A50B-4E39-8C3C-2FB6991B1C55}"/>
              </a:ext>
            </a:extLst>
          </p:cNvPr>
          <p:cNvSpPr>
            <a:spLocks noGrp="1"/>
          </p:cNvSpPr>
          <p:nvPr/>
        </p:nvSpPr>
        <p:spPr>
          <a:xfrm>
            <a:off x="3333750" y="4819650"/>
            <a:ext cx="7810500" cy="781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Quality checks flag unusual records without silently deleting them; reconciliations confirm that processed totals still match the source transactions.</a:t>
            </a:r>
          </a:p>
        </p:txBody>
      </p:sp>
    </p:spTree>
    <p:extLst>
      <p:ext uri="{BB962C8B-B14F-4D97-AF65-F5344CB8AC3E}">
        <p14:creationId xmlns:p14="http://schemas.microsoft.com/office/powerpoint/2010/main" val="253352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8FECDAD-680E-4319-B121-97AFBC0E5BE1}"/>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0157340B-9253-436A-9CA8-9985504A46F7}"/>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OTC EDA exposed billing scale and payment behaviour</a:t>
            </a:r>
          </a:p>
        </p:txBody>
      </p:sp>
      <p:sp>
        <p:nvSpPr>
          <p:cNvPr id="3" name="Rectangle 2">
            <a:extLst>
              <a:ext uri="{FF2B5EF4-FFF2-40B4-BE49-F238E27FC236}">
                <a16:creationId xmlns:a16="http://schemas.microsoft.com/office/drawing/2014/main" id="{53C85B09-9181-40D9-AF16-A00E1BD6643E}"/>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JUPYTER EDA</a:t>
            </a:r>
          </a:p>
        </p:txBody>
      </p:sp>
      <p:sp>
        <p:nvSpPr>
          <p:cNvPr id="4" name="Straight Connector 3">
            <a:extLst>
              <a:ext uri="{FF2B5EF4-FFF2-40B4-BE49-F238E27FC236}">
                <a16:creationId xmlns:a16="http://schemas.microsoft.com/office/drawing/2014/main" id="{BD4F16F6-79C7-412D-B04E-9BB9BD9CE118}"/>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17BA6164-693E-4ABB-8042-4C1F3CBC98A4}"/>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E38A0AA3-EFCE-471B-A3AE-D91912E26333}"/>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06</a:t>
            </a:r>
          </a:p>
        </p:txBody>
      </p:sp>
      <p:sp>
        <p:nvSpPr>
          <p:cNvPr id="7" name="Rounded Rectangle 6">
            <a:extLst>
              <a:ext uri="{FF2B5EF4-FFF2-40B4-BE49-F238E27FC236}">
                <a16:creationId xmlns:a16="http://schemas.microsoft.com/office/drawing/2014/main" id="{D6DB8779-ADBF-4960-8B76-46E685CFDCCE}"/>
              </a:ext>
            </a:extLst>
          </p:cNvPr>
          <p:cNvSpPr>
            <a:spLocks noGrp="1"/>
          </p:cNvSpPr>
          <p:nvPr/>
        </p:nvSpPr>
        <p:spPr>
          <a:xfrm>
            <a:off x="552450" y="857250"/>
            <a:ext cx="5295900" cy="2533650"/>
          </a:xfrm>
          <a:prstGeom prst="roundRect">
            <a:avLst>
              <a:gd name="adj" fmla="val 3759"/>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6" name="Picture 25"/>
          <p:cNvPicPr>
            <a:picLocks noChangeAspect="1"/>
          </p:cNvPicPr>
          <p:nvPr/>
        </p:nvPicPr>
        <p:blipFill>
          <a:blip r:embed="rId3"/>
          <a:stretch/>
        </p:blipFill>
        <p:spPr>
          <a:xfrm>
            <a:off x="628650" y="969267"/>
            <a:ext cx="5143500" cy="2309616"/>
          </a:xfrm>
          <a:prstGeom prst="rect">
            <a:avLst/>
          </a:prstGeom>
        </p:spPr>
      </p:pic>
      <p:sp>
        <p:nvSpPr>
          <p:cNvPr id="9" name="Rounded Rectangle 8">
            <a:extLst>
              <a:ext uri="{FF2B5EF4-FFF2-40B4-BE49-F238E27FC236}">
                <a16:creationId xmlns:a16="http://schemas.microsoft.com/office/drawing/2014/main" id="{802E93FB-09EB-4CDD-B255-066EE8F748E4}"/>
              </a:ext>
            </a:extLst>
          </p:cNvPr>
          <p:cNvSpPr>
            <a:spLocks noGrp="1"/>
          </p:cNvSpPr>
          <p:nvPr/>
        </p:nvSpPr>
        <p:spPr>
          <a:xfrm>
            <a:off x="5943600" y="857250"/>
            <a:ext cx="5295900" cy="2533650"/>
          </a:xfrm>
          <a:prstGeom prst="roundRect">
            <a:avLst>
              <a:gd name="adj" fmla="val 3759"/>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8" name="Picture 27"/>
          <p:cNvPicPr>
            <a:picLocks noChangeAspect="1"/>
          </p:cNvPicPr>
          <p:nvPr/>
        </p:nvPicPr>
        <p:blipFill>
          <a:blip r:embed="rId4"/>
          <a:stretch/>
        </p:blipFill>
        <p:spPr>
          <a:xfrm>
            <a:off x="6019800" y="966906"/>
            <a:ext cx="5143500" cy="2314339"/>
          </a:xfrm>
          <a:prstGeom prst="rect">
            <a:avLst/>
          </a:prstGeom>
        </p:spPr>
      </p:pic>
      <p:sp>
        <p:nvSpPr>
          <p:cNvPr id="11" name="Rectangle 10">
            <a:extLst>
              <a:ext uri="{FF2B5EF4-FFF2-40B4-BE49-F238E27FC236}">
                <a16:creationId xmlns:a16="http://schemas.microsoft.com/office/drawing/2014/main" id="{A8CB4DC6-4C7F-4CA7-8C43-0EF37B6BD185}"/>
              </a:ext>
            </a:extLst>
          </p:cNvPr>
          <p:cNvSpPr>
            <a:spLocks noGrp="1"/>
          </p:cNvSpPr>
          <p:nvPr/>
        </p:nvSpPr>
        <p:spPr>
          <a:xfrm>
            <a:off x="685800" y="3714750"/>
            <a:ext cx="57150" cy="666750"/>
          </a:xfrm>
          <a:prstGeom prst="rect">
            <a:avLst/>
          </a:prstGeom>
          <a:solidFill>
            <a:srgbClr val="4E79A7"/>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4D8A964-182E-41C4-84A3-A720C19781BB}"/>
              </a:ext>
            </a:extLst>
          </p:cNvPr>
          <p:cNvSpPr>
            <a:spLocks noGrp="1"/>
          </p:cNvSpPr>
          <p:nvPr/>
        </p:nvSpPr>
        <p:spPr>
          <a:xfrm>
            <a:off x="914400" y="37909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Portfolio scale</a:t>
            </a:r>
          </a:p>
        </p:txBody>
      </p:sp>
      <p:sp>
        <p:nvSpPr>
          <p:cNvPr id="13" name="Rectangle 12">
            <a:extLst>
              <a:ext uri="{FF2B5EF4-FFF2-40B4-BE49-F238E27FC236}">
                <a16:creationId xmlns:a16="http://schemas.microsoft.com/office/drawing/2014/main" id="{18559A1C-BFD7-4C15-839A-938033F8F0A6}"/>
              </a:ext>
            </a:extLst>
          </p:cNvPr>
          <p:cNvSpPr>
            <a:spLocks noGrp="1"/>
          </p:cNvSpPr>
          <p:nvPr/>
        </p:nvSpPr>
        <p:spPr>
          <a:xfrm>
            <a:off x="3333750" y="3790950"/>
            <a:ext cx="7810500" cy="5524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45,839 invoices, 69 customers and £816.26M equivalent total invoice amount were analysed.</a:t>
            </a:r>
          </a:p>
        </p:txBody>
      </p:sp>
      <p:sp>
        <p:nvSpPr>
          <p:cNvPr id="14" name="Rectangle 13">
            <a:extLst>
              <a:ext uri="{FF2B5EF4-FFF2-40B4-BE49-F238E27FC236}">
                <a16:creationId xmlns:a16="http://schemas.microsoft.com/office/drawing/2014/main" id="{F9622DD7-4286-4DDC-BB81-927F2C339973}"/>
              </a:ext>
            </a:extLst>
          </p:cNvPr>
          <p:cNvSpPr>
            <a:spLocks noGrp="1"/>
          </p:cNvSpPr>
          <p:nvPr/>
        </p:nvSpPr>
        <p:spPr>
          <a:xfrm>
            <a:off x="685800" y="4572000"/>
            <a:ext cx="57150" cy="838200"/>
          </a:xfrm>
          <a:prstGeom prst="rect">
            <a:avLst/>
          </a:prstGeom>
          <a:solidFill>
            <a:srgbClr val="F9731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B261A403-AE59-4436-A5F1-D9CD305D877A}"/>
              </a:ext>
            </a:extLst>
          </p:cNvPr>
          <p:cNvSpPr>
            <a:spLocks noGrp="1"/>
          </p:cNvSpPr>
          <p:nvPr/>
        </p:nvSpPr>
        <p:spPr>
          <a:xfrm>
            <a:off x="914400" y="4648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Payment behaviour</a:t>
            </a:r>
          </a:p>
        </p:txBody>
      </p:sp>
      <p:sp>
        <p:nvSpPr>
          <p:cNvPr id="16" name="Rectangle 15">
            <a:extLst>
              <a:ext uri="{FF2B5EF4-FFF2-40B4-BE49-F238E27FC236}">
                <a16:creationId xmlns:a16="http://schemas.microsoft.com/office/drawing/2014/main" id="{BCDE8C61-7B1E-407D-8E84-CA601A42770D}"/>
              </a:ext>
            </a:extLst>
          </p:cNvPr>
          <p:cNvSpPr>
            <a:spLocks noGrp="1"/>
          </p:cNvSpPr>
          <p:nvPr/>
        </p:nvSpPr>
        <p:spPr>
          <a:xfrm>
            <a:off x="3333750" y="4648200"/>
            <a:ext cx="7810500" cy="7239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calculated late-payment rate is 53%; average and median delays are close to one day, while the clipped distribution reveals material early/late outliers.</a:t>
            </a:r>
          </a:p>
        </p:txBody>
      </p:sp>
      <p:sp>
        <p:nvSpPr>
          <p:cNvPr id="17" name="Rounded Rectangle 16">
            <a:extLst>
              <a:ext uri="{FF2B5EF4-FFF2-40B4-BE49-F238E27FC236}">
                <a16:creationId xmlns:a16="http://schemas.microsoft.com/office/drawing/2014/main" id="{16013FCF-1506-46A1-A00C-7B32F89659F8}"/>
              </a:ext>
            </a:extLst>
          </p:cNvPr>
          <p:cNvSpPr>
            <a:spLocks noGrp="1"/>
          </p:cNvSpPr>
          <p:nvPr/>
        </p:nvSpPr>
        <p:spPr>
          <a:xfrm>
            <a:off x="685800" y="560070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8" name="Rectangle 17">
            <a:extLst>
              <a:ext uri="{FF2B5EF4-FFF2-40B4-BE49-F238E27FC236}">
                <a16:creationId xmlns:a16="http://schemas.microsoft.com/office/drawing/2014/main" id="{6E9C7F98-FF31-4162-998F-25F7CA4CBC61}"/>
              </a:ext>
            </a:extLst>
          </p:cNvPr>
          <p:cNvSpPr>
            <a:spLocks noGrp="1"/>
          </p:cNvSpPr>
          <p:nvPr/>
        </p:nvSpPr>
        <p:spPr>
          <a:xfrm>
            <a:off x="895350" y="5695950"/>
            <a:ext cx="10401300" cy="2667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Tree>
    <p:extLst>
      <p:ext uri="{BB962C8B-B14F-4D97-AF65-F5344CB8AC3E}">
        <p14:creationId xmlns:p14="http://schemas.microsoft.com/office/powerpoint/2010/main" val="1826209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1812EA5-9381-468F-9849-EFE4911218CD}"/>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7091D609-AC1E-43FF-BC9C-3B6A668BBBB7}"/>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PTP EDA separated valid spend from audit-only rows</a:t>
            </a:r>
          </a:p>
        </p:txBody>
      </p:sp>
      <p:sp>
        <p:nvSpPr>
          <p:cNvPr id="3" name="Rectangle 2">
            <a:extLst>
              <a:ext uri="{FF2B5EF4-FFF2-40B4-BE49-F238E27FC236}">
                <a16:creationId xmlns:a16="http://schemas.microsoft.com/office/drawing/2014/main" id="{897CCE24-2080-4C16-B286-2CA8CC87523D}"/>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JUPYTER EDA</a:t>
            </a:r>
          </a:p>
        </p:txBody>
      </p:sp>
      <p:sp>
        <p:nvSpPr>
          <p:cNvPr id="4" name="Straight Connector 3">
            <a:extLst>
              <a:ext uri="{FF2B5EF4-FFF2-40B4-BE49-F238E27FC236}">
                <a16:creationId xmlns:a16="http://schemas.microsoft.com/office/drawing/2014/main" id="{D1454FB3-FC76-41C9-AEF3-73331872465F}"/>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87656A5B-DDDF-4B56-AD77-4007A0F3E374}"/>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E94B3B8B-4317-464E-A7E1-C46DF7125367}"/>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07</a:t>
            </a:r>
          </a:p>
        </p:txBody>
      </p:sp>
      <p:sp>
        <p:nvSpPr>
          <p:cNvPr id="7" name="Rounded Rectangle 6">
            <a:extLst>
              <a:ext uri="{FF2B5EF4-FFF2-40B4-BE49-F238E27FC236}">
                <a16:creationId xmlns:a16="http://schemas.microsoft.com/office/drawing/2014/main" id="{14FCE92C-D609-4ABE-A402-45DD565DC9F2}"/>
              </a:ext>
            </a:extLst>
          </p:cNvPr>
          <p:cNvSpPr>
            <a:spLocks noGrp="1"/>
          </p:cNvSpPr>
          <p:nvPr/>
        </p:nvSpPr>
        <p:spPr>
          <a:xfrm>
            <a:off x="552450" y="857250"/>
            <a:ext cx="5295900" cy="2533650"/>
          </a:xfrm>
          <a:prstGeom prst="roundRect">
            <a:avLst>
              <a:gd name="adj" fmla="val 3759"/>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6" name="Picture 25"/>
          <p:cNvPicPr>
            <a:picLocks noChangeAspect="1"/>
          </p:cNvPicPr>
          <p:nvPr/>
        </p:nvPicPr>
        <p:blipFill>
          <a:blip r:embed="rId3"/>
          <a:stretch/>
        </p:blipFill>
        <p:spPr>
          <a:xfrm>
            <a:off x="628650" y="966906"/>
            <a:ext cx="5143500" cy="2314339"/>
          </a:xfrm>
          <a:prstGeom prst="rect">
            <a:avLst/>
          </a:prstGeom>
        </p:spPr>
      </p:pic>
      <p:sp>
        <p:nvSpPr>
          <p:cNvPr id="9" name="Rounded Rectangle 8">
            <a:extLst>
              <a:ext uri="{FF2B5EF4-FFF2-40B4-BE49-F238E27FC236}">
                <a16:creationId xmlns:a16="http://schemas.microsoft.com/office/drawing/2014/main" id="{9D1F17C1-28CE-4BF2-A12C-A24EF43FCF6A}"/>
              </a:ext>
            </a:extLst>
          </p:cNvPr>
          <p:cNvSpPr>
            <a:spLocks noGrp="1"/>
          </p:cNvSpPr>
          <p:nvPr/>
        </p:nvSpPr>
        <p:spPr>
          <a:xfrm>
            <a:off x="5943600" y="857250"/>
            <a:ext cx="5295900" cy="2533650"/>
          </a:xfrm>
          <a:prstGeom prst="roundRect">
            <a:avLst>
              <a:gd name="adj" fmla="val 3759"/>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8" name="Picture 27"/>
          <p:cNvPicPr>
            <a:picLocks noChangeAspect="1"/>
          </p:cNvPicPr>
          <p:nvPr/>
        </p:nvPicPr>
        <p:blipFill>
          <a:blip r:embed="rId4"/>
          <a:stretch/>
        </p:blipFill>
        <p:spPr>
          <a:xfrm>
            <a:off x="6019800" y="967967"/>
            <a:ext cx="5143500" cy="2312216"/>
          </a:xfrm>
          <a:prstGeom prst="rect">
            <a:avLst/>
          </a:prstGeom>
        </p:spPr>
      </p:pic>
      <p:sp>
        <p:nvSpPr>
          <p:cNvPr id="11" name="Rectangle 10">
            <a:extLst>
              <a:ext uri="{FF2B5EF4-FFF2-40B4-BE49-F238E27FC236}">
                <a16:creationId xmlns:a16="http://schemas.microsoft.com/office/drawing/2014/main" id="{AD69A5FC-E56F-44EA-9D05-B98543CD544F}"/>
              </a:ext>
            </a:extLst>
          </p:cNvPr>
          <p:cNvSpPr>
            <a:spLocks noGrp="1"/>
          </p:cNvSpPr>
          <p:nvPr/>
        </p:nvSpPr>
        <p:spPr>
          <a:xfrm>
            <a:off x="685800" y="3714750"/>
            <a:ext cx="57150" cy="800100"/>
          </a:xfrm>
          <a:prstGeom prst="rect">
            <a:avLst/>
          </a:prstGeom>
          <a:solidFill>
            <a:srgbClr val="F9731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7AB2A029-B921-4AC3-B7FE-58577D29EB6A}"/>
              </a:ext>
            </a:extLst>
          </p:cNvPr>
          <p:cNvSpPr>
            <a:spLocks noGrp="1"/>
          </p:cNvSpPr>
          <p:nvPr/>
        </p:nvSpPr>
        <p:spPr>
          <a:xfrm>
            <a:off x="914400" y="37909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Valid KPI population</a:t>
            </a:r>
          </a:p>
        </p:txBody>
      </p:sp>
      <p:sp>
        <p:nvSpPr>
          <p:cNvPr id="13" name="Rectangle 12">
            <a:extLst>
              <a:ext uri="{FF2B5EF4-FFF2-40B4-BE49-F238E27FC236}">
                <a16:creationId xmlns:a16="http://schemas.microsoft.com/office/drawing/2014/main" id="{37042C09-A5AF-4C8E-8873-4CE21D83E643}"/>
              </a:ext>
            </a:extLst>
          </p:cNvPr>
          <p:cNvSpPr>
            <a:spLocks noGrp="1"/>
          </p:cNvSpPr>
          <p:nvPr/>
        </p:nvSpPr>
        <p:spPr>
          <a:xfrm>
            <a:off x="3333750" y="3790950"/>
            <a:ext cx="7810500" cy="685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61,924 positive-spend lines across 42,596 purchase documents, 2,756 materials and 116 plants generated £24.00B equivalent valid gross spend.</a:t>
            </a:r>
          </a:p>
        </p:txBody>
      </p:sp>
      <p:sp>
        <p:nvSpPr>
          <p:cNvPr id="14" name="Rectangle 13">
            <a:extLst>
              <a:ext uri="{FF2B5EF4-FFF2-40B4-BE49-F238E27FC236}">
                <a16:creationId xmlns:a16="http://schemas.microsoft.com/office/drawing/2014/main" id="{1172ECFE-97FD-4BC1-98C4-F7761B3D7F58}"/>
              </a:ext>
            </a:extLst>
          </p:cNvPr>
          <p:cNvSpPr>
            <a:spLocks noGrp="1"/>
          </p:cNvSpPr>
          <p:nvPr/>
        </p:nvSpPr>
        <p:spPr>
          <a:xfrm>
            <a:off x="685800" y="4743450"/>
            <a:ext cx="57150" cy="800100"/>
          </a:xfrm>
          <a:prstGeom prst="rect">
            <a:avLst/>
          </a:prstGeom>
          <a:solidFill>
            <a:srgbClr val="C2410C"/>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A2070B0B-A7CC-41A4-84A0-79B050ED7E9D}"/>
              </a:ext>
            </a:extLst>
          </p:cNvPr>
          <p:cNvSpPr>
            <a:spLocks noGrp="1"/>
          </p:cNvSpPr>
          <p:nvPr/>
        </p:nvSpPr>
        <p:spPr>
          <a:xfrm>
            <a:off x="914400" y="48196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Audit treatment</a:t>
            </a:r>
          </a:p>
        </p:txBody>
      </p:sp>
      <p:sp>
        <p:nvSpPr>
          <p:cNvPr id="16" name="Rectangle 15">
            <a:extLst>
              <a:ext uri="{FF2B5EF4-FFF2-40B4-BE49-F238E27FC236}">
                <a16:creationId xmlns:a16="http://schemas.microsoft.com/office/drawing/2014/main" id="{665EEBA8-9D95-4E6A-B784-FE66474F5004}"/>
              </a:ext>
            </a:extLst>
          </p:cNvPr>
          <p:cNvSpPr>
            <a:spLocks noGrp="1"/>
          </p:cNvSpPr>
          <p:nvPr/>
        </p:nvSpPr>
        <p:spPr>
          <a:xfrm>
            <a:off x="3333750" y="4819650"/>
            <a:ext cx="7810500" cy="6858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13,425 zero or invalid-spend rows remain in the fact table for traceability but are excluded from spend totals, Pareto analysis and growth KPIs.</a:t>
            </a:r>
          </a:p>
        </p:txBody>
      </p:sp>
      <p:sp>
        <p:nvSpPr>
          <p:cNvPr id="17" name="Rounded Rectangle 16">
            <a:extLst>
              <a:ext uri="{FF2B5EF4-FFF2-40B4-BE49-F238E27FC236}">
                <a16:creationId xmlns:a16="http://schemas.microsoft.com/office/drawing/2014/main" id="{F44C3BFF-8979-4308-9E70-28D9B0B4FA3B}"/>
              </a:ext>
            </a:extLst>
          </p:cNvPr>
          <p:cNvSpPr>
            <a:spLocks noGrp="1"/>
          </p:cNvSpPr>
          <p:nvPr/>
        </p:nvSpPr>
        <p:spPr>
          <a:xfrm>
            <a:off x="685800" y="57340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8" name="Rectangle 17">
            <a:extLst>
              <a:ext uri="{FF2B5EF4-FFF2-40B4-BE49-F238E27FC236}">
                <a16:creationId xmlns:a16="http://schemas.microsoft.com/office/drawing/2014/main" id="{70F1AD48-C3CD-4E2B-8B0B-EBCED6B782DF}"/>
              </a:ext>
            </a:extLst>
          </p:cNvPr>
          <p:cNvSpPr>
            <a:spLocks noGrp="1"/>
          </p:cNvSpPr>
          <p:nvPr/>
        </p:nvSpPr>
        <p:spPr>
          <a:xfrm>
            <a:off x="895350" y="5829300"/>
            <a:ext cx="10401300" cy="2667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Tree>
    <p:extLst>
      <p:ext uri="{BB962C8B-B14F-4D97-AF65-F5344CB8AC3E}">
        <p14:creationId xmlns:p14="http://schemas.microsoft.com/office/powerpoint/2010/main" val="702200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8396B68-05A0-4886-B903-92E9076A767E}"/>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75D0D18D-AEBB-4636-B168-F3FE4E260B16}"/>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RTR EDA linked revenue, expenses and profit</a:t>
            </a:r>
          </a:p>
        </p:txBody>
      </p:sp>
      <p:sp>
        <p:nvSpPr>
          <p:cNvPr id="3" name="Rectangle 2">
            <a:extLst>
              <a:ext uri="{FF2B5EF4-FFF2-40B4-BE49-F238E27FC236}">
                <a16:creationId xmlns:a16="http://schemas.microsoft.com/office/drawing/2014/main" id="{1D6A8B89-4D44-4FC5-935E-4FECCDE838C1}"/>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JUPYTER EDA</a:t>
            </a:r>
          </a:p>
        </p:txBody>
      </p:sp>
      <p:sp>
        <p:nvSpPr>
          <p:cNvPr id="4" name="Straight Connector 3">
            <a:extLst>
              <a:ext uri="{FF2B5EF4-FFF2-40B4-BE49-F238E27FC236}">
                <a16:creationId xmlns:a16="http://schemas.microsoft.com/office/drawing/2014/main" id="{81DD737E-A3BF-4425-ACBF-9F249169471F}"/>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7B77B9A4-A40B-4460-986D-10890E1E3C08}"/>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CEFE46AD-4DEF-49E7-A77D-AE310F35DF0E}"/>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08</a:t>
            </a:r>
          </a:p>
        </p:txBody>
      </p:sp>
      <p:sp>
        <p:nvSpPr>
          <p:cNvPr id="7" name="Rounded Rectangle 6">
            <a:extLst>
              <a:ext uri="{FF2B5EF4-FFF2-40B4-BE49-F238E27FC236}">
                <a16:creationId xmlns:a16="http://schemas.microsoft.com/office/drawing/2014/main" id="{3864A6B2-722E-4A1F-98CF-EE5625BA45B7}"/>
              </a:ext>
            </a:extLst>
          </p:cNvPr>
          <p:cNvSpPr>
            <a:spLocks noGrp="1"/>
          </p:cNvSpPr>
          <p:nvPr/>
        </p:nvSpPr>
        <p:spPr>
          <a:xfrm>
            <a:off x="552450" y="895350"/>
            <a:ext cx="3533775" cy="2209800"/>
          </a:xfrm>
          <a:prstGeom prst="roundRect">
            <a:avLst>
              <a:gd name="adj" fmla="val 4310"/>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8" name="Picture 27"/>
          <p:cNvPicPr>
            <a:picLocks noChangeAspect="1"/>
          </p:cNvPicPr>
          <p:nvPr/>
        </p:nvPicPr>
        <p:blipFill>
          <a:blip r:embed="rId3"/>
          <a:stretch/>
        </p:blipFill>
        <p:spPr>
          <a:xfrm>
            <a:off x="628650" y="1239518"/>
            <a:ext cx="3381375" cy="1521463"/>
          </a:xfrm>
          <a:prstGeom prst="rect">
            <a:avLst/>
          </a:prstGeom>
        </p:spPr>
      </p:pic>
      <p:sp>
        <p:nvSpPr>
          <p:cNvPr id="9" name="Rounded Rectangle 8">
            <a:extLst>
              <a:ext uri="{FF2B5EF4-FFF2-40B4-BE49-F238E27FC236}">
                <a16:creationId xmlns:a16="http://schemas.microsoft.com/office/drawing/2014/main" id="{4DC61FCA-6B67-4626-9BFA-A899B426DDC3}"/>
              </a:ext>
            </a:extLst>
          </p:cNvPr>
          <p:cNvSpPr>
            <a:spLocks noGrp="1"/>
          </p:cNvSpPr>
          <p:nvPr/>
        </p:nvSpPr>
        <p:spPr>
          <a:xfrm>
            <a:off x="4286250" y="895350"/>
            <a:ext cx="3533775" cy="2209800"/>
          </a:xfrm>
          <a:prstGeom prst="roundRect">
            <a:avLst>
              <a:gd name="adj" fmla="val 4310"/>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0" name="Picture 29"/>
          <p:cNvPicPr>
            <a:picLocks noChangeAspect="1"/>
          </p:cNvPicPr>
          <p:nvPr/>
        </p:nvPicPr>
        <p:blipFill>
          <a:blip r:embed="rId4"/>
          <a:stretch/>
        </p:blipFill>
        <p:spPr>
          <a:xfrm>
            <a:off x="4362450" y="1239518"/>
            <a:ext cx="3381375" cy="1521463"/>
          </a:xfrm>
          <a:prstGeom prst="rect">
            <a:avLst/>
          </a:prstGeom>
        </p:spPr>
      </p:pic>
      <p:sp>
        <p:nvSpPr>
          <p:cNvPr id="11" name="Rounded Rectangle 10">
            <a:extLst>
              <a:ext uri="{FF2B5EF4-FFF2-40B4-BE49-F238E27FC236}">
                <a16:creationId xmlns:a16="http://schemas.microsoft.com/office/drawing/2014/main" id="{E160684D-2777-41FB-9FAA-7AB6C00EF77F}"/>
              </a:ext>
            </a:extLst>
          </p:cNvPr>
          <p:cNvSpPr>
            <a:spLocks noGrp="1"/>
          </p:cNvSpPr>
          <p:nvPr/>
        </p:nvSpPr>
        <p:spPr>
          <a:xfrm>
            <a:off x="8020050" y="895350"/>
            <a:ext cx="3533775" cy="2209800"/>
          </a:xfrm>
          <a:prstGeom prst="roundRect">
            <a:avLst>
              <a:gd name="adj" fmla="val 4310"/>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2" name="Picture 31"/>
          <p:cNvPicPr>
            <a:picLocks noChangeAspect="1"/>
          </p:cNvPicPr>
          <p:nvPr/>
        </p:nvPicPr>
        <p:blipFill>
          <a:blip r:embed="rId5"/>
          <a:stretch/>
        </p:blipFill>
        <p:spPr>
          <a:xfrm>
            <a:off x="8096250" y="1239518"/>
            <a:ext cx="3381375" cy="1521463"/>
          </a:xfrm>
          <a:prstGeom prst="rect">
            <a:avLst/>
          </a:prstGeom>
        </p:spPr>
      </p:pic>
      <p:sp>
        <p:nvSpPr>
          <p:cNvPr id="13" name="Rectangle 12">
            <a:extLst>
              <a:ext uri="{FF2B5EF4-FFF2-40B4-BE49-F238E27FC236}">
                <a16:creationId xmlns:a16="http://schemas.microsoft.com/office/drawing/2014/main" id="{EA254D57-F6EF-4B9E-A4A5-3F49B04BC44C}"/>
              </a:ext>
            </a:extLst>
          </p:cNvPr>
          <p:cNvSpPr>
            <a:spLocks noGrp="1"/>
          </p:cNvSpPr>
          <p:nvPr/>
        </p:nvSpPr>
        <p:spPr>
          <a:xfrm>
            <a:off x="685800" y="3486150"/>
            <a:ext cx="57150" cy="723900"/>
          </a:xfrm>
          <a:prstGeom prst="rect">
            <a:avLst/>
          </a:prstGeom>
          <a:solidFill>
            <a:srgbClr val="59A14F"/>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E325D5D8-00FB-4BDC-9B49-81C3552FB3B5}"/>
              </a:ext>
            </a:extLst>
          </p:cNvPr>
          <p:cNvSpPr>
            <a:spLocks noGrp="1"/>
          </p:cNvSpPr>
          <p:nvPr/>
        </p:nvSpPr>
        <p:spPr>
          <a:xfrm>
            <a:off x="914400" y="35623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Ledger scope</a:t>
            </a:r>
          </a:p>
        </p:txBody>
      </p:sp>
      <p:sp>
        <p:nvSpPr>
          <p:cNvPr id="15" name="Rectangle 14">
            <a:extLst>
              <a:ext uri="{FF2B5EF4-FFF2-40B4-BE49-F238E27FC236}">
                <a16:creationId xmlns:a16="http://schemas.microsoft.com/office/drawing/2014/main" id="{D6A1F05B-8893-4793-BB7B-549FE249692B}"/>
              </a:ext>
            </a:extLst>
          </p:cNvPr>
          <p:cNvSpPr>
            <a:spLocks noGrp="1"/>
          </p:cNvSpPr>
          <p:nvPr/>
        </p:nvSpPr>
        <p:spPr>
          <a:xfrm>
            <a:off x="3333750" y="3562350"/>
            <a:ext cx="7810500" cy="609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27,909 journal lines, 3,992 unique entries, 38 mapped accounts, seven countries and 9,660 P&amp;L rows support the analysis.</a:t>
            </a:r>
          </a:p>
        </p:txBody>
      </p:sp>
      <p:sp>
        <p:nvSpPr>
          <p:cNvPr id="16" name="Rectangle 15">
            <a:extLst>
              <a:ext uri="{FF2B5EF4-FFF2-40B4-BE49-F238E27FC236}">
                <a16:creationId xmlns:a16="http://schemas.microsoft.com/office/drawing/2014/main" id="{76EAFC87-D370-46FA-BDCB-EB9625639085}"/>
              </a:ext>
            </a:extLst>
          </p:cNvPr>
          <p:cNvSpPr>
            <a:spLocks noGrp="1"/>
          </p:cNvSpPr>
          <p:nvPr/>
        </p:nvSpPr>
        <p:spPr>
          <a:xfrm>
            <a:off x="685800" y="4438650"/>
            <a:ext cx="57150" cy="838200"/>
          </a:xfrm>
          <a:prstGeom prst="rect">
            <a:avLst/>
          </a:prstGeom>
          <a:solidFill>
            <a:srgbClr val="F97316"/>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519940C2-3437-40A7-8138-2C56C7EA99DF}"/>
              </a:ext>
            </a:extLst>
          </p:cNvPr>
          <p:cNvSpPr>
            <a:spLocks noGrp="1"/>
          </p:cNvSpPr>
          <p:nvPr/>
        </p:nvSpPr>
        <p:spPr>
          <a:xfrm>
            <a:off x="914400" y="45148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Monthly P&amp;L</a:t>
            </a:r>
          </a:p>
        </p:txBody>
      </p:sp>
      <p:sp>
        <p:nvSpPr>
          <p:cNvPr id="18" name="Rectangle 17">
            <a:extLst>
              <a:ext uri="{FF2B5EF4-FFF2-40B4-BE49-F238E27FC236}">
                <a16:creationId xmlns:a16="http://schemas.microsoft.com/office/drawing/2014/main" id="{F16A4EC1-D397-44E8-9200-4BDC1E82A55B}"/>
              </a:ext>
            </a:extLst>
          </p:cNvPr>
          <p:cNvSpPr>
            <a:spLocks noGrp="1"/>
          </p:cNvSpPr>
          <p:nvPr/>
        </p:nvSpPr>
        <p:spPr>
          <a:xfrm>
            <a:off x="3333750" y="4514850"/>
            <a:ext cx="7810500" cy="7239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Revenue and expenses are aggregated using the source sign convention; profit equals the monthly net P&amp;L movement and margin equals profit divided by revenue.</a:t>
            </a:r>
          </a:p>
        </p:txBody>
      </p:sp>
      <p:sp>
        <p:nvSpPr>
          <p:cNvPr id="19" name="Rounded Rectangle 18">
            <a:extLst>
              <a:ext uri="{FF2B5EF4-FFF2-40B4-BE49-F238E27FC236}">
                <a16:creationId xmlns:a16="http://schemas.microsoft.com/office/drawing/2014/main" id="{6C63D4EC-5B43-4A2A-9051-50CB9372CDB2}"/>
              </a:ext>
            </a:extLst>
          </p:cNvPr>
          <p:cNvSpPr>
            <a:spLocks noGrp="1"/>
          </p:cNvSpPr>
          <p:nvPr/>
        </p:nvSpPr>
        <p:spPr>
          <a:xfrm>
            <a:off x="685800" y="560070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20" name="Rectangle 19">
            <a:extLst>
              <a:ext uri="{FF2B5EF4-FFF2-40B4-BE49-F238E27FC236}">
                <a16:creationId xmlns:a16="http://schemas.microsoft.com/office/drawing/2014/main" id="{A45E35AE-C208-487F-B691-D19AF30C6DD0}"/>
              </a:ext>
            </a:extLst>
          </p:cNvPr>
          <p:cNvSpPr>
            <a:spLocks noGrp="1"/>
          </p:cNvSpPr>
          <p:nvPr/>
        </p:nvSpPr>
        <p:spPr>
          <a:xfrm>
            <a:off x="895350" y="5695950"/>
            <a:ext cx="10401300" cy="2667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Tree>
    <p:extLst>
      <p:ext uri="{BB962C8B-B14F-4D97-AF65-F5344CB8AC3E}">
        <p14:creationId xmlns:p14="http://schemas.microsoft.com/office/powerpoint/2010/main" val="1844525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4F50F8-16CB-4CB0-B586-8FD3ECABCD54}"/>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98D0D0D8-0EB5-4D46-81E0-5853FEFEBB1C}"/>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Quality rules preserved auditability and reconciled totals</a:t>
            </a:r>
          </a:p>
        </p:txBody>
      </p:sp>
      <p:sp>
        <p:nvSpPr>
          <p:cNvPr id="3" name="Rectangle 2">
            <a:extLst>
              <a:ext uri="{FF2B5EF4-FFF2-40B4-BE49-F238E27FC236}">
                <a16:creationId xmlns:a16="http://schemas.microsoft.com/office/drawing/2014/main" id="{8D06A542-999B-40EE-B150-A0E217D40EB2}"/>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JUPYTER VALIDATION</a:t>
            </a:r>
          </a:p>
        </p:txBody>
      </p:sp>
      <p:sp>
        <p:nvSpPr>
          <p:cNvPr id="4" name="Straight Connector 3">
            <a:extLst>
              <a:ext uri="{FF2B5EF4-FFF2-40B4-BE49-F238E27FC236}">
                <a16:creationId xmlns:a16="http://schemas.microsoft.com/office/drawing/2014/main" id="{04EABE49-1812-4728-8E5F-A1F8A3456E2E}"/>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E477140B-B50A-4AAB-B6F1-485AA0D62C2B}"/>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6D14ADCA-B4FE-4A7B-B9F6-E7F14F2EF52C}"/>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09</a:t>
            </a:r>
          </a:p>
        </p:txBody>
      </p:sp>
      <p:sp>
        <p:nvSpPr>
          <p:cNvPr id="7" name="Rectangle 6">
            <a:extLst>
              <a:ext uri="{FF2B5EF4-FFF2-40B4-BE49-F238E27FC236}">
                <a16:creationId xmlns:a16="http://schemas.microsoft.com/office/drawing/2014/main" id="{EB918407-B26F-44C1-9A56-D8F7E37B51D6}"/>
              </a:ext>
            </a:extLst>
          </p:cNvPr>
          <p:cNvSpPr>
            <a:spLocks noGrp="1"/>
          </p:cNvSpPr>
          <p:nvPr/>
        </p:nvSpPr>
        <p:spPr>
          <a:xfrm>
            <a:off x="685800" y="990600"/>
            <a:ext cx="57150" cy="895350"/>
          </a:xfrm>
          <a:prstGeom prst="rect">
            <a:avLst/>
          </a:prstGeom>
          <a:solidFill>
            <a:srgbClr val="4E79A7"/>
          </a:solidFill>
          <a:ln w="0">
            <a:noFill/>
            <a:prstDash val="solid"/>
          </a:ln>
        </p:spPr>
        <p:txBody>
          <a:bodyPr/>
          <a:lstStyle/>
          <a:p>
            <a:endParaRPr lang="en-US"/>
          </a:p>
        </p:txBody>
      </p:sp>
      <p:sp>
        <p:nvSpPr>
          <p:cNvPr id="8" name="Rectangle 7">
            <a:extLst>
              <a:ext uri="{FF2B5EF4-FFF2-40B4-BE49-F238E27FC236}">
                <a16:creationId xmlns:a16="http://schemas.microsoft.com/office/drawing/2014/main" id="{2E4AB42E-7CBE-4A7A-89DC-06C94C85829C}"/>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OTC checks</a:t>
            </a:r>
          </a:p>
        </p:txBody>
      </p:sp>
      <p:sp>
        <p:nvSpPr>
          <p:cNvPr id="9" name="Rectangle 8">
            <a:extLst>
              <a:ext uri="{FF2B5EF4-FFF2-40B4-BE49-F238E27FC236}">
                <a16:creationId xmlns:a16="http://schemas.microsoft.com/office/drawing/2014/main" id="{28305C32-97C8-482D-A9A5-B5E7AF687295}"/>
              </a:ext>
            </a:extLst>
          </p:cNvPr>
          <p:cNvSpPr>
            <a:spLocks noGrp="1"/>
          </p:cNvSpPr>
          <p:nvPr/>
        </p:nvSpPr>
        <p:spPr>
          <a:xfrm>
            <a:off x="3333750" y="1066800"/>
            <a:ext cx="7810500" cy="781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No duplicate documents, invalid date sequences, payment-delay mismatches, missing amounts or missing customer numbers were flagged.</a:t>
            </a:r>
          </a:p>
        </p:txBody>
      </p:sp>
      <p:sp>
        <p:nvSpPr>
          <p:cNvPr id="10" name="Rectangle 9">
            <a:extLst>
              <a:ext uri="{FF2B5EF4-FFF2-40B4-BE49-F238E27FC236}">
                <a16:creationId xmlns:a16="http://schemas.microsoft.com/office/drawing/2014/main" id="{959C19B8-FD07-4534-8A89-457C57DCB8FC}"/>
              </a:ext>
            </a:extLst>
          </p:cNvPr>
          <p:cNvSpPr>
            <a:spLocks noGrp="1"/>
          </p:cNvSpPr>
          <p:nvPr/>
        </p:nvSpPr>
        <p:spPr>
          <a:xfrm>
            <a:off x="685800" y="2114550"/>
            <a:ext cx="57150" cy="1028700"/>
          </a:xfrm>
          <a:prstGeom prst="rect">
            <a:avLst/>
          </a:prstGeom>
          <a:solidFill>
            <a:srgbClr val="F97316"/>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3C53A60-D303-4C6E-9486-96DDA8C8B029}"/>
              </a:ext>
            </a:extLst>
          </p:cNvPr>
          <p:cNvSpPr>
            <a:spLocks noGrp="1"/>
          </p:cNvSpPr>
          <p:nvPr/>
        </p:nvSpPr>
        <p:spPr>
          <a:xfrm>
            <a:off x="914400" y="21907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PTP decision</a:t>
            </a:r>
          </a:p>
        </p:txBody>
      </p:sp>
      <p:sp>
        <p:nvSpPr>
          <p:cNvPr id="12" name="Rectangle 11">
            <a:extLst>
              <a:ext uri="{FF2B5EF4-FFF2-40B4-BE49-F238E27FC236}">
                <a16:creationId xmlns:a16="http://schemas.microsoft.com/office/drawing/2014/main" id="{48CE56E7-8BBD-4120-8AFB-60FD1AF03FA4}"/>
              </a:ext>
            </a:extLst>
          </p:cNvPr>
          <p:cNvSpPr>
            <a:spLocks noGrp="1"/>
          </p:cNvSpPr>
          <p:nvPr/>
        </p:nvSpPr>
        <p:spPr>
          <a:xfrm>
            <a:off x="3333750" y="2190750"/>
            <a:ext cx="7810500" cy="9144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13,425 zero/invalid-spend rows and 1,598 missing materials were identified. Missing material keys were later mapped to an explicit UNKNOWN member in SQL.</a:t>
            </a:r>
          </a:p>
        </p:txBody>
      </p:sp>
      <p:sp>
        <p:nvSpPr>
          <p:cNvPr id="13" name="Rectangle 12">
            <a:extLst>
              <a:ext uri="{FF2B5EF4-FFF2-40B4-BE49-F238E27FC236}">
                <a16:creationId xmlns:a16="http://schemas.microsoft.com/office/drawing/2014/main" id="{9D47BD18-A021-4B44-8486-6EAAE6609CED}"/>
              </a:ext>
            </a:extLst>
          </p:cNvPr>
          <p:cNvSpPr>
            <a:spLocks noGrp="1"/>
          </p:cNvSpPr>
          <p:nvPr/>
        </p:nvSpPr>
        <p:spPr>
          <a:xfrm>
            <a:off x="685800" y="3371850"/>
            <a:ext cx="57150" cy="895350"/>
          </a:xfrm>
          <a:prstGeom prst="rect">
            <a:avLst/>
          </a:prstGeom>
          <a:solidFill>
            <a:srgbClr val="59A14F"/>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636BA727-E9B3-444B-B077-B23A3C57DC16}"/>
              </a:ext>
            </a:extLst>
          </p:cNvPr>
          <p:cNvSpPr>
            <a:spLocks noGrp="1"/>
          </p:cNvSpPr>
          <p:nvPr/>
        </p:nvSpPr>
        <p:spPr>
          <a:xfrm>
            <a:off x="914400" y="34480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RTR screening</a:t>
            </a:r>
          </a:p>
        </p:txBody>
      </p:sp>
      <p:sp>
        <p:nvSpPr>
          <p:cNvPr id="15" name="Rectangle 14">
            <a:extLst>
              <a:ext uri="{FF2B5EF4-FFF2-40B4-BE49-F238E27FC236}">
                <a16:creationId xmlns:a16="http://schemas.microsoft.com/office/drawing/2014/main" id="{9FE7F53E-43EB-4727-8503-C09A823007ED}"/>
              </a:ext>
            </a:extLst>
          </p:cNvPr>
          <p:cNvSpPr>
            <a:spLocks noGrp="1"/>
          </p:cNvSpPr>
          <p:nvPr/>
        </p:nvSpPr>
        <p:spPr>
          <a:xfrm>
            <a:off x="3333750" y="3448050"/>
            <a:ext cx="7810500" cy="781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Account-relative 99th-percentile logic flagged 385 large journals for investigation without treating them as automatic errors.</a:t>
            </a:r>
          </a:p>
        </p:txBody>
      </p:sp>
      <p:sp>
        <p:nvSpPr>
          <p:cNvPr id="16" name="Rectangle 15">
            <a:extLst>
              <a:ext uri="{FF2B5EF4-FFF2-40B4-BE49-F238E27FC236}">
                <a16:creationId xmlns:a16="http://schemas.microsoft.com/office/drawing/2014/main" id="{4DDF4113-E649-4B95-9CDF-12D16AEAEF05}"/>
              </a:ext>
            </a:extLst>
          </p:cNvPr>
          <p:cNvSpPr>
            <a:spLocks noGrp="1"/>
          </p:cNvSpPr>
          <p:nvPr/>
        </p:nvSpPr>
        <p:spPr>
          <a:xfrm>
            <a:off x="685800" y="4495800"/>
            <a:ext cx="57150" cy="990600"/>
          </a:xfrm>
          <a:prstGeom prst="rect">
            <a:avLst/>
          </a:prstGeom>
          <a:solidFill>
            <a:srgbClr val="C2410C"/>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913BC7ED-D4B3-4000-A56B-DD311A91DCEE}"/>
              </a:ext>
            </a:extLst>
          </p:cNvPr>
          <p:cNvSpPr>
            <a:spLocks noGrp="1"/>
          </p:cNvSpPr>
          <p:nvPr/>
        </p:nvSpPr>
        <p:spPr>
          <a:xfrm>
            <a:off x="914400" y="45720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Reconciliation</a:t>
            </a:r>
          </a:p>
        </p:txBody>
      </p:sp>
      <p:sp>
        <p:nvSpPr>
          <p:cNvPr id="18" name="Rectangle 17">
            <a:extLst>
              <a:ext uri="{FF2B5EF4-FFF2-40B4-BE49-F238E27FC236}">
                <a16:creationId xmlns:a16="http://schemas.microsoft.com/office/drawing/2014/main" id="{9B8E7F9B-A579-479B-B85D-E60F212178E7}"/>
              </a:ext>
            </a:extLst>
          </p:cNvPr>
          <p:cNvSpPr>
            <a:spLocks noGrp="1"/>
          </p:cNvSpPr>
          <p:nvPr/>
        </p:nvSpPr>
        <p:spPr>
          <a:xfrm>
            <a:off x="3333750" y="4572000"/>
            <a:ext cx="7810500" cy="876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OTC £816.26M, PTP £24.00B valid spend and RTR £24.64M net movement all reconcile with a zero difference between source and processed facts.</a:t>
            </a:r>
          </a:p>
        </p:txBody>
      </p:sp>
      <p:sp>
        <p:nvSpPr>
          <p:cNvPr id="19" name="Rounded Rectangle 18">
            <a:extLst>
              <a:ext uri="{FF2B5EF4-FFF2-40B4-BE49-F238E27FC236}">
                <a16:creationId xmlns:a16="http://schemas.microsoft.com/office/drawing/2014/main" id="{A15C7CBC-C230-40D1-BDF4-B39EFDD90026}"/>
              </a:ext>
            </a:extLst>
          </p:cNvPr>
          <p:cNvSpPr>
            <a:spLocks noGrp="1"/>
          </p:cNvSpPr>
          <p:nvPr/>
        </p:nvSpPr>
        <p:spPr>
          <a:xfrm>
            <a:off x="685800" y="56959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20" name="Rectangle 19">
            <a:extLst>
              <a:ext uri="{FF2B5EF4-FFF2-40B4-BE49-F238E27FC236}">
                <a16:creationId xmlns:a16="http://schemas.microsoft.com/office/drawing/2014/main" id="{012C4C85-AA40-4799-912F-76C9B22C118E}"/>
              </a:ext>
            </a:extLst>
          </p:cNvPr>
          <p:cNvSpPr>
            <a:spLocks noGrp="1"/>
          </p:cNvSpPr>
          <p:nvPr/>
        </p:nvSpPr>
        <p:spPr>
          <a:xfrm>
            <a:off x="895350" y="5791200"/>
            <a:ext cx="10401300" cy="266700"/>
          </a:xfrm>
          <a:prstGeom prst="rect">
            <a:avLst/>
          </a:prstGeom>
          <a:noFill/>
          <a:ln w="0">
            <a:noFill/>
            <a:prstDash val="solid"/>
          </a:ln>
        </p:spPr>
        <p:txBody>
          <a:bodyPr/>
          <a:lstStyle/>
          <a:p>
            <a:pPr algn="l">
              <a:defRPr sz="1400" b="1" i="0">
                <a:solidFill>
                  <a:srgbClr val="C2410C"/>
                </a:solidFill>
              </a:defRPr>
            </a:pPr>
            <a:endParaRPr sz="1400" b="1" i="0" dirty="0">
              <a:solidFill>
                <a:srgbClr val="C2410C"/>
              </a:solidFill>
            </a:endParaRPr>
          </a:p>
        </p:txBody>
      </p:sp>
    </p:spTree>
    <p:extLst>
      <p:ext uri="{BB962C8B-B14F-4D97-AF65-F5344CB8AC3E}">
        <p14:creationId xmlns:p14="http://schemas.microsoft.com/office/powerpoint/2010/main" val="1898407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B075F0C-6D08-4B30-85F8-4417F5CB40F3}"/>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3520D316-BD85-4F9E-8A3D-4F0D08DF814E}"/>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Chronological forecasting favored a simple linear model</a:t>
            </a:r>
          </a:p>
        </p:txBody>
      </p:sp>
      <p:sp>
        <p:nvSpPr>
          <p:cNvPr id="3" name="Rectangle 2">
            <a:extLst>
              <a:ext uri="{FF2B5EF4-FFF2-40B4-BE49-F238E27FC236}">
                <a16:creationId xmlns:a16="http://schemas.microsoft.com/office/drawing/2014/main" id="{2F728DDA-A04A-4CFF-9B89-28D78D526896}"/>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JUPYTER MODELLING</a:t>
            </a:r>
          </a:p>
        </p:txBody>
      </p:sp>
      <p:sp>
        <p:nvSpPr>
          <p:cNvPr id="4" name="Straight Connector 3">
            <a:extLst>
              <a:ext uri="{FF2B5EF4-FFF2-40B4-BE49-F238E27FC236}">
                <a16:creationId xmlns:a16="http://schemas.microsoft.com/office/drawing/2014/main" id="{8AB870F6-952E-4EA2-BFA0-EF4CA6773986}"/>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58BC9880-A808-406A-BE4E-6949E131E732}"/>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80225C25-8EDD-4163-A650-28E04A96FAAA}"/>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10</a:t>
            </a:r>
          </a:p>
        </p:txBody>
      </p:sp>
      <p:sp>
        <p:nvSpPr>
          <p:cNvPr id="7" name="Rounded Rectangle 6">
            <a:extLst>
              <a:ext uri="{FF2B5EF4-FFF2-40B4-BE49-F238E27FC236}">
                <a16:creationId xmlns:a16="http://schemas.microsoft.com/office/drawing/2014/main" id="{9DA4863C-B1E1-4F77-AB08-D04A67FAF1B7}"/>
              </a:ext>
            </a:extLst>
          </p:cNvPr>
          <p:cNvSpPr>
            <a:spLocks noGrp="1"/>
          </p:cNvSpPr>
          <p:nvPr/>
        </p:nvSpPr>
        <p:spPr>
          <a:xfrm>
            <a:off x="552450" y="857250"/>
            <a:ext cx="5391150" cy="2628900"/>
          </a:xfrm>
          <a:prstGeom prst="roundRect">
            <a:avLst>
              <a:gd name="adj" fmla="val 3623"/>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4" name="Picture 23"/>
          <p:cNvPicPr>
            <a:picLocks noChangeAspect="1"/>
          </p:cNvPicPr>
          <p:nvPr/>
        </p:nvPicPr>
        <p:blipFill>
          <a:blip r:embed="rId3"/>
          <a:stretch/>
        </p:blipFill>
        <p:spPr>
          <a:xfrm>
            <a:off x="628650" y="993102"/>
            <a:ext cx="5238750" cy="2357197"/>
          </a:xfrm>
          <a:prstGeom prst="rect">
            <a:avLst/>
          </a:prstGeom>
        </p:spPr>
      </p:pic>
      <p:sp>
        <p:nvSpPr>
          <p:cNvPr id="9" name="Rounded Rectangle 8">
            <a:extLst>
              <a:ext uri="{FF2B5EF4-FFF2-40B4-BE49-F238E27FC236}">
                <a16:creationId xmlns:a16="http://schemas.microsoft.com/office/drawing/2014/main" id="{3F7DA650-6585-452D-8A8B-666B53C3C06A}"/>
              </a:ext>
            </a:extLst>
          </p:cNvPr>
          <p:cNvSpPr>
            <a:spLocks noGrp="1"/>
          </p:cNvSpPr>
          <p:nvPr/>
        </p:nvSpPr>
        <p:spPr>
          <a:xfrm>
            <a:off x="6096000" y="857250"/>
            <a:ext cx="5105400" cy="2628900"/>
          </a:xfrm>
          <a:prstGeom prst="roundRect">
            <a:avLst>
              <a:gd name="adj" fmla="val 3623"/>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6" name="Picture 25"/>
          <p:cNvPicPr>
            <a:picLocks noChangeAspect="1"/>
          </p:cNvPicPr>
          <p:nvPr/>
        </p:nvPicPr>
        <p:blipFill>
          <a:blip r:embed="rId4"/>
          <a:stretch/>
        </p:blipFill>
        <p:spPr>
          <a:xfrm>
            <a:off x="6172200" y="1057389"/>
            <a:ext cx="4953000" cy="2228623"/>
          </a:xfrm>
          <a:prstGeom prst="rect">
            <a:avLst/>
          </a:prstGeom>
        </p:spPr>
      </p:pic>
      <p:sp>
        <p:nvSpPr>
          <p:cNvPr id="11" name="Rectangle 10">
            <a:extLst>
              <a:ext uri="{FF2B5EF4-FFF2-40B4-BE49-F238E27FC236}">
                <a16:creationId xmlns:a16="http://schemas.microsoft.com/office/drawing/2014/main" id="{BA5CCC12-D269-41F5-8FCB-3F4C4D9F1514}"/>
              </a:ext>
            </a:extLst>
          </p:cNvPr>
          <p:cNvSpPr>
            <a:spLocks noGrp="1"/>
          </p:cNvSpPr>
          <p:nvPr/>
        </p:nvSpPr>
        <p:spPr>
          <a:xfrm>
            <a:off x="685800" y="3829050"/>
            <a:ext cx="57150" cy="838200"/>
          </a:xfrm>
          <a:prstGeom prst="rect">
            <a:avLst/>
          </a:prstGeom>
          <a:solidFill>
            <a:srgbClr val="F9731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B5B1507A-5617-4AB1-A117-030FB3E7CD4E}"/>
              </a:ext>
            </a:extLst>
          </p:cNvPr>
          <p:cNvSpPr>
            <a:spLocks noGrp="1"/>
          </p:cNvSpPr>
          <p:nvPr/>
        </p:nvSpPr>
        <p:spPr>
          <a:xfrm>
            <a:off x="914400" y="39052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Validation design</a:t>
            </a:r>
          </a:p>
        </p:txBody>
      </p:sp>
      <p:sp>
        <p:nvSpPr>
          <p:cNvPr id="13" name="Rectangle 12">
            <a:extLst>
              <a:ext uri="{FF2B5EF4-FFF2-40B4-BE49-F238E27FC236}">
                <a16:creationId xmlns:a16="http://schemas.microsoft.com/office/drawing/2014/main" id="{20263AD6-856F-4CB4-B31B-5E595F5BD9BB}"/>
              </a:ext>
            </a:extLst>
          </p:cNvPr>
          <p:cNvSpPr>
            <a:spLocks noGrp="1"/>
          </p:cNvSpPr>
          <p:nvPr/>
        </p:nvSpPr>
        <p:spPr>
          <a:xfrm>
            <a:off x="3333750" y="3905250"/>
            <a:ext cx="7810500" cy="7239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most recent six months of 2020 were held out. Lagged revenue, rolling averages, trend and seasonal features were created from historical data only.</a:t>
            </a:r>
          </a:p>
        </p:txBody>
      </p:sp>
      <p:sp>
        <p:nvSpPr>
          <p:cNvPr id="14" name="Rectangle 13">
            <a:extLst>
              <a:ext uri="{FF2B5EF4-FFF2-40B4-BE49-F238E27FC236}">
                <a16:creationId xmlns:a16="http://schemas.microsoft.com/office/drawing/2014/main" id="{E1F456C5-ED00-4AB2-BF8B-900914770307}"/>
              </a:ext>
            </a:extLst>
          </p:cNvPr>
          <p:cNvSpPr>
            <a:spLocks noGrp="1"/>
          </p:cNvSpPr>
          <p:nvPr/>
        </p:nvSpPr>
        <p:spPr>
          <a:xfrm>
            <a:off x="685800" y="4857750"/>
            <a:ext cx="57150" cy="876300"/>
          </a:xfrm>
          <a:prstGeom prst="rect">
            <a:avLst/>
          </a:prstGeom>
          <a:solidFill>
            <a:srgbClr val="C2410C"/>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971B4DA6-4276-498C-B1E0-AFD8A55F6707}"/>
              </a:ext>
            </a:extLst>
          </p:cNvPr>
          <p:cNvSpPr>
            <a:spLocks noGrp="1"/>
          </p:cNvSpPr>
          <p:nvPr/>
        </p:nvSpPr>
        <p:spPr>
          <a:xfrm>
            <a:off x="914400" y="493395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Result</a:t>
            </a:r>
          </a:p>
        </p:txBody>
      </p:sp>
      <p:sp>
        <p:nvSpPr>
          <p:cNvPr id="16" name="Rectangle 15">
            <a:extLst>
              <a:ext uri="{FF2B5EF4-FFF2-40B4-BE49-F238E27FC236}">
                <a16:creationId xmlns:a16="http://schemas.microsoft.com/office/drawing/2014/main" id="{F2B1DE34-0812-4402-A7BE-711109D7896C}"/>
              </a:ext>
            </a:extLst>
          </p:cNvPr>
          <p:cNvSpPr>
            <a:spLocks noGrp="1"/>
          </p:cNvSpPr>
          <p:nvPr/>
        </p:nvSpPr>
        <p:spPr>
          <a:xfrm>
            <a:off x="3333750" y="4933950"/>
            <a:ext cx="7810500" cy="762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Linear Regression achieved RMSE 153.8K, improving 21.17% on the naive baseline. Random Forest underperformed, illustrating the limits of a small 30-month modelling set.</a:t>
            </a:r>
          </a:p>
        </p:txBody>
      </p:sp>
    </p:spTree>
    <p:extLst>
      <p:ext uri="{BB962C8B-B14F-4D97-AF65-F5344CB8AC3E}">
        <p14:creationId xmlns:p14="http://schemas.microsoft.com/office/powerpoint/2010/main" val="2086787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19A22E8-E820-4766-8004-BE6273DE021C}"/>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BC662138-C2F2-417B-9D0B-0977FC3CCE36}"/>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PostgreSQL separated modelling from reporting</a:t>
            </a:r>
          </a:p>
        </p:txBody>
      </p:sp>
      <p:sp>
        <p:nvSpPr>
          <p:cNvPr id="3" name="Rectangle 2">
            <a:extLst>
              <a:ext uri="{FF2B5EF4-FFF2-40B4-BE49-F238E27FC236}">
                <a16:creationId xmlns:a16="http://schemas.microsoft.com/office/drawing/2014/main" id="{9ACA67DD-88DB-4BA1-BFDB-673AC0CE18E6}"/>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a:t>
            </a:r>
          </a:p>
        </p:txBody>
      </p:sp>
      <p:sp>
        <p:nvSpPr>
          <p:cNvPr id="4" name="Straight Connector 3">
            <a:extLst>
              <a:ext uri="{FF2B5EF4-FFF2-40B4-BE49-F238E27FC236}">
                <a16:creationId xmlns:a16="http://schemas.microsoft.com/office/drawing/2014/main" id="{9E5A2C35-7F80-45AD-893E-9A89FFBA77D9}"/>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7ACE7C38-434F-4045-ADA5-6A498DAF0152}"/>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785D128C-482F-49A5-A7A0-26162B45D572}"/>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11</a:t>
            </a:r>
          </a:p>
        </p:txBody>
      </p:sp>
      <p:sp>
        <p:nvSpPr>
          <p:cNvPr id="7" name="Right Arrow 6">
            <a:extLst>
              <a:ext uri="{FF2B5EF4-FFF2-40B4-BE49-F238E27FC236}">
                <a16:creationId xmlns:a16="http://schemas.microsoft.com/office/drawing/2014/main" id="{990FBEF9-1CF3-4DA3-8939-11D0E4B1ADC4}"/>
              </a:ext>
            </a:extLst>
          </p:cNvPr>
          <p:cNvSpPr>
            <a:spLocks noGrp="1"/>
          </p:cNvSpPr>
          <p:nvPr/>
        </p:nvSpPr>
        <p:spPr>
          <a:xfrm>
            <a:off x="2724150" y="2667000"/>
            <a:ext cx="895350" cy="361950"/>
          </a:xfrm>
          <a:prstGeom prst="rightArrow">
            <a:avLst/>
          </a:prstGeom>
          <a:solidFill>
            <a:srgbClr val="FDBA74"/>
          </a:solidFill>
          <a:ln w="9525">
            <a:solidFill>
              <a:srgbClr val="F97316"/>
            </a:solidFill>
            <a:prstDash val="solid"/>
          </a:ln>
        </p:spPr>
        <p:txBody>
          <a:bodyPr/>
          <a:lstStyle/>
          <a:p>
            <a:endParaRPr lang="en-US"/>
          </a:p>
        </p:txBody>
      </p:sp>
      <p:sp>
        <p:nvSpPr>
          <p:cNvPr id="8" name="Right Arrow 7">
            <a:extLst>
              <a:ext uri="{FF2B5EF4-FFF2-40B4-BE49-F238E27FC236}">
                <a16:creationId xmlns:a16="http://schemas.microsoft.com/office/drawing/2014/main" id="{B6F25E18-91BE-4315-AE13-CE1BABB8085F}"/>
              </a:ext>
            </a:extLst>
          </p:cNvPr>
          <p:cNvSpPr>
            <a:spLocks noGrp="1"/>
          </p:cNvSpPr>
          <p:nvPr/>
        </p:nvSpPr>
        <p:spPr>
          <a:xfrm>
            <a:off x="5486400" y="2667000"/>
            <a:ext cx="895350" cy="361950"/>
          </a:xfrm>
          <a:prstGeom prst="rightArrow">
            <a:avLst/>
          </a:prstGeom>
          <a:solidFill>
            <a:srgbClr val="FDBA74"/>
          </a:solidFill>
          <a:ln w="9525">
            <a:solidFill>
              <a:srgbClr val="F97316"/>
            </a:solidFill>
            <a:prstDash val="solid"/>
          </a:ln>
        </p:spPr>
        <p:txBody>
          <a:bodyPr/>
          <a:lstStyle/>
          <a:p>
            <a:endParaRPr lang="en-US"/>
          </a:p>
        </p:txBody>
      </p:sp>
      <p:sp>
        <p:nvSpPr>
          <p:cNvPr id="9" name="Right Arrow 8">
            <a:extLst>
              <a:ext uri="{FF2B5EF4-FFF2-40B4-BE49-F238E27FC236}">
                <a16:creationId xmlns:a16="http://schemas.microsoft.com/office/drawing/2014/main" id="{E3AE1C7A-8174-4851-B0F0-7B92AA43179C}"/>
              </a:ext>
            </a:extLst>
          </p:cNvPr>
          <p:cNvSpPr>
            <a:spLocks noGrp="1"/>
          </p:cNvSpPr>
          <p:nvPr/>
        </p:nvSpPr>
        <p:spPr>
          <a:xfrm>
            <a:off x="8248650" y="2667000"/>
            <a:ext cx="895350" cy="361950"/>
          </a:xfrm>
          <a:prstGeom prst="rightArrow">
            <a:avLst/>
          </a:prstGeom>
          <a:solidFill>
            <a:srgbClr val="FDBA74"/>
          </a:solidFill>
          <a:ln w="9525">
            <a:solidFill>
              <a:srgbClr val="F97316"/>
            </a:solidFill>
            <a:prstDash val="solid"/>
          </a:ln>
        </p:spPr>
        <p:txBody>
          <a:bodyPr/>
          <a:lstStyle/>
          <a:p>
            <a:endParaRPr lang="en-US"/>
          </a:p>
        </p:txBody>
      </p:sp>
      <p:sp>
        <p:nvSpPr>
          <p:cNvPr id="10" name="Rounded Rectangle 9">
            <a:extLst>
              <a:ext uri="{FF2B5EF4-FFF2-40B4-BE49-F238E27FC236}">
                <a16:creationId xmlns:a16="http://schemas.microsoft.com/office/drawing/2014/main" id="{F238181B-63B6-48D0-8201-3D013DC99B87}"/>
              </a:ext>
            </a:extLst>
          </p:cNvPr>
          <p:cNvSpPr>
            <a:spLocks noGrp="1"/>
          </p:cNvSpPr>
          <p:nvPr/>
        </p:nvSpPr>
        <p:spPr>
          <a:xfrm>
            <a:off x="876300" y="1924050"/>
            <a:ext cx="1885950" cy="1866900"/>
          </a:xfrm>
          <a:prstGeom prst="roundRect">
            <a:avLst>
              <a:gd name="adj" fmla="val 612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10">
            <a:extLst>
              <a:ext uri="{FF2B5EF4-FFF2-40B4-BE49-F238E27FC236}">
                <a16:creationId xmlns:a16="http://schemas.microsoft.com/office/drawing/2014/main" id="{DFDF41BE-45A8-40B8-B1D5-4FA33CED237C}"/>
              </a:ext>
            </a:extLst>
          </p:cNvPr>
          <p:cNvSpPr>
            <a:spLocks noGrp="1"/>
          </p:cNvSpPr>
          <p:nvPr/>
        </p:nvSpPr>
        <p:spPr>
          <a:xfrm>
            <a:off x="1066800" y="2209800"/>
            <a:ext cx="1504950" cy="266700"/>
          </a:xfrm>
          <a:prstGeom prst="rect">
            <a:avLst/>
          </a:prstGeom>
          <a:noFill/>
          <a:ln w="0">
            <a:noFill/>
            <a:prstDash val="solid"/>
          </a:ln>
        </p:spPr>
        <p:txBody>
          <a:bodyPr/>
          <a:lstStyle/>
          <a:p>
            <a:pPr algn="ctr">
              <a:defRPr sz="1400" b="1" i="0">
                <a:solidFill>
                  <a:srgbClr val="252525"/>
                </a:solidFill>
              </a:defRPr>
            </a:pPr>
            <a:r>
              <a:rPr sz="1400" b="1" i="0">
                <a:solidFill>
                  <a:srgbClr val="252525"/>
                </a:solidFill>
              </a:rPr>
              <a:t>STAGING</a:t>
            </a:r>
          </a:p>
        </p:txBody>
      </p:sp>
      <p:sp>
        <p:nvSpPr>
          <p:cNvPr id="12" name="Rectangle 11">
            <a:extLst>
              <a:ext uri="{FF2B5EF4-FFF2-40B4-BE49-F238E27FC236}">
                <a16:creationId xmlns:a16="http://schemas.microsoft.com/office/drawing/2014/main" id="{8ED0499F-3D4A-4D0D-98FF-73F4D9D3E7ED}"/>
              </a:ext>
            </a:extLst>
          </p:cNvPr>
          <p:cNvSpPr>
            <a:spLocks noGrp="1"/>
          </p:cNvSpPr>
          <p:nvPr/>
        </p:nvSpPr>
        <p:spPr>
          <a:xfrm>
            <a:off x="1066800" y="2743200"/>
            <a:ext cx="1504950" cy="781050"/>
          </a:xfrm>
          <a:prstGeom prst="rect">
            <a:avLst/>
          </a:prstGeom>
          <a:noFill/>
          <a:ln w="0">
            <a:noFill/>
            <a:prstDash val="solid"/>
          </a:ln>
        </p:spPr>
        <p:txBody>
          <a:bodyPr/>
          <a:lstStyle/>
          <a:p>
            <a:pPr algn="ctr">
              <a:defRPr sz="1400" b="0" i="0">
                <a:solidFill>
                  <a:srgbClr val="666666"/>
                </a:solidFill>
              </a:defRPr>
            </a:pPr>
            <a:r>
              <a:rPr sz="1400" b="0" i="0">
                <a:solidFill>
                  <a:srgbClr val="666666"/>
                </a:solidFill>
              </a:rPr>
              <a:t>Optional intermediate</a:t>
            </a:r>
          </a:p>
          <a:p>
            <a:pPr algn="ctr">
              <a:defRPr sz="1400" b="0" i="0">
                <a:solidFill>
                  <a:srgbClr val="666666"/>
                </a:solidFill>
              </a:defRPr>
            </a:pPr>
            <a:r>
              <a:rPr sz="1400" b="0" i="0">
                <a:solidFill>
                  <a:srgbClr val="666666"/>
                </a:solidFill>
              </a:rPr>
              <a:t>cleaning and load area</a:t>
            </a:r>
          </a:p>
        </p:txBody>
      </p:sp>
      <p:sp>
        <p:nvSpPr>
          <p:cNvPr id="13" name="Rounded Rectangle 12">
            <a:extLst>
              <a:ext uri="{FF2B5EF4-FFF2-40B4-BE49-F238E27FC236}">
                <a16:creationId xmlns:a16="http://schemas.microsoft.com/office/drawing/2014/main" id="{F826396C-EEC7-437E-8141-ECE5FE9D092E}"/>
              </a:ext>
            </a:extLst>
          </p:cNvPr>
          <p:cNvSpPr>
            <a:spLocks noGrp="1"/>
          </p:cNvSpPr>
          <p:nvPr/>
        </p:nvSpPr>
        <p:spPr>
          <a:xfrm>
            <a:off x="3638550" y="1924050"/>
            <a:ext cx="1885950" cy="1866900"/>
          </a:xfrm>
          <a:prstGeom prst="roundRect">
            <a:avLst>
              <a:gd name="adj" fmla="val 612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4" name="Rectangle 13">
            <a:extLst>
              <a:ext uri="{FF2B5EF4-FFF2-40B4-BE49-F238E27FC236}">
                <a16:creationId xmlns:a16="http://schemas.microsoft.com/office/drawing/2014/main" id="{BBD7FBE2-8836-4A1C-ABAD-EADF0CDC5504}"/>
              </a:ext>
            </a:extLst>
          </p:cNvPr>
          <p:cNvSpPr>
            <a:spLocks noGrp="1"/>
          </p:cNvSpPr>
          <p:nvPr/>
        </p:nvSpPr>
        <p:spPr>
          <a:xfrm>
            <a:off x="3829050" y="2209800"/>
            <a:ext cx="1504950" cy="266700"/>
          </a:xfrm>
          <a:prstGeom prst="rect">
            <a:avLst/>
          </a:prstGeom>
          <a:noFill/>
          <a:ln w="0">
            <a:noFill/>
            <a:prstDash val="solid"/>
          </a:ln>
        </p:spPr>
        <p:txBody>
          <a:bodyPr/>
          <a:lstStyle/>
          <a:p>
            <a:pPr algn="ctr">
              <a:defRPr sz="1400" b="1" i="0">
                <a:solidFill>
                  <a:srgbClr val="252525"/>
                </a:solidFill>
              </a:defRPr>
            </a:pPr>
            <a:r>
              <a:rPr sz="1400" b="1" i="0">
                <a:solidFill>
                  <a:srgbClr val="252525"/>
                </a:solidFill>
              </a:rPr>
              <a:t>CORE</a:t>
            </a:r>
          </a:p>
        </p:txBody>
      </p:sp>
      <p:sp>
        <p:nvSpPr>
          <p:cNvPr id="15" name="Rectangle 14">
            <a:extLst>
              <a:ext uri="{FF2B5EF4-FFF2-40B4-BE49-F238E27FC236}">
                <a16:creationId xmlns:a16="http://schemas.microsoft.com/office/drawing/2014/main" id="{DD6E23E6-CD09-456F-8937-FA2E20D28879}"/>
              </a:ext>
            </a:extLst>
          </p:cNvPr>
          <p:cNvSpPr>
            <a:spLocks noGrp="1"/>
          </p:cNvSpPr>
          <p:nvPr/>
        </p:nvSpPr>
        <p:spPr>
          <a:xfrm>
            <a:off x="3829050" y="2743200"/>
            <a:ext cx="1504950" cy="781050"/>
          </a:xfrm>
          <a:prstGeom prst="rect">
            <a:avLst/>
          </a:prstGeom>
          <a:noFill/>
          <a:ln w="0">
            <a:noFill/>
            <a:prstDash val="solid"/>
          </a:ln>
        </p:spPr>
        <p:txBody>
          <a:bodyPr/>
          <a:lstStyle/>
          <a:p>
            <a:pPr algn="ctr">
              <a:defRPr sz="1400" b="0" i="0">
                <a:solidFill>
                  <a:srgbClr val="666666"/>
                </a:solidFill>
              </a:defRPr>
            </a:pPr>
            <a:r>
              <a:rPr sz="1400" b="0" i="0">
                <a:solidFill>
                  <a:srgbClr val="666666"/>
                </a:solidFill>
              </a:rPr>
              <a:t>5 dimensions</a:t>
            </a:r>
          </a:p>
          <a:p>
            <a:pPr algn="ctr">
              <a:defRPr sz="1400" b="0" i="0">
                <a:solidFill>
                  <a:srgbClr val="666666"/>
                </a:solidFill>
              </a:defRPr>
            </a:pPr>
            <a:r>
              <a:rPr sz="1400" b="0" i="0">
                <a:solidFill>
                  <a:srgbClr val="666666"/>
                </a:solidFill>
              </a:rPr>
              <a:t>3 transaction facts</a:t>
            </a:r>
          </a:p>
          <a:p>
            <a:pPr algn="ctr">
              <a:defRPr sz="1400" b="0" i="0">
                <a:solidFill>
                  <a:srgbClr val="666666"/>
                </a:solidFill>
              </a:defRPr>
            </a:pPr>
            <a:r>
              <a:rPr sz="1400" b="0" i="0">
                <a:solidFill>
                  <a:srgbClr val="666666"/>
                </a:solidFill>
              </a:rPr>
              <a:t>keys + indexes</a:t>
            </a:r>
          </a:p>
        </p:txBody>
      </p:sp>
      <p:sp>
        <p:nvSpPr>
          <p:cNvPr id="16" name="Rounded Rectangle 15">
            <a:extLst>
              <a:ext uri="{FF2B5EF4-FFF2-40B4-BE49-F238E27FC236}">
                <a16:creationId xmlns:a16="http://schemas.microsoft.com/office/drawing/2014/main" id="{A1734720-4036-4C5E-86B0-57A7A398D797}"/>
              </a:ext>
            </a:extLst>
          </p:cNvPr>
          <p:cNvSpPr>
            <a:spLocks noGrp="1"/>
          </p:cNvSpPr>
          <p:nvPr/>
        </p:nvSpPr>
        <p:spPr>
          <a:xfrm>
            <a:off x="6400800" y="1924050"/>
            <a:ext cx="1885950" cy="1866900"/>
          </a:xfrm>
          <a:prstGeom prst="roundRect">
            <a:avLst>
              <a:gd name="adj" fmla="val 6122"/>
            </a:avLst>
          </a:prstGeom>
          <a:solidFill>
            <a:srgbClr val="FFE0C2"/>
          </a:solidFill>
          <a:ln w="9525">
            <a:solidFill>
              <a:srgbClr val="F97316"/>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Rectangle 16">
            <a:extLst>
              <a:ext uri="{FF2B5EF4-FFF2-40B4-BE49-F238E27FC236}">
                <a16:creationId xmlns:a16="http://schemas.microsoft.com/office/drawing/2014/main" id="{EF894F74-8DB1-4A1F-82F6-57881063B090}"/>
              </a:ext>
            </a:extLst>
          </p:cNvPr>
          <p:cNvSpPr>
            <a:spLocks noGrp="1"/>
          </p:cNvSpPr>
          <p:nvPr/>
        </p:nvSpPr>
        <p:spPr>
          <a:xfrm>
            <a:off x="6591300" y="2209800"/>
            <a:ext cx="1504950" cy="2667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MART</a:t>
            </a:r>
          </a:p>
        </p:txBody>
      </p:sp>
      <p:sp>
        <p:nvSpPr>
          <p:cNvPr id="18" name="Rectangle 17">
            <a:extLst>
              <a:ext uri="{FF2B5EF4-FFF2-40B4-BE49-F238E27FC236}">
                <a16:creationId xmlns:a16="http://schemas.microsoft.com/office/drawing/2014/main" id="{6FD7FB5C-2D4C-4DEE-8ABD-A247792D0F0D}"/>
              </a:ext>
            </a:extLst>
          </p:cNvPr>
          <p:cNvSpPr>
            <a:spLocks noGrp="1"/>
          </p:cNvSpPr>
          <p:nvPr/>
        </p:nvSpPr>
        <p:spPr>
          <a:xfrm>
            <a:off x="6591300" y="2743200"/>
            <a:ext cx="1504950" cy="781050"/>
          </a:xfrm>
          <a:prstGeom prst="rect">
            <a:avLst/>
          </a:prstGeom>
          <a:noFill/>
          <a:ln w="0">
            <a:noFill/>
            <a:prstDash val="solid"/>
          </a:ln>
        </p:spPr>
        <p:txBody>
          <a:bodyPr/>
          <a:lstStyle/>
          <a:p>
            <a:pPr algn="ctr">
              <a:defRPr sz="1400" b="0" i="0">
                <a:solidFill>
                  <a:srgbClr val="666666"/>
                </a:solidFill>
              </a:defRPr>
            </a:pPr>
            <a:r>
              <a:rPr sz="1400" b="0" i="0">
                <a:solidFill>
                  <a:srgbClr val="666666"/>
                </a:solidFill>
              </a:rPr>
              <a:t>3 monthly marts</a:t>
            </a:r>
          </a:p>
          <a:p>
            <a:pPr algn="ctr">
              <a:defRPr sz="1400" b="0" i="0">
                <a:solidFill>
                  <a:srgbClr val="666666"/>
                </a:solidFill>
              </a:defRPr>
            </a:pPr>
            <a:r>
              <a:rPr sz="1400" b="0" i="0">
                <a:solidFill>
                  <a:srgbClr val="666666"/>
                </a:solidFill>
              </a:rPr>
              <a:t>7 analytical views</a:t>
            </a:r>
          </a:p>
          <a:p>
            <a:pPr algn="ctr">
              <a:defRPr sz="1400" b="0" i="0">
                <a:solidFill>
                  <a:srgbClr val="666666"/>
                </a:solidFill>
              </a:defRPr>
            </a:pPr>
            <a:r>
              <a:rPr sz="1400" b="0" i="0">
                <a:solidFill>
                  <a:srgbClr val="666666"/>
                </a:solidFill>
              </a:rPr>
              <a:t>reusable KPIs</a:t>
            </a:r>
          </a:p>
        </p:txBody>
      </p:sp>
      <p:sp>
        <p:nvSpPr>
          <p:cNvPr id="19" name="Rounded Rectangle 18">
            <a:extLst>
              <a:ext uri="{FF2B5EF4-FFF2-40B4-BE49-F238E27FC236}">
                <a16:creationId xmlns:a16="http://schemas.microsoft.com/office/drawing/2014/main" id="{05DEDAF4-5672-42A9-AA72-91E5A98A6322}"/>
              </a:ext>
            </a:extLst>
          </p:cNvPr>
          <p:cNvSpPr>
            <a:spLocks noGrp="1"/>
          </p:cNvSpPr>
          <p:nvPr/>
        </p:nvSpPr>
        <p:spPr>
          <a:xfrm>
            <a:off x="9163050" y="1924050"/>
            <a:ext cx="1885950" cy="1866900"/>
          </a:xfrm>
          <a:prstGeom prst="roundRect">
            <a:avLst>
              <a:gd name="adj" fmla="val 612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Rectangle 19">
            <a:extLst>
              <a:ext uri="{FF2B5EF4-FFF2-40B4-BE49-F238E27FC236}">
                <a16:creationId xmlns:a16="http://schemas.microsoft.com/office/drawing/2014/main" id="{8F7D51DE-4565-483E-ABAC-9D7BA878E587}"/>
              </a:ext>
            </a:extLst>
          </p:cNvPr>
          <p:cNvSpPr>
            <a:spLocks noGrp="1"/>
          </p:cNvSpPr>
          <p:nvPr/>
        </p:nvSpPr>
        <p:spPr>
          <a:xfrm>
            <a:off x="9353550" y="2209800"/>
            <a:ext cx="1504950" cy="266700"/>
          </a:xfrm>
          <a:prstGeom prst="rect">
            <a:avLst/>
          </a:prstGeom>
          <a:noFill/>
          <a:ln w="0">
            <a:noFill/>
            <a:prstDash val="solid"/>
          </a:ln>
        </p:spPr>
        <p:txBody>
          <a:bodyPr/>
          <a:lstStyle/>
          <a:p>
            <a:pPr algn="ctr">
              <a:defRPr sz="1400" b="1" i="0">
                <a:solidFill>
                  <a:srgbClr val="252525"/>
                </a:solidFill>
              </a:defRPr>
            </a:pPr>
            <a:r>
              <a:rPr sz="1400" b="1" i="0">
                <a:solidFill>
                  <a:srgbClr val="252525"/>
                </a:solidFill>
              </a:rPr>
              <a:t>TABLEAU</a:t>
            </a:r>
          </a:p>
        </p:txBody>
      </p:sp>
      <p:sp>
        <p:nvSpPr>
          <p:cNvPr id="21" name="Rectangle 20">
            <a:extLst>
              <a:ext uri="{FF2B5EF4-FFF2-40B4-BE49-F238E27FC236}">
                <a16:creationId xmlns:a16="http://schemas.microsoft.com/office/drawing/2014/main" id="{116E72DA-D3BE-48AF-B932-89CB681F5AA0}"/>
              </a:ext>
            </a:extLst>
          </p:cNvPr>
          <p:cNvSpPr>
            <a:spLocks noGrp="1"/>
          </p:cNvSpPr>
          <p:nvPr/>
        </p:nvSpPr>
        <p:spPr>
          <a:xfrm>
            <a:off x="9353550" y="2743200"/>
            <a:ext cx="1504950" cy="781050"/>
          </a:xfrm>
          <a:prstGeom prst="rect">
            <a:avLst/>
          </a:prstGeom>
          <a:noFill/>
          <a:ln w="0">
            <a:noFill/>
            <a:prstDash val="solid"/>
          </a:ln>
        </p:spPr>
        <p:txBody>
          <a:bodyPr/>
          <a:lstStyle/>
          <a:p>
            <a:pPr algn="ctr">
              <a:defRPr sz="1400" b="0" i="0">
                <a:solidFill>
                  <a:srgbClr val="666666"/>
                </a:solidFill>
              </a:defRPr>
            </a:pPr>
            <a:r>
              <a:rPr sz="1400" b="0" i="0">
                <a:solidFill>
                  <a:srgbClr val="666666"/>
                </a:solidFill>
              </a:rPr>
              <a:t>CSV extracts or</a:t>
            </a:r>
          </a:p>
          <a:p>
            <a:pPr algn="ctr">
              <a:defRPr sz="1400" b="0" i="0">
                <a:solidFill>
                  <a:srgbClr val="666666"/>
                </a:solidFill>
              </a:defRPr>
            </a:pPr>
            <a:r>
              <a:rPr sz="1400" b="0" i="0">
                <a:solidFill>
                  <a:srgbClr val="666666"/>
                </a:solidFill>
              </a:rPr>
              <a:t>direct connection</a:t>
            </a:r>
          </a:p>
          <a:p>
            <a:pPr algn="ctr">
              <a:defRPr sz="1400" b="0" i="0">
                <a:solidFill>
                  <a:srgbClr val="666666"/>
                </a:solidFill>
              </a:defRPr>
            </a:pPr>
            <a:r>
              <a:rPr sz="1400" b="0" i="0">
                <a:solidFill>
                  <a:srgbClr val="666666"/>
                </a:solidFill>
              </a:rPr>
              <a:t>visual analytics</a:t>
            </a:r>
          </a:p>
        </p:txBody>
      </p:sp>
      <p:sp>
        <p:nvSpPr>
          <p:cNvPr id="22" name="Rounded Rectangle 21">
            <a:extLst>
              <a:ext uri="{FF2B5EF4-FFF2-40B4-BE49-F238E27FC236}">
                <a16:creationId xmlns:a16="http://schemas.microsoft.com/office/drawing/2014/main" id="{D7F67341-FE62-4351-8AB6-B8211BE81162}"/>
              </a:ext>
            </a:extLst>
          </p:cNvPr>
          <p:cNvSpPr>
            <a:spLocks noGrp="1"/>
          </p:cNvSpPr>
          <p:nvPr/>
        </p:nvSpPr>
        <p:spPr>
          <a:xfrm>
            <a:off x="685800" y="495300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23" name="Rectangle 22">
            <a:extLst>
              <a:ext uri="{FF2B5EF4-FFF2-40B4-BE49-F238E27FC236}">
                <a16:creationId xmlns:a16="http://schemas.microsoft.com/office/drawing/2014/main" id="{3E461BA7-9AF5-4EC7-9FA2-5BFFA1F4DE81}"/>
              </a:ext>
            </a:extLst>
          </p:cNvPr>
          <p:cNvSpPr>
            <a:spLocks noGrp="1"/>
          </p:cNvSpPr>
          <p:nvPr/>
        </p:nvSpPr>
        <p:spPr>
          <a:xfrm>
            <a:off x="895350" y="5048250"/>
            <a:ext cx="10401300" cy="2667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The mart layer prevents Tableau from repeating complex finance calculations in every worksheet.</a:t>
            </a:r>
          </a:p>
        </p:txBody>
      </p:sp>
    </p:spTree>
    <p:extLst>
      <p:ext uri="{BB962C8B-B14F-4D97-AF65-F5344CB8AC3E}">
        <p14:creationId xmlns:p14="http://schemas.microsoft.com/office/powerpoint/2010/main" val="169798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102EF9D-3712-4BFD-8075-7CF3ECCD664A}"/>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CAB61458-5C9B-4FCA-B2DB-C5713854A65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1: core and mart objects were loaded</a:t>
            </a:r>
          </a:p>
        </p:txBody>
      </p:sp>
      <p:sp>
        <p:nvSpPr>
          <p:cNvPr id="3" name="Rectangle 2">
            <a:extLst>
              <a:ext uri="{FF2B5EF4-FFF2-40B4-BE49-F238E27FC236}">
                <a16:creationId xmlns:a16="http://schemas.microsoft.com/office/drawing/2014/main" id="{2299DE7A-4755-4220-A442-9D061046BC18}"/>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1</a:t>
            </a:r>
          </a:p>
        </p:txBody>
      </p:sp>
      <p:sp>
        <p:nvSpPr>
          <p:cNvPr id="4" name="Straight Connector 3">
            <a:extLst>
              <a:ext uri="{FF2B5EF4-FFF2-40B4-BE49-F238E27FC236}">
                <a16:creationId xmlns:a16="http://schemas.microsoft.com/office/drawing/2014/main" id="{2B64D2AB-7B08-44F1-855D-E1A7EB42862F}"/>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6CDD6F07-DBF0-4DDA-8A23-05120653CF54}"/>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2C455F35-9907-4E86-9CB6-BADEBE0E8D13}"/>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12</a:t>
            </a:r>
          </a:p>
        </p:txBody>
      </p:sp>
      <p:sp>
        <p:nvSpPr>
          <p:cNvPr id="7" name="Rounded Rectangle 6">
            <a:extLst>
              <a:ext uri="{FF2B5EF4-FFF2-40B4-BE49-F238E27FC236}">
                <a16:creationId xmlns:a16="http://schemas.microsoft.com/office/drawing/2014/main" id="{92921F4B-D7A4-48FA-A99A-4548581ED627}"/>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91FAC895-3D26-4DE4-8D9D-2E6977F2D69C}"/>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AAEC2A35-993A-4E00-A4C5-EE19F40B00EB}"/>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Confirm that the database contains a structured model rather than a single flat import.</a:t>
            </a:r>
          </a:p>
        </p:txBody>
      </p:sp>
      <p:sp>
        <p:nvSpPr>
          <p:cNvPr id="11" name="Rectangle 10">
            <a:extLst>
              <a:ext uri="{FF2B5EF4-FFF2-40B4-BE49-F238E27FC236}">
                <a16:creationId xmlns:a16="http://schemas.microsoft.com/office/drawing/2014/main" id="{E1E7CE23-E29D-4B19-A054-2AF231F64549}"/>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AD1A823E-F2E8-4D9C-A0A6-494BBD6A5A22}"/>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Query pg_tables for the core and mart schemas, ordered by schema and table name.</a:t>
            </a:r>
          </a:p>
        </p:txBody>
      </p:sp>
      <p:sp>
        <p:nvSpPr>
          <p:cNvPr id="13" name="Rectangle 12">
            <a:extLst>
              <a:ext uri="{FF2B5EF4-FFF2-40B4-BE49-F238E27FC236}">
                <a16:creationId xmlns:a16="http://schemas.microsoft.com/office/drawing/2014/main" id="{57D49647-11D4-436C-B5C4-B04B9FE4EA56}"/>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988633C6-E4E6-49FD-A631-E357E952E441}"/>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inventory shows five dimensions, three facts and three monthly marts available for downstream checks.</a:t>
            </a:r>
          </a:p>
        </p:txBody>
      </p:sp>
    </p:spTree>
    <p:extLst>
      <p:ext uri="{BB962C8B-B14F-4D97-AF65-F5344CB8AC3E}">
        <p14:creationId xmlns:p14="http://schemas.microsoft.com/office/powerpoint/2010/main" val="1051475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6CD2523-54BA-48F7-B55A-1DE25C31A171}"/>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5F3E990E-24F3-47B7-875A-8E28C15894A6}"/>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2: fact-row counts reconciled</a:t>
            </a:r>
          </a:p>
        </p:txBody>
      </p:sp>
      <p:sp>
        <p:nvSpPr>
          <p:cNvPr id="3" name="Rectangle 2">
            <a:extLst>
              <a:ext uri="{FF2B5EF4-FFF2-40B4-BE49-F238E27FC236}">
                <a16:creationId xmlns:a16="http://schemas.microsoft.com/office/drawing/2014/main" id="{6ABAC64D-6EC3-4EB5-A502-54B5EA0C24EA}"/>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2</a:t>
            </a:r>
          </a:p>
        </p:txBody>
      </p:sp>
      <p:sp>
        <p:nvSpPr>
          <p:cNvPr id="4" name="Straight Connector 3">
            <a:extLst>
              <a:ext uri="{FF2B5EF4-FFF2-40B4-BE49-F238E27FC236}">
                <a16:creationId xmlns:a16="http://schemas.microsoft.com/office/drawing/2014/main" id="{94A3629F-0EC1-41E4-B0FA-6AFFD5D5258C}"/>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39F60CA9-DA64-4F15-BD00-DC3C3231879F}"/>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CFD2229E-9CA4-4B91-A55F-0A56BDCF2B63}"/>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13</a:t>
            </a:r>
          </a:p>
        </p:txBody>
      </p:sp>
      <p:sp>
        <p:nvSpPr>
          <p:cNvPr id="7" name="Rounded Rectangle 6">
            <a:extLst>
              <a:ext uri="{FF2B5EF4-FFF2-40B4-BE49-F238E27FC236}">
                <a16:creationId xmlns:a16="http://schemas.microsoft.com/office/drawing/2014/main" id="{70AC4C00-CE0F-4FF6-9827-B1AE4F588217}"/>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A01FA2A7-2289-4EFB-9E3A-08A14DB0D47E}"/>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3493F728-A0FD-4F1D-BF1F-B686BD405235}"/>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Prove that the processed transaction populations were loaded completely.</a:t>
            </a:r>
          </a:p>
        </p:txBody>
      </p:sp>
      <p:sp>
        <p:nvSpPr>
          <p:cNvPr id="11" name="Rectangle 10">
            <a:extLst>
              <a:ext uri="{FF2B5EF4-FFF2-40B4-BE49-F238E27FC236}">
                <a16:creationId xmlns:a16="http://schemas.microsoft.com/office/drawing/2014/main" id="{968EDB2F-88EE-4409-9CD5-21F01C84C243}"/>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CAE9C55C-D62D-4A43-839F-31BE3F0F7DFB}"/>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COUNT(*) is applied to the OTC invoice, PTP procurement and RTR general-ledger facts using UNION ALL.</a:t>
            </a:r>
          </a:p>
        </p:txBody>
      </p:sp>
      <p:sp>
        <p:nvSpPr>
          <p:cNvPr id="13" name="Rectangle 12">
            <a:extLst>
              <a:ext uri="{FF2B5EF4-FFF2-40B4-BE49-F238E27FC236}">
                <a16:creationId xmlns:a16="http://schemas.microsoft.com/office/drawing/2014/main" id="{35722F07-A591-4802-8C78-FCBE068AD4F7}"/>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6EF0F008-6087-4D43-9B76-7F2584E0824A}"/>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database contains 45,839 OTC, 75,349 PTP and 27,909 RTR rows, matching the notebook outputs.</a:t>
            </a:r>
          </a:p>
        </p:txBody>
      </p:sp>
    </p:spTree>
    <p:extLst>
      <p:ext uri="{BB962C8B-B14F-4D97-AF65-F5344CB8AC3E}">
        <p14:creationId xmlns:p14="http://schemas.microsoft.com/office/powerpoint/2010/main" val="525188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83CE293-75AE-482E-9C34-37EDB08F6E2F}"/>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A4AE93B4-BD2F-4ED7-B9FA-CDCB88FA5C26}"/>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3: keys enforced the relational model</a:t>
            </a:r>
          </a:p>
        </p:txBody>
      </p:sp>
      <p:sp>
        <p:nvSpPr>
          <p:cNvPr id="3" name="Rectangle 2">
            <a:extLst>
              <a:ext uri="{FF2B5EF4-FFF2-40B4-BE49-F238E27FC236}">
                <a16:creationId xmlns:a16="http://schemas.microsoft.com/office/drawing/2014/main" id="{EE6BF302-05BF-4604-8992-B7494F33226B}"/>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3</a:t>
            </a:r>
          </a:p>
        </p:txBody>
      </p:sp>
      <p:sp>
        <p:nvSpPr>
          <p:cNvPr id="4" name="Straight Connector 3">
            <a:extLst>
              <a:ext uri="{FF2B5EF4-FFF2-40B4-BE49-F238E27FC236}">
                <a16:creationId xmlns:a16="http://schemas.microsoft.com/office/drawing/2014/main" id="{96E1F770-3347-4F9E-813E-23615217FAAC}"/>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3E624C94-8FC5-4B3E-80C5-BF0413AA68D9}"/>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90E9388D-C172-4FDF-A7EA-76ED672AC398}"/>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14</a:t>
            </a:r>
          </a:p>
        </p:txBody>
      </p:sp>
      <p:sp>
        <p:nvSpPr>
          <p:cNvPr id="7" name="Rounded Rectangle 6">
            <a:extLst>
              <a:ext uri="{FF2B5EF4-FFF2-40B4-BE49-F238E27FC236}">
                <a16:creationId xmlns:a16="http://schemas.microsoft.com/office/drawing/2014/main" id="{976FCD57-2895-4861-90EE-7B95C946D81C}"/>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598F849A-9BE9-48FB-89A5-20FD4303987F}"/>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5CA5FCBE-AEAE-44A7-A2A5-34CD6110027E}"/>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Protect dimension uniqueness and fact-to-dimension relationships.</a:t>
            </a:r>
          </a:p>
        </p:txBody>
      </p:sp>
      <p:sp>
        <p:nvSpPr>
          <p:cNvPr id="11" name="Rectangle 10">
            <a:extLst>
              <a:ext uri="{FF2B5EF4-FFF2-40B4-BE49-F238E27FC236}">
                <a16:creationId xmlns:a16="http://schemas.microsoft.com/office/drawing/2014/main" id="{CE08421F-2582-42CF-A1EA-91D28C324B91}"/>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C314C33D-58EE-4C86-8EAA-4B2A02FB9550}"/>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Primary keys were added to date, customer, material, account and territory dimensions; foreign keys connect the three facts.</a:t>
            </a:r>
          </a:p>
        </p:txBody>
      </p:sp>
      <p:sp>
        <p:nvSpPr>
          <p:cNvPr id="13" name="Rectangle 12">
            <a:extLst>
              <a:ext uri="{FF2B5EF4-FFF2-40B4-BE49-F238E27FC236}">
                <a16:creationId xmlns:a16="http://schemas.microsoft.com/office/drawing/2014/main" id="{9EE6C22C-A491-4C98-8F4E-B906EF4E72FB}"/>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FEBDD4B3-17A3-4BB1-90D0-0D88157F8CE3}"/>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Constraint metadata verifies that PostgreSQL, not only notebook logic, enforces the model structure.</a:t>
            </a:r>
          </a:p>
        </p:txBody>
      </p:sp>
    </p:spTree>
    <p:extLst>
      <p:ext uri="{BB962C8B-B14F-4D97-AF65-F5344CB8AC3E}">
        <p14:creationId xmlns:p14="http://schemas.microsoft.com/office/powerpoint/2010/main" val="98984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8F2DA89-E5C7-41D8-86EA-045F6419596B}"/>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24975E62-9876-49F4-ADE0-B6B33DCBCD2F}"/>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4: relationship checks returned zero breaks</a:t>
            </a:r>
          </a:p>
        </p:txBody>
      </p:sp>
      <p:sp>
        <p:nvSpPr>
          <p:cNvPr id="3" name="Rectangle 2">
            <a:extLst>
              <a:ext uri="{FF2B5EF4-FFF2-40B4-BE49-F238E27FC236}">
                <a16:creationId xmlns:a16="http://schemas.microsoft.com/office/drawing/2014/main" id="{CD6BF22C-C101-4939-AAD7-54B8084FF732}"/>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4</a:t>
            </a:r>
          </a:p>
        </p:txBody>
      </p:sp>
      <p:sp>
        <p:nvSpPr>
          <p:cNvPr id="4" name="Straight Connector 3">
            <a:extLst>
              <a:ext uri="{FF2B5EF4-FFF2-40B4-BE49-F238E27FC236}">
                <a16:creationId xmlns:a16="http://schemas.microsoft.com/office/drawing/2014/main" id="{80C9F8DE-9A87-493E-B730-DDAA1A514607}"/>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FD0DBCD9-87DA-4B5C-B74A-D6A7CA4292A7}"/>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05DC6299-9FE0-42E7-9F32-72CA5E0E42C7}"/>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15</a:t>
            </a:r>
          </a:p>
        </p:txBody>
      </p:sp>
      <p:sp>
        <p:nvSpPr>
          <p:cNvPr id="7" name="Rounded Rectangle 6">
            <a:extLst>
              <a:ext uri="{FF2B5EF4-FFF2-40B4-BE49-F238E27FC236}">
                <a16:creationId xmlns:a16="http://schemas.microsoft.com/office/drawing/2014/main" id="{0940DFA7-2C84-4030-8C5D-31893F5D130E}"/>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193D791A-0DE8-47B5-97E1-69EDAC24A859}"/>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22E52328-CFD3-4E3C-A693-18E99A35414B}"/>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Detect incomplete dimensions or incorrect join keys before reporting views are used.</a:t>
            </a:r>
          </a:p>
        </p:txBody>
      </p:sp>
      <p:sp>
        <p:nvSpPr>
          <p:cNvPr id="11" name="Rectangle 10">
            <a:extLst>
              <a:ext uri="{FF2B5EF4-FFF2-40B4-BE49-F238E27FC236}">
                <a16:creationId xmlns:a16="http://schemas.microsoft.com/office/drawing/2014/main" id="{9B461180-0625-4EC1-B65D-367C21290589}"/>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DDDDED5C-4480-450C-A8BA-A739D7D38785}"/>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LEFT JOIN checks test OTC→customer, PTP→material, RTR→account and RTR→territory mappings.</a:t>
            </a:r>
          </a:p>
        </p:txBody>
      </p:sp>
      <p:sp>
        <p:nvSpPr>
          <p:cNvPr id="13" name="Rectangle 12">
            <a:extLst>
              <a:ext uri="{FF2B5EF4-FFF2-40B4-BE49-F238E27FC236}">
                <a16:creationId xmlns:a16="http://schemas.microsoft.com/office/drawing/2014/main" id="{5A98FAFF-94B4-44ED-8707-CF54E2C001EB}"/>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A9303813-3B56-4BA9-9061-2A9B4DDFC2F5}"/>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Zero unmatched rows across the four checks confirms clean referential integrity after the UNKNOWN-material repair.</a:t>
            </a:r>
          </a:p>
        </p:txBody>
      </p:sp>
    </p:spTree>
    <p:extLst>
      <p:ext uri="{BB962C8B-B14F-4D97-AF65-F5344CB8AC3E}">
        <p14:creationId xmlns:p14="http://schemas.microsoft.com/office/powerpoint/2010/main" val="1778761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2C8D86C-B04A-43E1-86B4-E94B31CC4DDF}"/>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55732D07-02B1-447F-B4E1-1F332226AB6A}"/>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5: OTC customers were ranked by value</a:t>
            </a:r>
          </a:p>
        </p:txBody>
      </p:sp>
      <p:sp>
        <p:nvSpPr>
          <p:cNvPr id="3" name="Rectangle 2">
            <a:extLst>
              <a:ext uri="{FF2B5EF4-FFF2-40B4-BE49-F238E27FC236}">
                <a16:creationId xmlns:a16="http://schemas.microsoft.com/office/drawing/2014/main" id="{871EE2C8-A41B-4423-9214-74A1F016674F}"/>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5</a:t>
            </a:r>
          </a:p>
        </p:txBody>
      </p:sp>
      <p:sp>
        <p:nvSpPr>
          <p:cNvPr id="4" name="Straight Connector 3">
            <a:extLst>
              <a:ext uri="{FF2B5EF4-FFF2-40B4-BE49-F238E27FC236}">
                <a16:creationId xmlns:a16="http://schemas.microsoft.com/office/drawing/2014/main" id="{5097E546-03F3-4DA8-9466-7883BA8810DD}"/>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0F59DB7F-7113-42CE-8329-A34157D7EE11}"/>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CCD0722D-5EE6-4DB9-8F18-B6BAEE08DD8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16</a:t>
            </a:r>
          </a:p>
        </p:txBody>
      </p:sp>
      <p:sp>
        <p:nvSpPr>
          <p:cNvPr id="7" name="Rounded Rectangle 6">
            <a:extLst>
              <a:ext uri="{FF2B5EF4-FFF2-40B4-BE49-F238E27FC236}">
                <a16:creationId xmlns:a16="http://schemas.microsoft.com/office/drawing/2014/main" id="{05ED19F5-577A-4D66-A047-9F12A8BBC074}"/>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05CF7725-C9A8-4BF4-9F32-F14C484A2506}"/>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5B20461D-C674-4628-B06F-FEB1F7F863B5}"/>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Turn invoice-level data into customer-level revenue and payment-performance evidence.</a:t>
            </a:r>
          </a:p>
        </p:txBody>
      </p:sp>
      <p:sp>
        <p:nvSpPr>
          <p:cNvPr id="11" name="Rectangle 10">
            <a:extLst>
              <a:ext uri="{FF2B5EF4-FFF2-40B4-BE49-F238E27FC236}">
                <a16:creationId xmlns:a16="http://schemas.microsoft.com/office/drawing/2014/main" id="{0F7BF95D-9945-4078-B6CD-1F24C1FC3FA6}"/>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8469FAD8-A9D0-4405-A8DA-20442CE307E3}"/>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customer view aggregates invoices, billing, average delay, late-payment percentage and flags; RANK() OVER() orders total billed.</a:t>
            </a:r>
          </a:p>
        </p:txBody>
      </p:sp>
      <p:sp>
        <p:nvSpPr>
          <p:cNvPr id="13" name="Rectangle 12">
            <a:extLst>
              <a:ext uri="{FF2B5EF4-FFF2-40B4-BE49-F238E27FC236}">
                <a16:creationId xmlns:a16="http://schemas.microsoft.com/office/drawing/2014/main" id="{262BF07D-029F-40E8-9D61-C92C35B55D83}"/>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D22977EE-1E67-46D2-84A2-B750ED4BFC41}"/>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top-customer output provides the analytical source for the Tableau concentration and payment-risk worksheets.</a:t>
            </a:r>
          </a:p>
        </p:txBody>
      </p:sp>
    </p:spTree>
    <p:extLst>
      <p:ext uri="{BB962C8B-B14F-4D97-AF65-F5344CB8AC3E}">
        <p14:creationId xmlns:p14="http://schemas.microsoft.com/office/powerpoint/2010/main" val="1240490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0854BFE-2E2D-481A-B1B6-54D467E3DB26}"/>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BB7E216F-4ACE-4A68-9D9B-BCD56B1DE6CB}"/>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6: spend share quantified PTP concentration</a:t>
            </a:r>
          </a:p>
        </p:txBody>
      </p:sp>
      <p:sp>
        <p:nvSpPr>
          <p:cNvPr id="3" name="Rectangle 2">
            <a:extLst>
              <a:ext uri="{FF2B5EF4-FFF2-40B4-BE49-F238E27FC236}">
                <a16:creationId xmlns:a16="http://schemas.microsoft.com/office/drawing/2014/main" id="{0A3FA976-DB29-429F-A345-62500451B136}"/>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6</a:t>
            </a:r>
          </a:p>
        </p:txBody>
      </p:sp>
      <p:sp>
        <p:nvSpPr>
          <p:cNvPr id="4" name="Straight Connector 3">
            <a:extLst>
              <a:ext uri="{FF2B5EF4-FFF2-40B4-BE49-F238E27FC236}">
                <a16:creationId xmlns:a16="http://schemas.microsoft.com/office/drawing/2014/main" id="{BC7F2A2B-8C7A-4877-803D-C37B9C03AB81}"/>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8B005263-C4A8-4168-B68E-C739FBF5ED5B}"/>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D1572427-AA7B-435A-9783-19D073267BD6}"/>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17</a:t>
            </a:r>
          </a:p>
        </p:txBody>
      </p:sp>
      <p:sp>
        <p:nvSpPr>
          <p:cNvPr id="7" name="Rounded Rectangle 6">
            <a:extLst>
              <a:ext uri="{FF2B5EF4-FFF2-40B4-BE49-F238E27FC236}">
                <a16:creationId xmlns:a16="http://schemas.microsoft.com/office/drawing/2014/main" id="{3DDC8587-ED23-489A-B5E7-3120078B3C2B}"/>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D5AB39E4-D8C9-404B-AB78-D0B6AD33D494}"/>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CC86C356-E135-410E-83FF-D587175A4262}"/>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Measure both absolute procurement spend and each material group’s share of the valid-spend portfolio.</a:t>
            </a:r>
          </a:p>
        </p:txBody>
      </p:sp>
      <p:sp>
        <p:nvSpPr>
          <p:cNvPr id="11" name="Rectangle 10">
            <a:extLst>
              <a:ext uri="{FF2B5EF4-FFF2-40B4-BE49-F238E27FC236}">
                <a16:creationId xmlns:a16="http://schemas.microsoft.com/office/drawing/2014/main" id="{2925C68C-5F19-4574-A8C1-34CC2EA9C8B2}"/>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CC71B46E-8ECC-4734-887C-5714EA06FB0C}"/>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SUM(total_spend) OVER() calculates percentage of total; RANK() OVER() creates the spend ranking.</a:t>
            </a:r>
          </a:p>
        </p:txBody>
      </p:sp>
      <p:sp>
        <p:nvSpPr>
          <p:cNvPr id="13" name="Rectangle 12">
            <a:extLst>
              <a:ext uri="{FF2B5EF4-FFF2-40B4-BE49-F238E27FC236}">
                <a16:creationId xmlns:a16="http://schemas.microsoft.com/office/drawing/2014/main" id="{7793C4D9-5A24-42B7-BE64-624157ABA57E}"/>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8F19259F-3016-4FA1-B87E-FEC7AB3BB940}"/>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output identifies dominant material groups and carries PO-line, document, material and investigation counts into Tableau.</a:t>
            </a:r>
          </a:p>
        </p:txBody>
      </p:sp>
    </p:spTree>
    <p:extLst>
      <p:ext uri="{BB962C8B-B14F-4D97-AF65-F5344CB8AC3E}">
        <p14:creationId xmlns:p14="http://schemas.microsoft.com/office/powerpoint/2010/main" val="916918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D495753-9F92-419E-A6C3-23FF98EE55A9}"/>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B1A14F88-5F61-48ED-831D-B87656AAA0D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7: an executive view unified nine KPIs</a:t>
            </a:r>
          </a:p>
        </p:txBody>
      </p:sp>
      <p:sp>
        <p:nvSpPr>
          <p:cNvPr id="3" name="Rectangle 2">
            <a:extLst>
              <a:ext uri="{FF2B5EF4-FFF2-40B4-BE49-F238E27FC236}">
                <a16:creationId xmlns:a16="http://schemas.microsoft.com/office/drawing/2014/main" id="{6BB1F374-A83D-4F92-900D-77BED9BC31D8}"/>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7</a:t>
            </a:r>
          </a:p>
        </p:txBody>
      </p:sp>
      <p:sp>
        <p:nvSpPr>
          <p:cNvPr id="4" name="Straight Connector 3">
            <a:extLst>
              <a:ext uri="{FF2B5EF4-FFF2-40B4-BE49-F238E27FC236}">
                <a16:creationId xmlns:a16="http://schemas.microsoft.com/office/drawing/2014/main" id="{FE3122EE-D2E7-4043-9F15-CB4326EA5390}"/>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DFF2398F-9D19-4BBD-8FDF-E56E6395F6E4}"/>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4C2634FC-909B-4A4B-99D7-12A9180B1D93}"/>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18</a:t>
            </a:r>
          </a:p>
        </p:txBody>
      </p:sp>
      <p:sp>
        <p:nvSpPr>
          <p:cNvPr id="7" name="Rounded Rectangle 6">
            <a:extLst>
              <a:ext uri="{FF2B5EF4-FFF2-40B4-BE49-F238E27FC236}">
                <a16:creationId xmlns:a16="http://schemas.microsoft.com/office/drawing/2014/main" id="{B3385991-D817-4345-8112-1102731ED1E8}"/>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965F57C5-353C-40EE-A89A-1A7456F61E46}"/>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250A23E5-FA6E-411F-915D-64793D7AE455}"/>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Create a compact management layer across OTC, PTP and RTR without pretending the source periods overlap.</a:t>
            </a:r>
          </a:p>
        </p:txBody>
      </p:sp>
      <p:sp>
        <p:nvSpPr>
          <p:cNvPr id="11" name="Rectangle 10">
            <a:extLst>
              <a:ext uri="{FF2B5EF4-FFF2-40B4-BE49-F238E27FC236}">
                <a16:creationId xmlns:a16="http://schemas.microsoft.com/office/drawing/2014/main" id="{DAF01400-C838-4144-A1F2-D9FACCF3AAF3}"/>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B54DFD48-42D1-4054-84DC-950BC5DB6E27}"/>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executive snapshot returns process, as-of date, metric and value for the latest meaningful reporting point in each process.</a:t>
            </a:r>
          </a:p>
        </p:txBody>
      </p:sp>
      <p:sp>
        <p:nvSpPr>
          <p:cNvPr id="13" name="Rectangle 12">
            <a:extLst>
              <a:ext uri="{FF2B5EF4-FFF2-40B4-BE49-F238E27FC236}">
                <a16:creationId xmlns:a16="http://schemas.microsoft.com/office/drawing/2014/main" id="{E0574348-DDAB-4229-984D-94FF05124298}"/>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4D73C626-7B85-49C3-97BF-DCBF6635A3F2}"/>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Nine KPI rows feed the executive Tableau snapshot while retaining process-specific timing context.</a:t>
            </a:r>
          </a:p>
        </p:txBody>
      </p:sp>
    </p:spTree>
    <p:extLst>
      <p:ext uri="{BB962C8B-B14F-4D97-AF65-F5344CB8AC3E}">
        <p14:creationId xmlns:p14="http://schemas.microsoft.com/office/powerpoint/2010/main" val="829434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F61A293-834E-43EA-83A0-18AEED5E4A59}"/>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D82A47F5-0185-469A-BD44-6F4C4D558CB7}"/>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SQL evidence 8: seven views formed the Tableau layer</a:t>
            </a:r>
          </a:p>
        </p:txBody>
      </p:sp>
      <p:sp>
        <p:nvSpPr>
          <p:cNvPr id="3" name="Rectangle 2">
            <a:extLst>
              <a:ext uri="{FF2B5EF4-FFF2-40B4-BE49-F238E27FC236}">
                <a16:creationId xmlns:a16="http://schemas.microsoft.com/office/drawing/2014/main" id="{C0183AEC-20C7-4CB4-9198-69BABA9A8123}"/>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POSTGRESQL EVIDENCE 8</a:t>
            </a:r>
          </a:p>
        </p:txBody>
      </p:sp>
      <p:sp>
        <p:nvSpPr>
          <p:cNvPr id="4" name="Straight Connector 3">
            <a:extLst>
              <a:ext uri="{FF2B5EF4-FFF2-40B4-BE49-F238E27FC236}">
                <a16:creationId xmlns:a16="http://schemas.microsoft.com/office/drawing/2014/main" id="{BEDAF6CC-9399-42AC-9D5C-21B6196C47F1}"/>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0B22B7BA-7449-4197-BB34-B977650AAE33}"/>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54BA8354-3CAB-4462-A964-1D50B767AC3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19</a:t>
            </a:r>
          </a:p>
        </p:txBody>
      </p:sp>
      <p:sp>
        <p:nvSpPr>
          <p:cNvPr id="7" name="Rounded Rectangle 6">
            <a:extLst>
              <a:ext uri="{FF2B5EF4-FFF2-40B4-BE49-F238E27FC236}">
                <a16:creationId xmlns:a16="http://schemas.microsoft.com/office/drawing/2014/main" id="{30707AD0-35B5-4BC8-A6E7-D32EED00C058}"/>
              </a:ext>
            </a:extLst>
          </p:cNvPr>
          <p:cNvSpPr>
            <a:spLocks noGrp="1"/>
          </p:cNvSpPr>
          <p:nvPr/>
        </p:nvSpPr>
        <p:spPr>
          <a:xfrm>
            <a:off x="571500" y="857250"/>
            <a:ext cx="7962900" cy="5219700"/>
          </a:xfrm>
          <a:prstGeom prst="roundRect">
            <a:avLst>
              <a:gd name="adj" fmla="val 1825"/>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47700" y="938246"/>
            <a:ext cx="7810500" cy="5057708"/>
          </a:xfrm>
          <a:prstGeom prst="rect">
            <a:avLst/>
          </a:prstGeom>
        </p:spPr>
      </p:pic>
      <p:sp>
        <p:nvSpPr>
          <p:cNvPr id="9" name="Rectangle 8">
            <a:extLst>
              <a:ext uri="{FF2B5EF4-FFF2-40B4-BE49-F238E27FC236}">
                <a16:creationId xmlns:a16="http://schemas.microsoft.com/office/drawing/2014/main" id="{17A33E1F-7F67-4ACB-8E87-232D7A13D44A}"/>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PURPOSE</a:t>
            </a:r>
          </a:p>
        </p:txBody>
      </p:sp>
      <p:sp>
        <p:nvSpPr>
          <p:cNvPr id="10" name="Rectangle 9">
            <a:extLst>
              <a:ext uri="{FF2B5EF4-FFF2-40B4-BE49-F238E27FC236}">
                <a16:creationId xmlns:a16="http://schemas.microsoft.com/office/drawing/2014/main" id="{05712811-1272-4C9B-8B11-0D79A37064B1}"/>
              </a:ext>
            </a:extLst>
          </p:cNvPr>
          <p:cNvSpPr>
            <a:spLocks noGrp="1"/>
          </p:cNvSpPr>
          <p:nvPr/>
        </p:nvSpPr>
        <p:spPr>
          <a:xfrm>
            <a:off x="8934450" y="1219200"/>
            <a:ext cx="2571750" cy="9715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Verify the complete reusable reporting interface in the mart schema.</a:t>
            </a:r>
          </a:p>
        </p:txBody>
      </p:sp>
      <p:sp>
        <p:nvSpPr>
          <p:cNvPr id="11" name="Rectangle 10">
            <a:extLst>
              <a:ext uri="{FF2B5EF4-FFF2-40B4-BE49-F238E27FC236}">
                <a16:creationId xmlns:a16="http://schemas.microsoft.com/office/drawing/2014/main" id="{BCEA7495-7ECC-4AFB-9932-150BC1C67D4F}"/>
              </a:ext>
            </a:extLst>
          </p:cNvPr>
          <p:cNvSpPr>
            <a:spLocks noGrp="1"/>
          </p:cNvSpPr>
          <p:nvPr/>
        </p:nvSpPr>
        <p:spPr>
          <a:xfrm>
            <a:off x="8934450" y="23431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METHOD</a:t>
            </a:r>
          </a:p>
        </p:txBody>
      </p:sp>
      <p:sp>
        <p:nvSpPr>
          <p:cNvPr id="12" name="Rectangle 11">
            <a:extLst>
              <a:ext uri="{FF2B5EF4-FFF2-40B4-BE49-F238E27FC236}">
                <a16:creationId xmlns:a16="http://schemas.microsoft.com/office/drawing/2014/main" id="{D1C99674-50A1-4BE4-A8FF-4DDDC6B48EC8}"/>
              </a:ext>
            </a:extLst>
          </p:cNvPr>
          <p:cNvSpPr>
            <a:spLocks noGrp="1"/>
          </p:cNvSpPr>
          <p:nvPr/>
        </p:nvSpPr>
        <p:spPr>
          <a:xfrm>
            <a:off x="8934450" y="257175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pg_views lists executive, OTC monthly/customer, PTP monthly/material-group and RTR monthly/account-analysis views.</a:t>
            </a:r>
          </a:p>
        </p:txBody>
      </p:sp>
      <p:sp>
        <p:nvSpPr>
          <p:cNvPr id="13" name="Rectangle 12">
            <a:extLst>
              <a:ext uri="{FF2B5EF4-FFF2-40B4-BE49-F238E27FC236}">
                <a16:creationId xmlns:a16="http://schemas.microsoft.com/office/drawing/2014/main" id="{0EE45382-B0F5-485A-9D7B-6ADD40DADCDC}"/>
              </a:ext>
            </a:extLst>
          </p:cNvPr>
          <p:cNvSpPr>
            <a:spLocks noGrp="1"/>
          </p:cNvSpPr>
          <p:nvPr/>
        </p:nvSpPr>
        <p:spPr>
          <a:xfrm>
            <a:off x="8934450" y="38862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RESULT</a:t>
            </a:r>
          </a:p>
        </p:txBody>
      </p:sp>
      <p:sp>
        <p:nvSpPr>
          <p:cNvPr id="14" name="Rectangle 13">
            <a:extLst>
              <a:ext uri="{FF2B5EF4-FFF2-40B4-BE49-F238E27FC236}">
                <a16:creationId xmlns:a16="http://schemas.microsoft.com/office/drawing/2014/main" id="{9517446D-9B91-4A48-924D-1E1261B4096B}"/>
              </a:ext>
            </a:extLst>
          </p:cNvPr>
          <p:cNvSpPr>
            <a:spLocks noGrp="1"/>
          </p:cNvSpPr>
          <p:nvPr/>
        </p:nvSpPr>
        <p:spPr>
          <a:xfrm>
            <a:off x="8934450" y="4114800"/>
            <a:ext cx="2571750" cy="12763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final view inventory proves that every Tableau worksheet can use a governed analytical source.</a:t>
            </a:r>
          </a:p>
        </p:txBody>
      </p:sp>
    </p:spTree>
    <p:extLst>
      <p:ext uri="{BB962C8B-B14F-4D97-AF65-F5344CB8AC3E}">
        <p14:creationId xmlns:p14="http://schemas.microsoft.com/office/powerpoint/2010/main" val="358732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5446864-F0E5-4FCD-A899-B1C258BBACE9}"/>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9B7B3C0B-FB27-4BDF-8FF4-DC458DD1C114}"/>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Jupyter exported SQL views back to local CSV files</a:t>
            </a:r>
          </a:p>
        </p:txBody>
      </p:sp>
      <p:sp>
        <p:nvSpPr>
          <p:cNvPr id="3" name="Rectangle 2">
            <a:extLst>
              <a:ext uri="{FF2B5EF4-FFF2-40B4-BE49-F238E27FC236}">
                <a16:creationId xmlns:a16="http://schemas.microsoft.com/office/drawing/2014/main" id="{4937C156-0B9D-42CA-B54B-0D0700DA21B6}"/>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SQL-TO-DEVICE HANDOFF</a:t>
            </a:r>
          </a:p>
        </p:txBody>
      </p:sp>
      <p:sp>
        <p:nvSpPr>
          <p:cNvPr id="4" name="Straight Connector 3">
            <a:extLst>
              <a:ext uri="{FF2B5EF4-FFF2-40B4-BE49-F238E27FC236}">
                <a16:creationId xmlns:a16="http://schemas.microsoft.com/office/drawing/2014/main" id="{8F312D96-070E-4177-B888-4B7440B2AB30}"/>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4C7A0500-DA4E-4B7A-A15F-CF5E1276DF96}"/>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8BBD5EB5-2ED4-471B-A98F-FDF99DF24E52}"/>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20</a:t>
            </a:r>
          </a:p>
        </p:txBody>
      </p:sp>
      <p:sp>
        <p:nvSpPr>
          <p:cNvPr id="7" name="Rounded Rectangle 6">
            <a:extLst>
              <a:ext uri="{FF2B5EF4-FFF2-40B4-BE49-F238E27FC236}">
                <a16:creationId xmlns:a16="http://schemas.microsoft.com/office/drawing/2014/main" id="{7B6A2DD2-3EB0-4C4D-8523-EBEB553A16E6}"/>
              </a:ext>
            </a:extLst>
          </p:cNvPr>
          <p:cNvSpPr>
            <a:spLocks noGrp="1"/>
          </p:cNvSpPr>
          <p:nvPr/>
        </p:nvSpPr>
        <p:spPr>
          <a:xfrm>
            <a:off x="666750" y="933450"/>
            <a:ext cx="6858000" cy="4953000"/>
          </a:xfrm>
          <a:prstGeom prst="roundRect">
            <a:avLst>
              <a:gd name="adj" fmla="val 1923"/>
            </a:avLst>
          </a:prstGeom>
          <a:solidFill>
            <a:srgbClr val="1C1917"/>
          </a:solidFill>
          <a:ln w="9525">
            <a:solidFill>
              <a:srgbClr val="3F3F46"/>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8" name="Rectangle 7">
            <a:extLst>
              <a:ext uri="{FF2B5EF4-FFF2-40B4-BE49-F238E27FC236}">
                <a16:creationId xmlns:a16="http://schemas.microsoft.com/office/drawing/2014/main" id="{A09AC046-56D0-482A-B64D-554488A9F36B}"/>
              </a:ext>
            </a:extLst>
          </p:cNvPr>
          <p:cNvSpPr>
            <a:spLocks noGrp="1"/>
          </p:cNvSpPr>
          <p:nvPr/>
        </p:nvSpPr>
        <p:spPr>
          <a:xfrm>
            <a:off x="895350" y="1162050"/>
            <a:ext cx="6419850" cy="4514850"/>
          </a:xfrm>
          <a:prstGeom prst="rect">
            <a:avLst/>
          </a:prstGeom>
          <a:noFill/>
          <a:ln w="0">
            <a:noFill/>
            <a:prstDash val="solid"/>
          </a:ln>
        </p:spPr>
        <p:txBody>
          <a:bodyPr/>
          <a:lstStyle/>
          <a:p>
            <a:pPr algn="l">
              <a:defRPr sz="1000" b="0" i="0">
                <a:solidFill>
                  <a:srgbClr val="F4F4F5"/>
                </a:solidFill>
              </a:defRPr>
            </a:pPr>
            <a:r>
              <a:rPr sz="1000" b="0" i="0">
                <a:solidFill>
                  <a:srgbClr val="F4F4F5"/>
                </a:solidFill>
              </a:rPr>
              <a:t>from pathlib import Path</a:t>
            </a:r>
          </a:p>
          <a:p>
            <a:pPr algn="l">
              <a:defRPr sz="1000" b="0" i="0">
                <a:solidFill>
                  <a:srgbClr val="F4F4F5"/>
                </a:solidFill>
              </a:defRPr>
            </a:pPr>
            <a:r>
              <a:rPr sz="1000" b="0" i="0">
                <a:solidFill>
                  <a:srgbClr val="F4F4F5"/>
                </a:solidFill>
              </a:rPr>
              <a:t>import pandas as pd</a:t>
            </a:r>
          </a:p>
          <a:p>
            <a:endParaRPr sz="1000" b="0" i="0">
              <a:solidFill>
                <a:srgbClr val="F4F4F5"/>
              </a:solidFill>
            </a:endParaRPr>
          </a:p>
          <a:p>
            <a:pPr algn="l">
              <a:defRPr sz="1000" b="0" i="0">
                <a:solidFill>
                  <a:srgbClr val="F4F4F5"/>
                </a:solidFill>
              </a:defRPr>
            </a:pPr>
            <a:r>
              <a:rPr sz="1000" b="0" i="0">
                <a:solidFill>
                  <a:srgbClr val="F4F4F5"/>
                </a:solidFill>
              </a:rPr>
              <a:t>TABLEAU_DIR = Path("tableau_data")</a:t>
            </a:r>
          </a:p>
          <a:p>
            <a:pPr algn="l">
              <a:defRPr sz="1000" b="0" i="0">
                <a:solidFill>
                  <a:srgbClr val="F4F4F5"/>
                </a:solidFill>
              </a:defRPr>
            </a:pPr>
            <a:r>
              <a:rPr sz="1000" b="0" i="0">
                <a:solidFill>
                  <a:srgbClr val="F4F4F5"/>
                </a:solidFill>
              </a:rPr>
              <a:t>TABLEAU_DIR.mkdir(exist_ok=True)</a:t>
            </a:r>
          </a:p>
          <a:p>
            <a:endParaRPr sz="1000" b="0" i="0">
              <a:solidFill>
                <a:srgbClr val="F4F4F5"/>
              </a:solidFill>
            </a:endParaRPr>
          </a:p>
          <a:p>
            <a:pPr algn="l">
              <a:defRPr sz="1000" b="0" i="0">
                <a:solidFill>
                  <a:srgbClr val="F4F4F5"/>
                </a:solidFill>
              </a:defRPr>
            </a:pPr>
            <a:r>
              <a:rPr sz="1000" b="0" i="0">
                <a:solidFill>
                  <a:srgbClr val="F4F4F5"/>
                </a:solidFill>
              </a:rPr>
              <a:t>views = [</a:t>
            </a:r>
          </a:p>
          <a:p>
            <a:pPr algn="l">
              <a:defRPr sz="1000" b="0" i="0">
                <a:solidFill>
                  <a:srgbClr val="F4F4F5"/>
                </a:solidFill>
              </a:defRPr>
            </a:pPr>
            <a:r>
              <a:rPr sz="1000" b="0" i="0">
                <a:solidFill>
                  <a:srgbClr val="F4F4F5"/>
                </a:solidFill>
              </a:rPr>
              <a:t>    "vw_executive_kpi_snapshot",</a:t>
            </a:r>
          </a:p>
          <a:p>
            <a:pPr algn="l">
              <a:defRPr sz="1000" b="0" i="0">
                <a:solidFill>
                  <a:srgbClr val="F4F4F5"/>
                </a:solidFill>
              </a:defRPr>
            </a:pPr>
            <a:r>
              <a:rPr sz="1000" b="0" i="0">
                <a:solidFill>
                  <a:srgbClr val="F4F4F5"/>
                </a:solidFill>
              </a:rPr>
              <a:t>    "vw_otc_monthly_kpis",</a:t>
            </a:r>
          </a:p>
          <a:p>
            <a:pPr algn="l">
              <a:defRPr sz="1000" b="0" i="0">
                <a:solidFill>
                  <a:srgbClr val="F4F4F5"/>
                </a:solidFill>
              </a:defRPr>
            </a:pPr>
            <a:r>
              <a:rPr sz="1000" b="0" i="0">
                <a:solidFill>
                  <a:srgbClr val="F4F4F5"/>
                </a:solidFill>
              </a:rPr>
              <a:t>    "vw_otc_customer_performance",</a:t>
            </a:r>
          </a:p>
          <a:p>
            <a:pPr algn="l">
              <a:defRPr sz="1000" b="0" i="0">
                <a:solidFill>
                  <a:srgbClr val="F4F4F5"/>
                </a:solidFill>
              </a:defRPr>
            </a:pPr>
            <a:r>
              <a:rPr sz="1000" b="0" i="0">
                <a:solidFill>
                  <a:srgbClr val="F4F4F5"/>
                </a:solidFill>
              </a:rPr>
              <a:t>    "vw_ptp_monthly_kpis",</a:t>
            </a:r>
          </a:p>
          <a:p>
            <a:pPr algn="l">
              <a:defRPr sz="1000" b="0" i="0">
                <a:solidFill>
                  <a:srgbClr val="F4F4F5"/>
                </a:solidFill>
              </a:defRPr>
            </a:pPr>
            <a:r>
              <a:rPr sz="1000" b="0" i="0">
                <a:solidFill>
                  <a:srgbClr val="F4F4F5"/>
                </a:solidFill>
              </a:rPr>
              <a:t>    "vw_ptp_material_group",</a:t>
            </a:r>
          </a:p>
          <a:p>
            <a:pPr algn="l">
              <a:defRPr sz="1000" b="0" i="0">
                <a:solidFill>
                  <a:srgbClr val="F4F4F5"/>
                </a:solidFill>
              </a:defRPr>
            </a:pPr>
            <a:r>
              <a:rPr sz="1000" b="0" i="0">
                <a:solidFill>
                  <a:srgbClr val="F4F4F5"/>
                </a:solidFill>
              </a:rPr>
              <a:t>    "vw_rtr_monthly_kpis",</a:t>
            </a:r>
          </a:p>
          <a:p>
            <a:pPr algn="l">
              <a:defRPr sz="1000" b="0" i="0">
                <a:solidFill>
                  <a:srgbClr val="F4F4F5"/>
                </a:solidFill>
              </a:defRPr>
            </a:pPr>
            <a:r>
              <a:rPr sz="1000" b="0" i="0">
                <a:solidFill>
                  <a:srgbClr val="F4F4F5"/>
                </a:solidFill>
              </a:rPr>
              <a:t>    "vw_rtr_account_analysis"</a:t>
            </a:r>
          </a:p>
          <a:p>
            <a:pPr algn="l">
              <a:defRPr sz="1000" b="0" i="0">
                <a:solidFill>
                  <a:srgbClr val="F4F4F5"/>
                </a:solidFill>
              </a:defRPr>
            </a:pPr>
            <a:r>
              <a:rPr sz="1000" b="0" i="0">
                <a:solidFill>
                  <a:srgbClr val="F4F4F5"/>
                </a:solidFill>
              </a:rPr>
              <a:t>]</a:t>
            </a:r>
          </a:p>
          <a:p>
            <a:endParaRPr sz="1000" b="0" i="0">
              <a:solidFill>
                <a:srgbClr val="F4F4F5"/>
              </a:solidFill>
            </a:endParaRPr>
          </a:p>
          <a:p>
            <a:pPr algn="l">
              <a:defRPr sz="1000" b="0" i="0">
                <a:solidFill>
                  <a:srgbClr val="F4F4F5"/>
                </a:solidFill>
              </a:defRPr>
            </a:pPr>
            <a:r>
              <a:rPr sz="1000" b="0" i="0">
                <a:solidFill>
                  <a:srgbClr val="F4F4F5"/>
                </a:solidFill>
              </a:rPr>
              <a:t>for view in views:</a:t>
            </a:r>
          </a:p>
          <a:p>
            <a:pPr algn="l">
              <a:defRPr sz="1000" b="0" i="0">
                <a:solidFill>
                  <a:srgbClr val="F4F4F5"/>
                </a:solidFill>
              </a:defRPr>
            </a:pPr>
            <a:r>
              <a:rPr sz="1000" b="0" i="0">
                <a:solidFill>
                  <a:srgbClr val="F4F4F5"/>
                </a:solidFill>
              </a:rPr>
              <a:t>    df = pd.read_sql(f"SELECT * FROM mart.{view};", engine)</a:t>
            </a:r>
          </a:p>
          <a:p>
            <a:pPr algn="l">
              <a:defRPr sz="1000" b="0" i="0">
                <a:solidFill>
                  <a:srgbClr val="F4F4F5"/>
                </a:solidFill>
              </a:defRPr>
            </a:pPr>
            <a:r>
              <a:rPr sz="1000" b="0" i="0">
                <a:solidFill>
                  <a:srgbClr val="F4F4F5"/>
                </a:solidFill>
              </a:rPr>
              <a:t>    df.to_csv(TABLEAU_DIR / f"{view}.csv", index=False)</a:t>
            </a:r>
          </a:p>
        </p:txBody>
      </p:sp>
      <p:sp>
        <p:nvSpPr>
          <p:cNvPr id="9" name="Rectangle 8">
            <a:extLst>
              <a:ext uri="{FF2B5EF4-FFF2-40B4-BE49-F238E27FC236}">
                <a16:creationId xmlns:a16="http://schemas.microsoft.com/office/drawing/2014/main" id="{2C85F49F-2815-46B3-8CEC-9EBD2F7740BD}"/>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THE CODE DOES</a:t>
            </a:r>
          </a:p>
        </p:txBody>
      </p:sp>
      <p:sp>
        <p:nvSpPr>
          <p:cNvPr id="10" name="Rectangle 9">
            <a:extLst>
              <a:ext uri="{FF2B5EF4-FFF2-40B4-BE49-F238E27FC236}">
                <a16:creationId xmlns:a16="http://schemas.microsoft.com/office/drawing/2014/main" id="{9B872B94-B185-42B6-91D3-BE143EE2E723}"/>
              </a:ext>
            </a:extLst>
          </p:cNvPr>
          <p:cNvSpPr>
            <a:spLocks noGrp="1"/>
          </p:cNvSpPr>
          <p:nvPr/>
        </p:nvSpPr>
        <p:spPr>
          <a:xfrm>
            <a:off x="8934450" y="1219200"/>
            <a:ext cx="2571750" cy="1162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Creates a local tableau_data folder, queries each governed mart view through the SQLAlchemy engine, and writes one CSV per view.</a:t>
            </a:r>
          </a:p>
        </p:txBody>
      </p:sp>
      <p:sp>
        <p:nvSpPr>
          <p:cNvPr id="11" name="Rectangle 10">
            <a:extLst>
              <a:ext uri="{FF2B5EF4-FFF2-40B4-BE49-F238E27FC236}">
                <a16:creationId xmlns:a16="http://schemas.microsoft.com/office/drawing/2014/main" id="{F2687421-EFB1-4F7A-BC0C-7D071F0B59EB}"/>
              </a:ext>
            </a:extLst>
          </p:cNvPr>
          <p:cNvSpPr>
            <a:spLocks noGrp="1"/>
          </p:cNvSpPr>
          <p:nvPr/>
        </p:nvSpPr>
        <p:spPr>
          <a:xfrm>
            <a:off x="8934450" y="25336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GENERATED FILES</a:t>
            </a:r>
          </a:p>
        </p:txBody>
      </p:sp>
      <p:sp>
        <p:nvSpPr>
          <p:cNvPr id="12" name="Rectangle 11">
            <a:extLst>
              <a:ext uri="{FF2B5EF4-FFF2-40B4-BE49-F238E27FC236}">
                <a16:creationId xmlns:a16="http://schemas.microsoft.com/office/drawing/2014/main" id="{4BDC1BBE-521E-440A-B170-368D7428D48B}"/>
              </a:ext>
            </a:extLst>
          </p:cNvPr>
          <p:cNvSpPr>
            <a:spLocks noGrp="1"/>
          </p:cNvSpPr>
          <p:nvPr/>
        </p:nvSpPr>
        <p:spPr>
          <a:xfrm>
            <a:off x="8934450" y="2762250"/>
            <a:ext cx="2571750" cy="12954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Seven files were produced: 9 executive rows, 54 OTC months, 69 customers, 26 PTP months, 145 material groups, 36 RTR months and 38 accounts.</a:t>
            </a:r>
          </a:p>
        </p:txBody>
      </p:sp>
      <p:sp>
        <p:nvSpPr>
          <p:cNvPr id="13" name="Rectangle 12">
            <a:extLst>
              <a:ext uri="{FF2B5EF4-FFF2-40B4-BE49-F238E27FC236}">
                <a16:creationId xmlns:a16="http://schemas.microsoft.com/office/drawing/2014/main" id="{A415EF69-3EDE-4D91-B421-2094977F8AD3}"/>
              </a:ext>
            </a:extLst>
          </p:cNvPr>
          <p:cNvSpPr>
            <a:spLocks noGrp="1"/>
          </p:cNvSpPr>
          <p:nvPr/>
        </p:nvSpPr>
        <p:spPr>
          <a:xfrm>
            <a:off x="8934450" y="421005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WHY IT MATTERS</a:t>
            </a:r>
          </a:p>
        </p:txBody>
      </p:sp>
      <p:sp>
        <p:nvSpPr>
          <p:cNvPr id="14" name="Rectangle 13">
            <a:extLst>
              <a:ext uri="{FF2B5EF4-FFF2-40B4-BE49-F238E27FC236}">
                <a16:creationId xmlns:a16="http://schemas.microsoft.com/office/drawing/2014/main" id="{19625443-D0CA-4D0A-BBCC-8B6CFAEDBDFB}"/>
              </a:ext>
            </a:extLst>
          </p:cNvPr>
          <p:cNvSpPr>
            <a:spLocks noGrp="1"/>
          </p:cNvSpPr>
          <p:nvPr/>
        </p:nvSpPr>
        <p:spPr>
          <a:xfrm>
            <a:off x="8934450" y="4438650"/>
            <a:ext cx="2571750" cy="11239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extracted files can be copied, opened or connected in Tableau without exposing database credentials on another device.</a:t>
            </a:r>
          </a:p>
        </p:txBody>
      </p:sp>
    </p:spTree>
    <p:extLst>
      <p:ext uri="{BB962C8B-B14F-4D97-AF65-F5344CB8AC3E}">
        <p14:creationId xmlns:p14="http://schemas.microsoft.com/office/powerpoint/2010/main" val="1339052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7098DCE7-4E39-4AAD-9520-A612648CEBA8}"/>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D01CF4A8-44B5-4838-8B3C-82FF6C786E23}"/>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Exported files preserved a clear grain for Tableau</a:t>
            </a:r>
          </a:p>
        </p:txBody>
      </p:sp>
      <p:sp>
        <p:nvSpPr>
          <p:cNvPr id="3" name="Rectangle 2">
            <a:extLst>
              <a:ext uri="{FF2B5EF4-FFF2-40B4-BE49-F238E27FC236}">
                <a16:creationId xmlns:a16="http://schemas.microsoft.com/office/drawing/2014/main" id="{4876A88D-A91A-4215-A792-28BE228D0C49}"/>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EXPORTED-FILE EDA 1 OF 2</a:t>
            </a:r>
          </a:p>
        </p:txBody>
      </p:sp>
      <p:sp>
        <p:nvSpPr>
          <p:cNvPr id="4" name="Straight Connector 3">
            <a:extLst>
              <a:ext uri="{FF2B5EF4-FFF2-40B4-BE49-F238E27FC236}">
                <a16:creationId xmlns:a16="http://schemas.microsoft.com/office/drawing/2014/main" id="{F67634D8-357F-475B-8B18-8026CA026B09}"/>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424A89C0-ED0D-48D7-9ACC-846EBCC510C5}"/>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8CD14139-4088-4242-BB46-FCE6663774CD}"/>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21</a:t>
            </a:r>
          </a:p>
        </p:txBody>
      </p:sp>
      <p:sp>
        <p:nvSpPr>
          <p:cNvPr id="7" name="Rectangle 6">
            <a:extLst>
              <a:ext uri="{FF2B5EF4-FFF2-40B4-BE49-F238E27FC236}">
                <a16:creationId xmlns:a16="http://schemas.microsoft.com/office/drawing/2014/main" id="{2387B2AF-9D01-48A8-B879-AE6B291F9C9D}"/>
              </a:ext>
            </a:extLst>
          </p:cNvPr>
          <p:cNvSpPr>
            <a:spLocks noGrp="1"/>
          </p:cNvSpPr>
          <p:nvPr/>
        </p:nvSpPr>
        <p:spPr>
          <a:xfrm>
            <a:off x="685800" y="990600"/>
            <a:ext cx="10820400" cy="438150"/>
          </a:xfrm>
          <a:prstGeom prst="rect">
            <a:avLst/>
          </a:prstGeom>
          <a:solidFill>
            <a:srgbClr val="F97316"/>
          </a:solidFill>
          <a:ln w="9525">
            <a:solidFill>
              <a:srgbClr val="F97316"/>
            </a:solidFill>
            <a:prstDash val="solid"/>
          </a:ln>
        </p:spPr>
        <p:txBody>
          <a:bodyPr/>
          <a:lstStyle/>
          <a:p>
            <a:endParaRPr lang="en-US"/>
          </a:p>
        </p:txBody>
      </p:sp>
      <p:sp>
        <p:nvSpPr>
          <p:cNvPr id="8" name="Rectangle 7">
            <a:extLst>
              <a:ext uri="{FF2B5EF4-FFF2-40B4-BE49-F238E27FC236}">
                <a16:creationId xmlns:a16="http://schemas.microsoft.com/office/drawing/2014/main" id="{BC8FA3D3-2EE5-42D9-9CC9-FEE339B6AADB}"/>
              </a:ext>
            </a:extLst>
          </p:cNvPr>
          <p:cNvSpPr>
            <a:spLocks noGrp="1"/>
          </p:cNvSpPr>
          <p:nvPr/>
        </p:nvSpPr>
        <p:spPr>
          <a:xfrm>
            <a:off x="895350" y="1104900"/>
            <a:ext cx="4762500" cy="228600"/>
          </a:xfrm>
          <a:prstGeom prst="rect">
            <a:avLst/>
          </a:prstGeom>
          <a:noFill/>
          <a:ln w="0">
            <a:noFill/>
            <a:prstDash val="solid"/>
          </a:ln>
        </p:spPr>
        <p:txBody>
          <a:bodyPr/>
          <a:lstStyle/>
          <a:p>
            <a:pPr algn="l">
              <a:defRPr sz="1100" b="1" i="0">
                <a:solidFill>
                  <a:srgbClr val="FFFDF9"/>
                </a:solidFill>
              </a:defRPr>
            </a:pPr>
            <a:r>
              <a:rPr sz="1100" b="1" i="0">
                <a:solidFill>
                  <a:srgbClr val="FFFDF9"/>
                </a:solidFill>
              </a:rPr>
              <a:t>FILE</a:t>
            </a:r>
          </a:p>
        </p:txBody>
      </p:sp>
      <p:sp>
        <p:nvSpPr>
          <p:cNvPr id="9" name="Rectangle 8">
            <a:extLst>
              <a:ext uri="{FF2B5EF4-FFF2-40B4-BE49-F238E27FC236}">
                <a16:creationId xmlns:a16="http://schemas.microsoft.com/office/drawing/2014/main" id="{8A072F8F-13B3-4076-B836-70B1306D8505}"/>
              </a:ext>
            </a:extLst>
          </p:cNvPr>
          <p:cNvSpPr>
            <a:spLocks noGrp="1"/>
          </p:cNvSpPr>
          <p:nvPr/>
        </p:nvSpPr>
        <p:spPr>
          <a:xfrm>
            <a:off x="6191250" y="1104900"/>
            <a:ext cx="952500" cy="228600"/>
          </a:xfrm>
          <a:prstGeom prst="rect">
            <a:avLst/>
          </a:prstGeom>
          <a:noFill/>
          <a:ln w="0">
            <a:noFill/>
            <a:prstDash val="solid"/>
          </a:ln>
        </p:spPr>
        <p:txBody>
          <a:bodyPr/>
          <a:lstStyle/>
          <a:p>
            <a:pPr algn="ctr">
              <a:defRPr sz="1100" b="1" i="0">
                <a:solidFill>
                  <a:srgbClr val="FFFDF9"/>
                </a:solidFill>
              </a:defRPr>
            </a:pPr>
            <a:r>
              <a:rPr sz="1100" b="1" i="0">
                <a:solidFill>
                  <a:srgbClr val="FFFDF9"/>
                </a:solidFill>
              </a:rPr>
              <a:t>ROWS</a:t>
            </a:r>
          </a:p>
        </p:txBody>
      </p:sp>
      <p:sp>
        <p:nvSpPr>
          <p:cNvPr id="10" name="Rectangle 9">
            <a:extLst>
              <a:ext uri="{FF2B5EF4-FFF2-40B4-BE49-F238E27FC236}">
                <a16:creationId xmlns:a16="http://schemas.microsoft.com/office/drawing/2014/main" id="{F12D2C97-43E3-4CFE-B3BB-02734FF930D7}"/>
              </a:ext>
            </a:extLst>
          </p:cNvPr>
          <p:cNvSpPr>
            <a:spLocks noGrp="1"/>
          </p:cNvSpPr>
          <p:nvPr/>
        </p:nvSpPr>
        <p:spPr>
          <a:xfrm>
            <a:off x="7524750" y="1104900"/>
            <a:ext cx="3619500" cy="228600"/>
          </a:xfrm>
          <a:prstGeom prst="rect">
            <a:avLst/>
          </a:prstGeom>
          <a:noFill/>
          <a:ln w="0">
            <a:noFill/>
            <a:prstDash val="solid"/>
          </a:ln>
        </p:spPr>
        <p:txBody>
          <a:bodyPr/>
          <a:lstStyle/>
          <a:p>
            <a:pPr algn="l">
              <a:defRPr sz="1100" b="1" i="0">
                <a:solidFill>
                  <a:srgbClr val="FFFDF9"/>
                </a:solidFill>
              </a:defRPr>
            </a:pPr>
            <a:r>
              <a:rPr sz="1100" b="1" i="0">
                <a:solidFill>
                  <a:srgbClr val="FFFDF9"/>
                </a:solidFill>
              </a:rPr>
              <a:t>ANALYTICAL GRAIN</a:t>
            </a:r>
          </a:p>
        </p:txBody>
      </p:sp>
      <p:sp>
        <p:nvSpPr>
          <p:cNvPr id="11" name="Rectangle 10">
            <a:extLst>
              <a:ext uri="{FF2B5EF4-FFF2-40B4-BE49-F238E27FC236}">
                <a16:creationId xmlns:a16="http://schemas.microsoft.com/office/drawing/2014/main" id="{BA707941-AB44-4AF3-BC2E-275ED9E0D102}"/>
              </a:ext>
            </a:extLst>
          </p:cNvPr>
          <p:cNvSpPr>
            <a:spLocks noGrp="1"/>
          </p:cNvSpPr>
          <p:nvPr/>
        </p:nvSpPr>
        <p:spPr>
          <a:xfrm>
            <a:off x="685800" y="1428750"/>
            <a:ext cx="10820400" cy="552450"/>
          </a:xfrm>
          <a:prstGeom prst="rect">
            <a:avLst/>
          </a:prstGeom>
          <a:solidFill>
            <a:srgbClr val="FFFDF9"/>
          </a:solidFill>
          <a:ln w="4763">
            <a:solidFill>
              <a:srgbClr val="F2C39E"/>
            </a:solidFill>
            <a:prstDash val="solid"/>
          </a:ln>
        </p:spPr>
        <p:txBody>
          <a:bodyPr/>
          <a:lstStyle/>
          <a:p>
            <a:endParaRPr lang="en-US"/>
          </a:p>
        </p:txBody>
      </p:sp>
      <p:sp>
        <p:nvSpPr>
          <p:cNvPr id="12" name="Rectangle 11">
            <a:extLst>
              <a:ext uri="{FF2B5EF4-FFF2-40B4-BE49-F238E27FC236}">
                <a16:creationId xmlns:a16="http://schemas.microsoft.com/office/drawing/2014/main" id="{C4ABBFD1-936E-44B5-8B07-F6DFB572432A}"/>
              </a:ext>
            </a:extLst>
          </p:cNvPr>
          <p:cNvSpPr>
            <a:spLocks noGrp="1"/>
          </p:cNvSpPr>
          <p:nvPr/>
        </p:nvSpPr>
        <p:spPr>
          <a:xfrm>
            <a:off x="895350" y="158115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vw_executive_kpi_snapshot.csv</a:t>
            </a:r>
          </a:p>
        </p:txBody>
      </p:sp>
      <p:sp>
        <p:nvSpPr>
          <p:cNvPr id="13" name="Rectangle 12">
            <a:extLst>
              <a:ext uri="{FF2B5EF4-FFF2-40B4-BE49-F238E27FC236}">
                <a16:creationId xmlns:a16="http://schemas.microsoft.com/office/drawing/2014/main" id="{DA5045A2-6243-40E3-9268-4C5EC1FD6E89}"/>
              </a:ext>
            </a:extLst>
          </p:cNvPr>
          <p:cNvSpPr>
            <a:spLocks noGrp="1"/>
          </p:cNvSpPr>
          <p:nvPr/>
        </p:nvSpPr>
        <p:spPr>
          <a:xfrm>
            <a:off x="6191250" y="158115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9</a:t>
            </a:r>
          </a:p>
        </p:txBody>
      </p:sp>
      <p:sp>
        <p:nvSpPr>
          <p:cNvPr id="14" name="Rectangle 13">
            <a:extLst>
              <a:ext uri="{FF2B5EF4-FFF2-40B4-BE49-F238E27FC236}">
                <a16:creationId xmlns:a16="http://schemas.microsoft.com/office/drawing/2014/main" id="{B7007D0E-1BA2-4A8D-9776-BD890FBFD3CC}"/>
              </a:ext>
            </a:extLst>
          </p:cNvPr>
          <p:cNvSpPr>
            <a:spLocks noGrp="1"/>
          </p:cNvSpPr>
          <p:nvPr/>
        </p:nvSpPr>
        <p:spPr>
          <a:xfrm>
            <a:off x="7524750" y="158115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process KPI</a:t>
            </a:r>
          </a:p>
        </p:txBody>
      </p:sp>
      <p:sp>
        <p:nvSpPr>
          <p:cNvPr id="15" name="Rectangle 14">
            <a:extLst>
              <a:ext uri="{FF2B5EF4-FFF2-40B4-BE49-F238E27FC236}">
                <a16:creationId xmlns:a16="http://schemas.microsoft.com/office/drawing/2014/main" id="{C87185DD-F3AA-4F73-9A96-0B60E2B5AA62}"/>
              </a:ext>
            </a:extLst>
          </p:cNvPr>
          <p:cNvSpPr>
            <a:spLocks noGrp="1"/>
          </p:cNvSpPr>
          <p:nvPr/>
        </p:nvSpPr>
        <p:spPr>
          <a:xfrm>
            <a:off x="685800" y="1981200"/>
            <a:ext cx="10820400" cy="552450"/>
          </a:xfrm>
          <a:prstGeom prst="rect">
            <a:avLst/>
          </a:prstGeom>
          <a:solidFill>
            <a:srgbClr val="FFE0C2"/>
          </a:solidFill>
          <a:ln w="4763">
            <a:solidFill>
              <a:srgbClr val="F2C39E"/>
            </a:solidFill>
            <a:prstDash val="solid"/>
          </a:ln>
        </p:spPr>
        <p:txBody>
          <a:bodyPr/>
          <a:lstStyle/>
          <a:p>
            <a:endParaRPr lang="en-US"/>
          </a:p>
        </p:txBody>
      </p:sp>
      <p:sp>
        <p:nvSpPr>
          <p:cNvPr id="16" name="Rectangle 15">
            <a:extLst>
              <a:ext uri="{FF2B5EF4-FFF2-40B4-BE49-F238E27FC236}">
                <a16:creationId xmlns:a16="http://schemas.microsoft.com/office/drawing/2014/main" id="{2014D077-24FC-43BC-98A8-5432FE1C3738}"/>
              </a:ext>
            </a:extLst>
          </p:cNvPr>
          <p:cNvSpPr>
            <a:spLocks noGrp="1"/>
          </p:cNvSpPr>
          <p:nvPr/>
        </p:nvSpPr>
        <p:spPr>
          <a:xfrm>
            <a:off x="895350" y="213360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vw_otc_monthly_kpis.csv</a:t>
            </a:r>
          </a:p>
        </p:txBody>
      </p:sp>
      <p:sp>
        <p:nvSpPr>
          <p:cNvPr id="17" name="Rectangle 16">
            <a:extLst>
              <a:ext uri="{FF2B5EF4-FFF2-40B4-BE49-F238E27FC236}">
                <a16:creationId xmlns:a16="http://schemas.microsoft.com/office/drawing/2014/main" id="{C5B7B99A-BC11-4BF3-89F3-E799B1888D78}"/>
              </a:ext>
            </a:extLst>
          </p:cNvPr>
          <p:cNvSpPr>
            <a:spLocks noGrp="1"/>
          </p:cNvSpPr>
          <p:nvPr/>
        </p:nvSpPr>
        <p:spPr>
          <a:xfrm>
            <a:off x="6191250" y="213360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54</a:t>
            </a:r>
          </a:p>
        </p:txBody>
      </p:sp>
      <p:sp>
        <p:nvSpPr>
          <p:cNvPr id="18" name="Rectangle 17">
            <a:extLst>
              <a:ext uri="{FF2B5EF4-FFF2-40B4-BE49-F238E27FC236}">
                <a16:creationId xmlns:a16="http://schemas.microsoft.com/office/drawing/2014/main" id="{C27A4A33-41C3-47CD-B2EC-9A14FE015D29}"/>
              </a:ext>
            </a:extLst>
          </p:cNvPr>
          <p:cNvSpPr>
            <a:spLocks noGrp="1"/>
          </p:cNvSpPr>
          <p:nvPr/>
        </p:nvSpPr>
        <p:spPr>
          <a:xfrm>
            <a:off x="7524750" y="213360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OTC month</a:t>
            </a:r>
          </a:p>
        </p:txBody>
      </p:sp>
      <p:sp>
        <p:nvSpPr>
          <p:cNvPr id="19" name="Rectangle 18">
            <a:extLst>
              <a:ext uri="{FF2B5EF4-FFF2-40B4-BE49-F238E27FC236}">
                <a16:creationId xmlns:a16="http://schemas.microsoft.com/office/drawing/2014/main" id="{04AE5B6E-73E3-4E08-86CC-121002EAEC19}"/>
              </a:ext>
            </a:extLst>
          </p:cNvPr>
          <p:cNvSpPr>
            <a:spLocks noGrp="1"/>
          </p:cNvSpPr>
          <p:nvPr/>
        </p:nvSpPr>
        <p:spPr>
          <a:xfrm>
            <a:off x="685800" y="2533650"/>
            <a:ext cx="10820400" cy="552450"/>
          </a:xfrm>
          <a:prstGeom prst="rect">
            <a:avLst/>
          </a:prstGeom>
          <a:solidFill>
            <a:srgbClr val="FFFDF9"/>
          </a:solidFill>
          <a:ln w="4763">
            <a:solidFill>
              <a:srgbClr val="F2C39E"/>
            </a:solidFill>
            <a:prstDash val="solid"/>
          </a:ln>
        </p:spPr>
        <p:txBody>
          <a:bodyPr/>
          <a:lstStyle/>
          <a:p>
            <a:endParaRPr lang="en-US"/>
          </a:p>
        </p:txBody>
      </p:sp>
      <p:sp>
        <p:nvSpPr>
          <p:cNvPr id="20" name="Rectangle 19">
            <a:extLst>
              <a:ext uri="{FF2B5EF4-FFF2-40B4-BE49-F238E27FC236}">
                <a16:creationId xmlns:a16="http://schemas.microsoft.com/office/drawing/2014/main" id="{C3184E44-DCB9-4D9B-8610-7C75BB99208F}"/>
              </a:ext>
            </a:extLst>
          </p:cNvPr>
          <p:cNvSpPr>
            <a:spLocks noGrp="1"/>
          </p:cNvSpPr>
          <p:nvPr/>
        </p:nvSpPr>
        <p:spPr>
          <a:xfrm>
            <a:off x="895350" y="268605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vw_otc_customer_performance.csv</a:t>
            </a:r>
          </a:p>
        </p:txBody>
      </p:sp>
      <p:sp>
        <p:nvSpPr>
          <p:cNvPr id="21" name="Rectangle 20">
            <a:extLst>
              <a:ext uri="{FF2B5EF4-FFF2-40B4-BE49-F238E27FC236}">
                <a16:creationId xmlns:a16="http://schemas.microsoft.com/office/drawing/2014/main" id="{424AA646-30C0-4953-B872-D10BAF7C7191}"/>
              </a:ext>
            </a:extLst>
          </p:cNvPr>
          <p:cNvSpPr>
            <a:spLocks noGrp="1"/>
          </p:cNvSpPr>
          <p:nvPr/>
        </p:nvSpPr>
        <p:spPr>
          <a:xfrm>
            <a:off x="6191250" y="268605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69</a:t>
            </a:r>
          </a:p>
        </p:txBody>
      </p:sp>
      <p:sp>
        <p:nvSpPr>
          <p:cNvPr id="22" name="Rectangle 21">
            <a:extLst>
              <a:ext uri="{FF2B5EF4-FFF2-40B4-BE49-F238E27FC236}">
                <a16:creationId xmlns:a16="http://schemas.microsoft.com/office/drawing/2014/main" id="{03BB4347-45F5-4468-A381-0B5A22713DCB}"/>
              </a:ext>
            </a:extLst>
          </p:cNvPr>
          <p:cNvSpPr>
            <a:spLocks noGrp="1"/>
          </p:cNvSpPr>
          <p:nvPr/>
        </p:nvSpPr>
        <p:spPr>
          <a:xfrm>
            <a:off x="7524750" y="268605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customer</a:t>
            </a:r>
          </a:p>
        </p:txBody>
      </p:sp>
      <p:sp>
        <p:nvSpPr>
          <p:cNvPr id="23" name="Rectangle 22">
            <a:extLst>
              <a:ext uri="{FF2B5EF4-FFF2-40B4-BE49-F238E27FC236}">
                <a16:creationId xmlns:a16="http://schemas.microsoft.com/office/drawing/2014/main" id="{8C8AEBB9-BC1F-45D1-97FD-605320663199}"/>
              </a:ext>
            </a:extLst>
          </p:cNvPr>
          <p:cNvSpPr>
            <a:spLocks noGrp="1"/>
          </p:cNvSpPr>
          <p:nvPr/>
        </p:nvSpPr>
        <p:spPr>
          <a:xfrm>
            <a:off x="685800" y="3086100"/>
            <a:ext cx="10820400" cy="552450"/>
          </a:xfrm>
          <a:prstGeom prst="rect">
            <a:avLst/>
          </a:prstGeom>
          <a:solidFill>
            <a:srgbClr val="FFE0C2"/>
          </a:solidFill>
          <a:ln w="4763">
            <a:solidFill>
              <a:srgbClr val="F2C39E"/>
            </a:solidFill>
            <a:prstDash val="solid"/>
          </a:ln>
        </p:spPr>
        <p:txBody>
          <a:bodyPr/>
          <a:lstStyle/>
          <a:p>
            <a:endParaRPr lang="en-US"/>
          </a:p>
        </p:txBody>
      </p:sp>
      <p:sp>
        <p:nvSpPr>
          <p:cNvPr id="24" name="Rectangle 23">
            <a:extLst>
              <a:ext uri="{FF2B5EF4-FFF2-40B4-BE49-F238E27FC236}">
                <a16:creationId xmlns:a16="http://schemas.microsoft.com/office/drawing/2014/main" id="{4DA92E99-BA78-46EA-B26C-59D2E0236C53}"/>
              </a:ext>
            </a:extLst>
          </p:cNvPr>
          <p:cNvSpPr>
            <a:spLocks noGrp="1"/>
          </p:cNvSpPr>
          <p:nvPr/>
        </p:nvSpPr>
        <p:spPr>
          <a:xfrm>
            <a:off x="895350" y="323850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vw_ptp_monthly_kpis.csv</a:t>
            </a:r>
          </a:p>
        </p:txBody>
      </p:sp>
      <p:sp>
        <p:nvSpPr>
          <p:cNvPr id="25" name="Rectangle 24">
            <a:extLst>
              <a:ext uri="{FF2B5EF4-FFF2-40B4-BE49-F238E27FC236}">
                <a16:creationId xmlns:a16="http://schemas.microsoft.com/office/drawing/2014/main" id="{B345E5BA-5055-4960-B00D-A9D5FF5D1C4D}"/>
              </a:ext>
            </a:extLst>
          </p:cNvPr>
          <p:cNvSpPr>
            <a:spLocks noGrp="1"/>
          </p:cNvSpPr>
          <p:nvPr/>
        </p:nvSpPr>
        <p:spPr>
          <a:xfrm>
            <a:off x="6191250" y="323850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26</a:t>
            </a:r>
          </a:p>
        </p:txBody>
      </p:sp>
      <p:sp>
        <p:nvSpPr>
          <p:cNvPr id="26" name="Rectangle 25">
            <a:extLst>
              <a:ext uri="{FF2B5EF4-FFF2-40B4-BE49-F238E27FC236}">
                <a16:creationId xmlns:a16="http://schemas.microsoft.com/office/drawing/2014/main" id="{42F6163C-CAE9-4361-8D61-3A11250B0061}"/>
              </a:ext>
            </a:extLst>
          </p:cNvPr>
          <p:cNvSpPr>
            <a:spLocks noGrp="1"/>
          </p:cNvSpPr>
          <p:nvPr/>
        </p:nvSpPr>
        <p:spPr>
          <a:xfrm>
            <a:off x="7524750" y="323850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PTP month</a:t>
            </a:r>
          </a:p>
        </p:txBody>
      </p:sp>
      <p:sp>
        <p:nvSpPr>
          <p:cNvPr id="27" name="Rectangle 26">
            <a:extLst>
              <a:ext uri="{FF2B5EF4-FFF2-40B4-BE49-F238E27FC236}">
                <a16:creationId xmlns:a16="http://schemas.microsoft.com/office/drawing/2014/main" id="{CA9D8637-5BDC-428E-AFCF-F22587A4CDB0}"/>
              </a:ext>
            </a:extLst>
          </p:cNvPr>
          <p:cNvSpPr>
            <a:spLocks noGrp="1"/>
          </p:cNvSpPr>
          <p:nvPr/>
        </p:nvSpPr>
        <p:spPr>
          <a:xfrm>
            <a:off x="685800" y="3638550"/>
            <a:ext cx="10820400" cy="552450"/>
          </a:xfrm>
          <a:prstGeom prst="rect">
            <a:avLst/>
          </a:prstGeom>
          <a:solidFill>
            <a:srgbClr val="FFFDF9"/>
          </a:solidFill>
          <a:ln w="4763">
            <a:solidFill>
              <a:srgbClr val="F2C39E"/>
            </a:solidFill>
            <a:prstDash val="solid"/>
          </a:ln>
        </p:spPr>
        <p:txBody>
          <a:bodyPr/>
          <a:lstStyle/>
          <a:p>
            <a:endParaRPr lang="en-US"/>
          </a:p>
        </p:txBody>
      </p:sp>
      <p:sp>
        <p:nvSpPr>
          <p:cNvPr id="28" name="Rectangle 27">
            <a:extLst>
              <a:ext uri="{FF2B5EF4-FFF2-40B4-BE49-F238E27FC236}">
                <a16:creationId xmlns:a16="http://schemas.microsoft.com/office/drawing/2014/main" id="{33F7DD94-3D95-41AB-BC9E-221FAAC0F78E}"/>
              </a:ext>
            </a:extLst>
          </p:cNvPr>
          <p:cNvSpPr>
            <a:spLocks noGrp="1"/>
          </p:cNvSpPr>
          <p:nvPr/>
        </p:nvSpPr>
        <p:spPr>
          <a:xfrm>
            <a:off x="895350" y="379095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vw_ptp_material_group.csv</a:t>
            </a:r>
          </a:p>
        </p:txBody>
      </p:sp>
      <p:sp>
        <p:nvSpPr>
          <p:cNvPr id="29" name="Rectangle 28">
            <a:extLst>
              <a:ext uri="{FF2B5EF4-FFF2-40B4-BE49-F238E27FC236}">
                <a16:creationId xmlns:a16="http://schemas.microsoft.com/office/drawing/2014/main" id="{4439DDE8-0501-4D35-9CF2-360EA843C438}"/>
              </a:ext>
            </a:extLst>
          </p:cNvPr>
          <p:cNvSpPr>
            <a:spLocks noGrp="1"/>
          </p:cNvSpPr>
          <p:nvPr/>
        </p:nvSpPr>
        <p:spPr>
          <a:xfrm>
            <a:off x="6191250" y="379095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145</a:t>
            </a:r>
          </a:p>
        </p:txBody>
      </p:sp>
      <p:sp>
        <p:nvSpPr>
          <p:cNvPr id="30" name="Rectangle 29">
            <a:extLst>
              <a:ext uri="{FF2B5EF4-FFF2-40B4-BE49-F238E27FC236}">
                <a16:creationId xmlns:a16="http://schemas.microsoft.com/office/drawing/2014/main" id="{DB3CCCBB-2C47-4105-A11E-E24B3D3CDEE7}"/>
              </a:ext>
            </a:extLst>
          </p:cNvPr>
          <p:cNvSpPr>
            <a:spLocks noGrp="1"/>
          </p:cNvSpPr>
          <p:nvPr/>
        </p:nvSpPr>
        <p:spPr>
          <a:xfrm>
            <a:off x="7524750" y="379095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material group</a:t>
            </a:r>
          </a:p>
        </p:txBody>
      </p:sp>
      <p:sp>
        <p:nvSpPr>
          <p:cNvPr id="31" name="Rectangle 30">
            <a:extLst>
              <a:ext uri="{FF2B5EF4-FFF2-40B4-BE49-F238E27FC236}">
                <a16:creationId xmlns:a16="http://schemas.microsoft.com/office/drawing/2014/main" id="{C35D8BA2-B45F-4052-9C51-7B6A1578E5AA}"/>
              </a:ext>
            </a:extLst>
          </p:cNvPr>
          <p:cNvSpPr>
            <a:spLocks noGrp="1"/>
          </p:cNvSpPr>
          <p:nvPr/>
        </p:nvSpPr>
        <p:spPr>
          <a:xfrm>
            <a:off x="685800" y="4191000"/>
            <a:ext cx="10820400" cy="552450"/>
          </a:xfrm>
          <a:prstGeom prst="rect">
            <a:avLst/>
          </a:prstGeom>
          <a:solidFill>
            <a:srgbClr val="FFE0C2"/>
          </a:solidFill>
          <a:ln w="4763">
            <a:solidFill>
              <a:srgbClr val="F2C39E"/>
            </a:solidFill>
            <a:prstDash val="solid"/>
          </a:ln>
        </p:spPr>
        <p:txBody>
          <a:bodyPr/>
          <a:lstStyle/>
          <a:p>
            <a:endParaRPr lang="en-US"/>
          </a:p>
        </p:txBody>
      </p:sp>
      <p:sp>
        <p:nvSpPr>
          <p:cNvPr id="32" name="Rectangle 31">
            <a:extLst>
              <a:ext uri="{FF2B5EF4-FFF2-40B4-BE49-F238E27FC236}">
                <a16:creationId xmlns:a16="http://schemas.microsoft.com/office/drawing/2014/main" id="{7283DEE8-4AA5-4CF8-8C86-CBE93F84B582}"/>
              </a:ext>
            </a:extLst>
          </p:cNvPr>
          <p:cNvSpPr>
            <a:spLocks noGrp="1"/>
          </p:cNvSpPr>
          <p:nvPr/>
        </p:nvSpPr>
        <p:spPr>
          <a:xfrm>
            <a:off x="895350" y="434340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vw_rtr_monthly_kpis.csv</a:t>
            </a:r>
          </a:p>
        </p:txBody>
      </p:sp>
      <p:sp>
        <p:nvSpPr>
          <p:cNvPr id="33" name="Rectangle 32">
            <a:extLst>
              <a:ext uri="{FF2B5EF4-FFF2-40B4-BE49-F238E27FC236}">
                <a16:creationId xmlns:a16="http://schemas.microsoft.com/office/drawing/2014/main" id="{25D961DF-0326-4C1A-B46A-8663F368DDBD}"/>
              </a:ext>
            </a:extLst>
          </p:cNvPr>
          <p:cNvSpPr>
            <a:spLocks noGrp="1"/>
          </p:cNvSpPr>
          <p:nvPr/>
        </p:nvSpPr>
        <p:spPr>
          <a:xfrm>
            <a:off x="6191250" y="434340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36</a:t>
            </a:r>
          </a:p>
        </p:txBody>
      </p:sp>
      <p:sp>
        <p:nvSpPr>
          <p:cNvPr id="34" name="Rectangle 33">
            <a:extLst>
              <a:ext uri="{FF2B5EF4-FFF2-40B4-BE49-F238E27FC236}">
                <a16:creationId xmlns:a16="http://schemas.microsoft.com/office/drawing/2014/main" id="{D78EAC08-07EF-425E-81B6-8AC980679928}"/>
              </a:ext>
            </a:extLst>
          </p:cNvPr>
          <p:cNvSpPr>
            <a:spLocks noGrp="1"/>
          </p:cNvSpPr>
          <p:nvPr/>
        </p:nvSpPr>
        <p:spPr>
          <a:xfrm>
            <a:off x="7524750" y="434340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RTR month</a:t>
            </a:r>
          </a:p>
        </p:txBody>
      </p:sp>
      <p:sp>
        <p:nvSpPr>
          <p:cNvPr id="35" name="Rectangle 34">
            <a:extLst>
              <a:ext uri="{FF2B5EF4-FFF2-40B4-BE49-F238E27FC236}">
                <a16:creationId xmlns:a16="http://schemas.microsoft.com/office/drawing/2014/main" id="{E1F6022E-FF4D-423A-97EC-D73AF82FE8ED}"/>
              </a:ext>
            </a:extLst>
          </p:cNvPr>
          <p:cNvSpPr>
            <a:spLocks noGrp="1"/>
          </p:cNvSpPr>
          <p:nvPr/>
        </p:nvSpPr>
        <p:spPr>
          <a:xfrm>
            <a:off x="685800" y="4743450"/>
            <a:ext cx="10820400" cy="552450"/>
          </a:xfrm>
          <a:prstGeom prst="rect">
            <a:avLst/>
          </a:prstGeom>
          <a:solidFill>
            <a:srgbClr val="FFFDF9"/>
          </a:solidFill>
          <a:ln w="4763">
            <a:solidFill>
              <a:srgbClr val="F2C39E"/>
            </a:solidFill>
            <a:prstDash val="solid"/>
          </a:ln>
        </p:spPr>
        <p:txBody>
          <a:bodyPr/>
          <a:lstStyle/>
          <a:p>
            <a:endParaRPr lang="en-US"/>
          </a:p>
        </p:txBody>
      </p:sp>
      <p:sp>
        <p:nvSpPr>
          <p:cNvPr id="36" name="Rectangle 35">
            <a:extLst>
              <a:ext uri="{FF2B5EF4-FFF2-40B4-BE49-F238E27FC236}">
                <a16:creationId xmlns:a16="http://schemas.microsoft.com/office/drawing/2014/main" id="{ED00AE64-3F19-4F82-9D63-861E80A58958}"/>
              </a:ext>
            </a:extLst>
          </p:cNvPr>
          <p:cNvSpPr>
            <a:spLocks noGrp="1"/>
          </p:cNvSpPr>
          <p:nvPr/>
        </p:nvSpPr>
        <p:spPr>
          <a:xfrm>
            <a:off x="895350" y="4895850"/>
            <a:ext cx="4762500" cy="228600"/>
          </a:xfrm>
          <a:prstGeom prst="rect">
            <a:avLst/>
          </a:prstGeom>
          <a:noFill/>
          <a:ln w="0">
            <a:noFill/>
            <a:prstDash val="solid"/>
          </a:ln>
        </p:spPr>
        <p:txBody>
          <a:bodyPr/>
          <a:lstStyle/>
          <a:p>
            <a:pPr algn="l">
              <a:defRPr sz="1400" b="0" i="0">
                <a:solidFill>
                  <a:srgbClr val="252525"/>
                </a:solidFill>
              </a:defRPr>
            </a:pPr>
            <a:r>
              <a:rPr sz="1400" b="0" i="0">
                <a:solidFill>
                  <a:srgbClr val="252525"/>
                </a:solidFill>
              </a:rPr>
              <a:t>vw_rtr_account_analysis.csv</a:t>
            </a:r>
          </a:p>
        </p:txBody>
      </p:sp>
      <p:sp>
        <p:nvSpPr>
          <p:cNvPr id="37" name="Rectangle 36">
            <a:extLst>
              <a:ext uri="{FF2B5EF4-FFF2-40B4-BE49-F238E27FC236}">
                <a16:creationId xmlns:a16="http://schemas.microsoft.com/office/drawing/2014/main" id="{09C8436B-F9E5-4E09-9306-FB649D0A99C1}"/>
              </a:ext>
            </a:extLst>
          </p:cNvPr>
          <p:cNvSpPr>
            <a:spLocks noGrp="1"/>
          </p:cNvSpPr>
          <p:nvPr/>
        </p:nvSpPr>
        <p:spPr>
          <a:xfrm>
            <a:off x="6191250" y="4895850"/>
            <a:ext cx="952500" cy="228600"/>
          </a:xfrm>
          <a:prstGeom prst="rect">
            <a:avLst/>
          </a:prstGeom>
          <a:noFill/>
          <a:ln w="0">
            <a:noFill/>
            <a:prstDash val="solid"/>
          </a:ln>
        </p:spPr>
        <p:txBody>
          <a:bodyPr/>
          <a:lstStyle/>
          <a:p>
            <a:pPr algn="ctr">
              <a:defRPr sz="1400" b="1" i="0">
                <a:solidFill>
                  <a:srgbClr val="C2410C"/>
                </a:solidFill>
              </a:defRPr>
            </a:pPr>
            <a:r>
              <a:rPr sz="1400" b="1" i="0">
                <a:solidFill>
                  <a:srgbClr val="C2410C"/>
                </a:solidFill>
              </a:rPr>
              <a:t>38</a:t>
            </a:r>
          </a:p>
        </p:txBody>
      </p:sp>
      <p:sp>
        <p:nvSpPr>
          <p:cNvPr id="38" name="Rectangle 37">
            <a:extLst>
              <a:ext uri="{FF2B5EF4-FFF2-40B4-BE49-F238E27FC236}">
                <a16:creationId xmlns:a16="http://schemas.microsoft.com/office/drawing/2014/main" id="{7542883C-3FBD-4ED5-8725-D03B51D2DB33}"/>
              </a:ext>
            </a:extLst>
          </p:cNvPr>
          <p:cNvSpPr>
            <a:spLocks noGrp="1"/>
          </p:cNvSpPr>
          <p:nvPr/>
        </p:nvSpPr>
        <p:spPr>
          <a:xfrm>
            <a:off x="7524750" y="4895850"/>
            <a:ext cx="3619500" cy="2286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One row per account/subaccount</a:t>
            </a:r>
          </a:p>
        </p:txBody>
      </p:sp>
      <p:sp>
        <p:nvSpPr>
          <p:cNvPr id="39" name="Rounded Rectangle 38">
            <a:extLst>
              <a:ext uri="{FF2B5EF4-FFF2-40B4-BE49-F238E27FC236}">
                <a16:creationId xmlns:a16="http://schemas.microsoft.com/office/drawing/2014/main" id="{2C55BD49-B4E9-4D93-A591-36225BD8EEAF}"/>
              </a:ext>
            </a:extLst>
          </p:cNvPr>
          <p:cNvSpPr>
            <a:spLocks noGrp="1"/>
          </p:cNvSpPr>
          <p:nvPr/>
        </p:nvSpPr>
        <p:spPr>
          <a:xfrm>
            <a:off x="685800" y="55054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40" name="Rectangle 39">
            <a:extLst>
              <a:ext uri="{FF2B5EF4-FFF2-40B4-BE49-F238E27FC236}">
                <a16:creationId xmlns:a16="http://schemas.microsoft.com/office/drawing/2014/main" id="{0210C653-D74E-4FEF-B196-4752A9EF2433}"/>
              </a:ext>
            </a:extLst>
          </p:cNvPr>
          <p:cNvSpPr>
            <a:spLocks noGrp="1"/>
          </p:cNvSpPr>
          <p:nvPr/>
        </p:nvSpPr>
        <p:spPr>
          <a:xfrm>
            <a:off x="895350" y="5600700"/>
            <a:ext cx="10401300" cy="2667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The seven compact extracts contain 377 governed analytical rows in total.</a:t>
            </a:r>
          </a:p>
        </p:txBody>
      </p:sp>
    </p:spTree>
    <p:extLst>
      <p:ext uri="{BB962C8B-B14F-4D97-AF65-F5344CB8AC3E}">
        <p14:creationId xmlns:p14="http://schemas.microsoft.com/office/powerpoint/2010/main" val="1267792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FBFD879-A2F2-4005-814A-BD660BB31855}"/>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1C559D0A-CBC6-46FB-8A26-BCCC5BE5B3E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Basic EDA confirmed the downloaded files were analysis-ready</a:t>
            </a:r>
          </a:p>
        </p:txBody>
      </p:sp>
      <p:sp>
        <p:nvSpPr>
          <p:cNvPr id="3" name="Rectangle 2">
            <a:extLst>
              <a:ext uri="{FF2B5EF4-FFF2-40B4-BE49-F238E27FC236}">
                <a16:creationId xmlns:a16="http://schemas.microsoft.com/office/drawing/2014/main" id="{F543CCC4-67EF-44BA-A7DB-BD6ADFCE1021}"/>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EXPORTED-FILE EDA 2 OF 2</a:t>
            </a:r>
          </a:p>
        </p:txBody>
      </p:sp>
      <p:sp>
        <p:nvSpPr>
          <p:cNvPr id="4" name="Straight Connector 3">
            <a:extLst>
              <a:ext uri="{FF2B5EF4-FFF2-40B4-BE49-F238E27FC236}">
                <a16:creationId xmlns:a16="http://schemas.microsoft.com/office/drawing/2014/main" id="{2B227FC9-7C4E-4734-8FBB-16014D7B98B6}"/>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5F82D253-2491-4A9D-996F-B6668BC995D1}"/>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4F944D40-6EAB-4962-ADD5-BC8A01ACF26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22</a:t>
            </a:r>
          </a:p>
        </p:txBody>
      </p:sp>
      <p:sp>
        <p:nvSpPr>
          <p:cNvPr id="7" name="Rounded Rectangle 6">
            <a:extLst>
              <a:ext uri="{FF2B5EF4-FFF2-40B4-BE49-F238E27FC236}">
                <a16:creationId xmlns:a16="http://schemas.microsoft.com/office/drawing/2014/main" id="{DFEA0572-BB2F-4C3F-AB0A-038F2731ADD8}"/>
              </a:ext>
            </a:extLst>
          </p:cNvPr>
          <p:cNvSpPr>
            <a:spLocks noGrp="1"/>
          </p:cNvSpPr>
          <p:nvPr/>
        </p:nvSpPr>
        <p:spPr>
          <a:xfrm>
            <a:off x="666750" y="971550"/>
            <a:ext cx="6191250" cy="4629150"/>
          </a:xfrm>
          <a:prstGeom prst="roundRect">
            <a:avLst>
              <a:gd name="adj" fmla="val 2058"/>
            </a:avLst>
          </a:prstGeom>
          <a:solidFill>
            <a:srgbClr val="1C1917"/>
          </a:solidFill>
          <a:ln w="9525">
            <a:solidFill>
              <a:srgbClr val="3F3F46"/>
            </a:solidFill>
            <a:prstDash val="solid"/>
          </a:ln>
        </p:spPr>
        <p:txBody>
          <a:bodyPr/>
          <a:lstStyle/>
          <a:p>
            <a:endParaRPr lang="en-US"/>
          </a:p>
        </p:txBody>
      </p:sp>
      <p:sp>
        <p:nvSpPr>
          <p:cNvPr id="8" name="Rectangle 7">
            <a:extLst>
              <a:ext uri="{FF2B5EF4-FFF2-40B4-BE49-F238E27FC236}">
                <a16:creationId xmlns:a16="http://schemas.microsoft.com/office/drawing/2014/main" id="{AE3A042B-F9A7-46D2-AB69-1A3D72FE29A1}"/>
              </a:ext>
            </a:extLst>
          </p:cNvPr>
          <p:cNvSpPr>
            <a:spLocks noGrp="1"/>
          </p:cNvSpPr>
          <p:nvPr/>
        </p:nvSpPr>
        <p:spPr>
          <a:xfrm>
            <a:off x="895350" y="1238250"/>
            <a:ext cx="5734050" cy="4038600"/>
          </a:xfrm>
          <a:prstGeom prst="rect">
            <a:avLst/>
          </a:prstGeom>
          <a:noFill/>
          <a:ln w="0">
            <a:noFill/>
            <a:prstDash val="solid"/>
          </a:ln>
        </p:spPr>
        <p:txBody>
          <a:bodyPr/>
          <a:lstStyle/>
          <a:p>
            <a:pPr algn="l">
              <a:defRPr sz="1000" b="0" i="0">
                <a:solidFill>
                  <a:srgbClr val="F4F4F5"/>
                </a:solidFill>
              </a:defRPr>
            </a:pPr>
            <a:r>
              <a:rPr sz="1000" b="0" i="0">
                <a:solidFill>
                  <a:srgbClr val="F4F4F5"/>
                </a:solidFill>
              </a:rPr>
              <a:t>files = sorted(TABLEAU_DIR.glob("*.csv"))</a:t>
            </a:r>
          </a:p>
          <a:p>
            <a:endParaRPr sz="1000" b="0" i="0">
              <a:solidFill>
                <a:srgbClr val="F4F4F5"/>
              </a:solidFill>
            </a:endParaRPr>
          </a:p>
          <a:p>
            <a:pPr algn="l">
              <a:defRPr sz="1000" b="0" i="0">
                <a:solidFill>
                  <a:srgbClr val="F4F4F5"/>
                </a:solidFill>
              </a:defRPr>
            </a:pPr>
            <a:r>
              <a:rPr sz="1000" b="0" i="0">
                <a:solidFill>
                  <a:srgbClr val="F4F4F5"/>
                </a:solidFill>
              </a:rPr>
              <a:t>for file in files:</a:t>
            </a:r>
          </a:p>
          <a:p>
            <a:pPr algn="l">
              <a:defRPr sz="1000" b="0" i="0">
                <a:solidFill>
                  <a:srgbClr val="F4F4F5"/>
                </a:solidFill>
              </a:defRPr>
            </a:pPr>
            <a:r>
              <a:rPr sz="1000" b="0" i="0">
                <a:solidFill>
                  <a:srgbClr val="F4F4F5"/>
                </a:solidFill>
              </a:rPr>
              <a:t>    df = pd.read_csv(file)</a:t>
            </a:r>
          </a:p>
          <a:p>
            <a:pPr algn="l">
              <a:defRPr sz="1000" b="0" i="0">
                <a:solidFill>
                  <a:srgbClr val="F4F4F5"/>
                </a:solidFill>
              </a:defRPr>
            </a:pPr>
            <a:r>
              <a:rPr sz="1000" b="0" i="0">
                <a:solidFill>
                  <a:srgbClr val="F4F4F5"/>
                </a:solidFill>
              </a:rPr>
              <a:t>    print(file.name, df.shape)</a:t>
            </a:r>
          </a:p>
          <a:p>
            <a:pPr algn="l">
              <a:defRPr sz="1000" b="0" i="0">
                <a:solidFill>
                  <a:srgbClr val="F4F4F5"/>
                </a:solidFill>
              </a:defRPr>
            </a:pPr>
            <a:r>
              <a:rPr sz="1000" b="0" i="0">
                <a:solidFill>
                  <a:srgbClr val="F4F4F5"/>
                </a:solidFill>
              </a:rPr>
              <a:t>    print("missing:", df.isna().sum().sum())</a:t>
            </a:r>
          </a:p>
          <a:p>
            <a:pPr algn="l">
              <a:defRPr sz="1000" b="0" i="0">
                <a:solidFill>
                  <a:srgbClr val="F4F4F5"/>
                </a:solidFill>
              </a:defRPr>
            </a:pPr>
            <a:r>
              <a:rPr sz="1000" b="0" i="0">
                <a:solidFill>
                  <a:srgbClr val="F4F4F5"/>
                </a:solidFill>
              </a:rPr>
              <a:t>    print("duplicates:", df.duplicated().sum())</a:t>
            </a:r>
          </a:p>
          <a:p>
            <a:pPr algn="l">
              <a:defRPr sz="1000" b="0" i="0">
                <a:solidFill>
                  <a:srgbClr val="F4F4F5"/>
                </a:solidFill>
              </a:defRPr>
            </a:pPr>
            <a:r>
              <a:rPr sz="1000" b="0" i="0">
                <a:solidFill>
                  <a:srgbClr val="F4F4F5"/>
                </a:solidFill>
              </a:rPr>
              <a:t>    print(df.describe(include="all").T)</a:t>
            </a:r>
          </a:p>
          <a:p>
            <a:endParaRPr sz="1000" b="0" i="0">
              <a:solidFill>
                <a:srgbClr val="F4F4F5"/>
              </a:solidFill>
            </a:endParaRPr>
          </a:p>
          <a:p>
            <a:pPr algn="l">
              <a:defRPr sz="1000" b="0" i="0">
                <a:solidFill>
                  <a:srgbClr val="F4F4F5"/>
                </a:solidFill>
              </a:defRPr>
            </a:pPr>
            <a:r>
              <a:rPr sz="1000" b="0" i="0">
                <a:solidFill>
                  <a:srgbClr val="F4F4F5"/>
                </a:solidFill>
              </a:rPr>
              <a:t># Additional checks</a:t>
            </a:r>
          </a:p>
          <a:p>
            <a:pPr algn="l">
              <a:defRPr sz="1000" b="0" i="0">
                <a:solidFill>
                  <a:srgbClr val="F4F4F5"/>
                </a:solidFill>
              </a:defRPr>
            </a:pPr>
            <a:r>
              <a:rPr sz="1000" b="0" i="0">
                <a:solidFill>
                  <a:srgbClr val="F4F4F5"/>
                </a:solidFill>
              </a:rPr>
              <a:t># - parse monthly date columns</a:t>
            </a:r>
          </a:p>
          <a:p>
            <a:pPr algn="l">
              <a:defRPr sz="1000" b="0" i="0">
                <a:solidFill>
                  <a:srgbClr val="F4F4F5"/>
                </a:solidFill>
              </a:defRPr>
            </a:pPr>
            <a:r>
              <a:rPr sz="1000" b="0" i="0">
                <a:solidFill>
                  <a:srgbClr val="F4F4F5"/>
                </a:solidFill>
              </a:rPr>
              <a:t># - confirm distinct business keys</a:t>
            </a:r>
          </a:p>
          <a:p>
            <a:pPr algn="l">
              <a:defRPr sz="1000" b="0" i="0">
                <a:solidFill>
                  <a:srgbClr val="F4F4F5"/>
                </a:solidFill>
              </a:defRPr>
            </a:pPr>
            <a:r>
              <a:rPr sz="1000" b="0" i="0">
                <a:solidFill>
                  <a:srgbClr val="F4F4F5"/>
                </a:solidFill>
              </a:rPr>
              <a:t># - review min / max / totals</a:t>
            </a:r>
          </a:p>
          <a:p>
            <a:pPr algn="l">
              <a:defRPr sz="1000" b="0" i="0">
                <a:solidFill>
                  <a:srgbClr val="F4F4F5"/>
                </a:solidFill>
              </a:defRPr>
            </a:pPr>
            <a:r>
              <a:rPr sz="1000" b="0" i="0">
                <a:solidFill>
                  <a:srgbClr val="F4F4F5"/>
                </a:solidFill>
              </a:rPr>
              <a:t># - reconcile with SQL outputs</a:t>
            </a:r>
          </a:p>
        </p:txBody>
      </p:sp>
      <p:sp>
        <p:nvSpPr>
          <p:cNvPr id="9" name="Rectangle 8">
            <a:extLst>
              <a:ext uri="{FF2B5EF4-FFF2-40B4-BE49-F238E27FC236}">
                <a16:creationId xmlns:a16="http://schemas.microsoft.com/office/drawing/2014/main" id="{BAE7F6B5-B9C5-4CE1-8653-36E062675D54}"/>
              </a:ext>
            </a:extLst>
          </p:cNvPr>
          <p:cNvSpPr>
            <a:spLocks noGrp="1"/>
          </p:cNvSpPr>
          <p:nvPr/>
        </p:nvSpPr>
        <p:spPr>
          <a:xfrm>
            <a:off x="7219950" y="1066800"/>
            <a:ext cx="57150" cy="685800"/>
          </a:xfrm>
          <a:prstGeom prst="rect">
            <a:avLst/>
          </a:prstGeom>
          <a:solidFill>
            <a:srgbClr val="F97316"/>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CFE0343-4545-4690-90F7-BC99A313B1BF}"/>
              </a:ext>
            </a:extLst>
          </p:cNvPr>
          <p:cNvSpPr>
            <a:spLocks noGrp="1"/>
          </p:cNvSpPr>
          <p:nvPr/>
        </p:nvSpPr>
        <p:spPr>
          <a:xfrm>
            <a:off x="7429500" y="1123950"/>
            <a:ext cx="3695700" cy="209550"/>
          </a:xfrm>
          <a:prstGeom prst="rect">
            <a:avLst/>
          </a:prstGeom>
          <a:noFill/>
          <a:ln w="0">
            <a:noFill/>
            <a:prstDash val="solid"/>
          </a:ln>
        </p:spPr>
        <p:txBody>
          <a:bodyPr/>
          <a:lstStyle/>
          <a:p>
            <a:pPr algn="l">
              <a:defRPr sz="1100" b="1" i="0">
                <a:solidFill>
                  <a:srgbClr val="252525"/>
                </a:solidFill>
              </a:defRPr>
            </a:pPr>
            <a:r>
              <a:rPr sz="1100" b="1" i="0">
                <a:solidFill>
                  <a:srgbClr val="252525"/>
                </a:solidFill>
              </a:rPr>
              <a:t>Shape and schema</a:t>
            </a:r>
          </a:p>
        </p:txBody>
      </p:sp>
      <p:sp>
        <p:nvSpPr>
          <p:cNvPr id="11" name="Rectangle 10">
            <a:extLst>
              <a:ext uri="{FF2B5EF4-FFF2-40B4-BE49-F238E27FC236}">
                <a16:creationId xmlns:a16="http://schemas.microsoft.com/office/drawing/2014/main" id="{6F3F2403-382C-4B83-BF7A-783D6AA00A36}"/>
              </a:ext>
            </a:extLst>
          </p:cNvPr>
          <p:cNvSpPr>
            <a:spLocks noGrp="1"/>
          </p:cNvSpPr>
          <p:nvPr/>
        </p:nvSpPr>
        <p:spPr>
          <a:xfrm>
            <a:off x="7429500" y="1352550"/>
            <a:ext cx="3695700" cy="3619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Confirm the expected row/column count and required Tableau fields in every view.</a:t>
            </a:r>
          </a:p>
        </p:txBody>
      </p:sp>
      <p:sp>
        <p:nvSpPr>
          <p:cNvPr id="12" name="Rectangle 11">
            <a:extLst>
              <a:ext uri="{FF2B5EF4-FFF2-40B4-BE49-F238E27FC236}">
                <a16:creationId xmlns:a16="http://schemas.microsoft.com/office/drawing/2014/main" id="{71610FC9-7DAC-4878-BE7A-81941B26699E}"/>
              </a:ext>
            </a:extLst>
          </p:cNvPr>
          <p:cNvSpPr>
            <a:spLocks noGrp="1"/>
          </p:cNvSpPr>
          <p:nvPr/>
        </p:nvSpPr>
        <p:spPr>
          <a:xfrm>
            <a:off x="7219950" y="1981200"/>
            <a:ext cx="57150" cy="723900"/>
          </a:xfrm>
          <a:prstGeom prst="rect">
            <a:avLst/>
          </a:prstGeom>
          <a:solidFill>
            <a:srgbClr val="FDBA74"/>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F2A37CDB-285D-4E7D-B2D4-7384C477A03E}"/>
              </a:ext>
            </a:extLst>
          </p:cNvPr>
          <p:cNvSpPr>
            <a:spLocks noGrp="1"/>
          </p:cNvSpPr>
          <p:nvPr/>
        </p:nvSpPr>
        <p:spPr>
          <a:xfrm>
            <a:off x="7429500" y="2038350"/>
            <a:ext cx="3695700" cy="209550"/>
          </a:xfrm>
          <a:prstGeom prst="rect">
            <a:avLst/>
          </a:prstGeom>
          <a:noFill/>
          <a:ln w="0">
            <a:noFill/>
            <a:prstDash val="solid"/>
          </a:ln>
        </p:spPr>
        <p:txBody>
          <a:bodyPr/>
          <a:lstStyle/>
          <a:p>
            <a:pPr algn="l">
              <a:defRPr sz="1100" b="1" i="0">
                <a:solidFill>
                  <a:srgbClr val="252525"/>
                </a:solidFill>
              </a:defRPr>
            </a:pPr>
            <a:r>
              <a:rPr sz="1100" b="1" i="0">
                <a:solidFill>
                  <a:srgbClr val="252525"/>
                </a:solidFill>
              </a:rPr>
              <a:t>Completeness</a:t>
            </a:r>
          </a:p>
        </p:txBody>
      </p:sp>
      <p:sp>
        <p:nvSpPr>
          <p:cNvPr id="14" name="Rectangle 13">
            <a:extLst>
              <a:ext uri="{FF2B5EF4-FFF2-40B4-BE49-F238E27FC236}">
                <a16:creationId xmlns:a16="http://schemas.microsoft.com/office/drawing/2014/main" id="{5DAD7A04-634F-4B04-890D-2DD96C99B025}"/>
              </a:ext>
            </a:extLst>
          </p:cNvPr>
          <p:cNvSpPr>
            <a:spLocks noGrp="1"/>
          </p:cNvSpPr>
          <p:nvPr/>
        </p:nvSpPr>
        <p:spPr>
          <a:xfrm>
            <a:off x="7429500" y="2266950"/>
            <a:ext cx="3695700" cy="4000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Inspect missing values, duplicate analytical rows and null business keys before visualisation.</a:t>
            </a:r>
          </a:p>
        </p:txBody>
      </p:sp>
      <p:sp>
        <p:nvSpPr>
          <p:cNvPr id="15" name="Rectangle 14">
            <a:extLst>
              <a:ext uri="{FF2B5EF4-FFF2-40B4-BE49-F238E27FC236}">
                <a16:creationId xmlns:a16="http://schemas.microsoft.com/office/drawing/2014/main" id="{5A25C962-3C34-4753-8E5D-38473A7FFC3E}"/>
              </a:ext>
            </a:extLst>
          </p:cNvPr>
          <p:cNvSpPr>
            <a:spLocks noGrp="1"/>
          </p:cNvSpPr>
          <p:nvPr/>
        </p:nvSpPr>
        <p:spPr>
          <a:xfrm>
            <a:off x="7219950" y="2933700"/>
            <a:ext cx="57150" cy="819150"/>
          </a:xfrm>
          <a:prstGeom prst="rect">
            <a:avLst/>
          </a:prstGeom>
          <a:solidFill>
            <a:srgbClr val="C2410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AD7BA0E3-815B-4AA5-B0A3-15BCEF3FBD3D}"/>
              </a:ext>
            </a:extLst>
          </p:cNvPr>
          <p:cNvSpPr>
            <a:spLocks noGrp="1"/>
          </p:cNvSpPr>
          <p:nvPr/>
        </p:nvSpPr>
        <p:spPr>
          <a:xfrm>
            <a:off x="7429500" y="2990850"/>
            <a:ext cx="3695700" cy="209550"/>
          </a:xfrm>
          <a:prstGeom prst="rect">
            <a:avLst/>
          </a:prstGeom>
          <a:noFill/>
          <a:ln w="0">
            <a:noFill/>
            <a:prstDash val="solid"/>
          </a:ln>
        </p:spPr>
        <p:txBody>
          <a:bodyPr/>
          <a:lstStyle/>
          <a:p>
            <a:pPr algn="l">
              <a:defRPr sz="1100" b="1" i="0">
                <a:solidFill>
                  <a:srgbClr val="252525"/>
                </a:solidFill>
              </a:defRPr>
            </a:pPr>
            <a:r>
              <a:rPr sz="1100" b="1" i="0">
                <a:solidFill>
                  <a:srgbClr val="252525"/>
                </a:solidFill>
              </a:rPr>
              <a:t>Distribution</a:t>
            </a:r>
          </a:p>
        </p:txBody>
      </p:sp>
      <p:sp>
        <p:nvSpPr>
          <p:cNvPr id="17" name="Rectangle 16">
            <a:extLst>
              <a:ext uri="{FF2B5EF4-FFF2-40B4-BE49-F238E27FC236}">
                <a16:creationId xmlns:a16="http://schemas.microsoft.com/office/drawing/2014/main" id="{EB71ADCA-77F5-4333-BA2A-609041192A1D}"/>
              </a:ext>
            </a:extLst>
          </p:cNvPr>
          <p:cNvSpPr>
            <a:spLocks noGrp="1"/>
          </p:cNvSpPr>
          <p:nvPr/>
        </p:nvSpPr>
        <p:spPr>
          <a:xfrm>
            <a:off x="7429500" y="3219450"/>
            <a:ext cx="3695700" cy="495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Review numeric summaries, date ranges, distinct categories and extreme values at the view’s natural grain.</a:t>
            </a:r>
          </a:p>
        </p:txBody>
      </p:sp>
      <p:sp>
        <p:nvSpPr>
          <p:cNvPr id="18" name="Rectangle 17">
            <a:extLst>
              <a:ext uri="{FF2B5EF4-FFF2-40B4-BE49-F238E27FC236}">
                <a16:creationId xmlns:a16="http://schemas.microsoft.com/office/drawing/2014/main" id="{511BABE5-3FF8-4CA6-B98A-C70F2D925003}"/>
              </a:ext>
            </a:extLst>
          </p:cNvPr>
          <p:cNvSpPr>
            <a:spLocks noGrp="1"/>
          </p:cNvSpPr>
          <p:nvPr/>
        </p:nvSpPr>
        <p:spPr>
          <a:xfrm>
            <a:off x="7219950" y="3981450"/>
            <a:ext cx="57150" cy="819150"/>
          </a:xfrm>
          <a:prstGeom prst="rect">
            <a:avLst/>
          </a:prstGeom>
          <a:solidFill>
            <a:srgbClr val="76B7B2"/>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06468D49-69AC-45C2-B2C5-A8CC6C4C155F}"/>
              </a:ext>
            </a:extLst>
          </p:cNvPr>
          <p:cNvSpPr>
            <a:spLocks noGrp="1"/>
          </p:cNvSpPr>
          <p:nvPr/>
        </p:nvSpPr>
        <p:spPr>
          <a:xfrm>
            <a:off x="7429500" y="4038600"/>
            <a:ext cx="3695700" cy="209550"/>
          </a:xfrm>
          <a:prstGeom prst="rect">
            <a:avLst/>
          </a:prstGeom>
          <a:noFill/>
          <a:ln w="0">
            <a:noFill/>
            <a:prstDash val="solid"/>
          </a:ln>
        </p:spPr>
        <p:txBody>
          <a:bodyPr/>
          <a:lstStyle/>
          <a:p>
            <a:pPr algn="l">
              <a:defRPr sz="1100" b="1" i="0">
                <a:solidFill>
                  <a:srgbClr val="252525"/>
                </a:solidFill>
              </a:defRPr>
            </a:pPr>
            <a:r>
              <a:rPr sz="1100" b="1" i="0">
                <a:solidFill>
                  <a:srgbClr val="252525"/>
                </a:solidFill>
              </a:rPr>
              <a:t>Reconciliation</a:t>
            </a:r>
          </a:p>
        </p:txBody>
      </p:sp>
      <p:sp>
        <p:nvSpPr>
          <p:cNvPr id="20" name="Rectangle 19">
            <a:extLst>
              <a:ext uri="{FF2B5EF4-FFF2-40B4-BE49-F238E27FC236}">
                <a16:creationId xmlns:a16="http://schemas.microsoft.com/office/drawing/2014/main" id="{E6253213-DE61-4597-8344-3027BC13E9C0}"/>
              </a:ext>
            </a:extLst>
          </p:cNvPr>
          <p:cNvSpPr>
            <a:spLocks noGrp="1"/>
          </p:cNvSpPr>
          <p:nvPr/>
        </p:nvSpPr>
        <p:spPr>
          <a:xfrm>
            <a:off x="7429500" y="4267200"/>
            <a:ext cx="3695700" cy="495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Compare KPI totals and record counts with PostgreSQL and notebook evidence; investigate any non-zero difference.</a:t>
            </a:r>
          </a:p>
        </p:txBody>
      </p:sp>
      <p:sp>
        <p:nvSpPr>
          <p:cNvPr id="21" name="Rectangle 20">
            <a:extLst>
              <a:ext uri="{FF2B5EF4-FFF2-40B4-BE49-F238E27FC236}">
                <a16:creationId xmlns:a16="http://schemas.microsoft.com/office/drawing/2014/main" id="{A087DE48-B97C-40AF-8822-5ABE1B7B92F5}"/>
              </a:ext>
            </a:extLst>
          </p:cNvPr>
          <p:cNvSpPr>
            <a:spLocks noGrp="1"/>
          </p:cNvSpPr>
          <p:nvPr/>
        </p:nvSpPr>
        <p:spPr>
          <a:xfrm>
            <a:off x="7219950" y="5124450"/>
            <a:ext cx="3905250" cy="4572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These checks prevent a visually correct dashboard from masking a broken extract.</a:t>
            </a:r>
          </a:p>
        </p:txBody>
      </p:sp>
    </p:spTree>
    <p:extLst>
      <p:ext uri="{BB962C8B-B14F-4D97-AF65-F5344CB8AC3E}">
        <p14:creationId xmlns:p14="http://schemas.microsoft.com/office/powerpoint/2010/main" val="1201490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CE64F39-2F7A-4C53-BBB9-3A724BD3C9C1}"/>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5A29B55B-EC65-45BA-9CB8-521B515F6DB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Executive KPI Snapshot</a:t>
            </a:r>
          </a:p>
        </p:txBody>
      </p:sp>
      <p:sp>
        <p:nvSpPr>
          <p:cNvPr id="3" name="Rectangle 2">
            <a:extLst>
              <a:ext uri="{FF2B5EF4-FFF2-40B4-BE49-F238E27FC236}">
                <a16:creationId xmlns:a16="http://schemas.microsoft.com/office/drawing/2014/main" id="{55D4ABB0-D80A-4E5F-9CA5-D2AD32752284}"/>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a:t>
            </a:r>
          </a:p>
        </p:txBody>
      </p:sp>
      <p:sp>
        <p:nvSpPr>
          <p:cNvPr id="4" name="Straight Connector 3">
            <a:extLst>
              <a:ext uri="{FF2B5EF4-FFF2-40B4-BE49-F238E27FC236}">
                <a16:creationId xmlns:a16="http://schemas.microsoft.com/office/drawing/2014/main" id="{D3F3AADB-5E4B-4FE4-A077-3920A21C12E0}"/>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DA469B22-884D-4C29-AD74-E6F4DCD2416B}"/>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57E68BB6-9C33-4DA0-9100-F03E8703CC8C}"/>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23</a:t>
            </a:r>
          </a:p>
        </p:txBody>
      </p:sp>
      <p:sp>
        <p:nvSpPr>
          <p:cNvPr id="7" name="Rounded Rectangle 6">
            <a:extLst>
              <a:ext uri="{FF2B5EF4-FFF2-40B4-BE49-F238E27FC236}">
                <a16:creationId xmlns:a16="http://schemas.microsoft.com/office/drawing/2014/main" id="{8D5A995E-3302-420A-A265-F941168B08CD}"/>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20015"/>
            <a:ext cx="7962900" cy="4941819"/>
          </a:xfrm>
          <a:prstGeom prst="rect">
            <a:avLst/>
          </a:prstGeom>
        </p:spPr>
      </p:pic>
      <p:sp>
        <p:nvSpPr>
          <p:cNvPr id="9" name="Rectangle 8">
            <a:extLst>
              <a:ext uri="{FF2B5EF4-FFF2-40B4-BE49-F238E27FC236}">
                <a16:creationId xmlns:a16="http://schemas.microsoft.com/office/drawing/2014/main" id="{4B1AD258-86CB-45D9-828B-C30527BF33C3}"/>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280BA285-E1C9-4455-B15C-1B9EC47E9997}"/>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Latest meaningful KPIs across OTC, PTP and RTR: billing, AR, DSO, overdue AR, procurement spend, revenue, expenses, profit and margin.</a:t>
            </a:r>
          </a:p>
        </p:txBody>
      </p:sp>
      <p:sp>
        <p:nvSpPr>
          <p:cNvPr id="11" name="Rectangle 10">
            <a:extLst>
              <a:ext uri="{FF2B5EF4-FFF2-40B4-BE49-F238E27FC236}">
                <a16:creationId xmlns:a16="http://schemas.microsoft.com/office/drawing/2014/main" id="{D3AC1A36-37B4-4E8A-9EC5-6E672D63F186}"/>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037F1DD2-5FF3-4115-BA2D-7037F34D310C}"/>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Metric labels are positioned by process and coloured consistently: OTC blue, PTP orange and RTR red. Each mark displays the KPI name and formatted value.</a:t>
            </a:r>
          </a:p>
        </p:txBody>
      </p:sp>
      <p:sp>
        <p:nvSpPr>
          <p:cNvPr id="13" name="Rectangle 12">
            <a:extLst>
              <a:ext uri="{FF2B5EF4-FFF2-40B4-BE49-F238E27FC236}">
                <a16:creationId xmlns:a16="http://schemas.microsoft.com/office/drawing/2014/main" id="{2168A4C9-9D8B-4385-AAAA-9B236218EDBF}"/>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844B86E1-45C3-48C4-9812-79B2A65E1E8D}"/>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snapshot gives immediate scale: OTC billed 46.76M, PTP spend 2.33B and RTR profit 277K at a 32.4% margin. Values use process-specific as-of dates.</a:t>
            </a:r>
          </a:p>
        </p:txBody>
      </p:sp>
    </p:spTree>
    <p:extLst>
      <p:ext uri="{BB962C8B-B14F-4D97-AF65-F5344CB8AC3E}">
        <p14:creationId xmlns:p14="http://schemas.microsoft.com/office/powerpoint/2010/main" val="2017125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D49B533-1C30-4B5B-9B51-39D0A9715F0C}"/>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FB4E722B-3B44-4F62-98C8-8E6FF0D7465D}"/>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OTC Billed Amount vs Closing AR</a:t>
            </a:r>
          </a:p>
        </p:txBody>
      </p:sp>
      <p:sp>
        <p:nvSpPr>
          <p:cNvPr id="3" name="Rectangle 2">
            <a:extLst>
              <a:ext uri="{FF2B5EF4-FFF2-40B4-BE49-F238E27FC236}">
                <a16:creationId xmlns:a16="http://schemas.microsoft.com/office/drawing/2014/main" id="{5BA1591F-685E-425E-BE91-5E2A0970E3AE}"/>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2</a:t>
            </a:r>
          </a:p>
        </p:txBody>
      </p:sp>
      <p:sp>
        <p:nvSpPr>
          <p:cNvPr id="4" name="Straight Connector 3">
            <a:extLst>
              <a:ext uri="{FF2B5EF4-FFF2-40B4-BE49-F238E27FC236}">
                <a16:creationId xmlns:a16="http://schemas.microsoft.com/office/drawing/2014/main" id="{60B67CC3-7B04-445B-AFED-A155E96792C5}"/>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293AF264-44B8-41C6-9424-7BF459483A2D}"/>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74507091-2562-40BD-A90B-5AF7F7EC10B9}"/>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24</a:t>
            </a:r>
          </a:p>
        </p:txBody>
      </p:sp>
      <p:sp>
        <p:nvSpPr>
          <p:cNvPr id="7" name="Rounded Rectangle 6">
            <a:extLst>
              <a:ext uri="{FF2B5EF4-FFF2-40B4-BE49-F238E27FC236}">
                <a16:creationId xmlns:a16="http://schemas.microsoft.com/office/drawing/2014/main" id="{686F427D-8560-4BF7-9061-6C0E30563554}"/>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20015"/>
            <a:ext cx="7962900" cy="4941819"/>
          </a:xfrm>
          <a:prstGeom prst="rect">
            <a:avLst/>
          </a:prstGeom>
        </p:spPr>
      </p:pic>
      <p:sp>
        <p:nvSpPr>
          <p:cNvPr id="9" name="Rectangle 8">
            <a:extLst>
              <a:ext uri="{FF2B5EF4-FFF2-40B4-BE49-F238E27FC236}">
                <a16:creationId xmlns:a16="http://schemas.microsoft.com/office/drawing/2014/main" id="{EC93A115-2BFB-49FA-8201-2FDACA4EE1B4}"/>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34AE3AD5-9EBC-4650-A691-C8987BFBFCCB}"/>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Monthly billed amount and the corresponding closing accounts-receivable balance on a dual-axis time series.</a:t>
            </a:r>
          </a:p>
        </p:txBody>
      </p:sp>
      <p:sp>
        <p:nvSpPr>
          <p:cNvPr id="11" name="Rectangle 10">
            <a:extLst>
              <a:ext uri="{FF2B5EF4-FFF2-40B4-BE49-F238E27FC236}">
                <a16:creationId xmlns:a16="http://schemas.microsoft.com/office/drawing/2014/main" id="{E1EA869B-4E27-4819-A937-37165B96FC60}"/>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7F9F893A-4AFC-42FF-800A-B55CC49BCCEA}"/>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Billing is displayed as bars while closing AR is overlaid as a line, allowing operating volume and working-capital exposure to be compared over time.</a:t>
            </a:r>
          </a:p>
        </p:txBody>
      </p:sp>
      <p:sp>
        <p:nvSpPr>
          <p:cNvPr id="13" name="Rectangle 12">
            <a:extLst>
              <a:ext uri="{FF2B5EF4-FFF2-40B4-BE49-F238E27FC236}">
                <a16:creationId xmlns:a16="http://schemas.microsoft.com/office/drawing/2014/main" id="{CE541714-36E8-4791-859B-E00A1D4C896B}"/>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E9C0343F-0FDA-463C-B367-7041AEE070EA}"/>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chart separates sales activity from unpaid balance. Divergence between billing and AR can signal slower collection, timing effects or a changing customer mix.</a:t>
            </a:r>
          </a:p>
        </p:txBody>
      </p:sp>
    </p:spTree>
    <p:extLst>
      <p:ext uri="{BB962C8B-B14F-4D97-AF65-F5344CB8AC3E}">
        <p14:creationId xmlns:p14="http://schemas.microsoft.com/office/powerpoint/2010/main" val="1832981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14C68D-FD5F-4427-AF58-69F3DCE9B2B0}"/>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FAD5078F-8452-4B83-A6B0-B52BE54416B2}"/>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PTP Procurement Spend Trend</a:t>
            </a:r>
          </a:p>
        </p:txBody>
      </p:sp>
      <p:sp>
        <p:nvSpPr>
          <p:cNvPr id="3" name="Rectangle 2">
            <a:extLst>
              <a:ext uri="{FF2B5EF4-FFF2-40B4-BE49-F238E27FC236}">
                <a16:creationId xmlns:a16="http://schemas.microsoft.com/office/drawing/2014/main" id="{59D73A68-EBAE-495C-A1CA-E68139966D1E}"/>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3</a:t>
            </a:r>
          </a:p>
        </p:txBody>
      </p:sp>
      <p:sp>
        <p:nvSpPr>
          <p:cNvPr id="4" name="Straight Connector 3">
            <a:extLst>
              <a:ext uri="{FF2B5EF4-FFF2-40B4-BE49-F238E27FC236}">
                <a16:creationId xmlns:a16="http://schemas.microsoft.com/office/drawing/2014/main" id="{B358992A-8FCD-408D-95FB-2031085CF9BC}"/>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0FC6AC26-E588-4B58-B004-4C8C051B8761}"/>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29BCEF65-9BD7-42F3-AA3A-EDB1C2FBFE21}"/>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25</a:t>
            </a:r>
          </a:p>
        </p:txBody>
      </p:sp>
      <p:sp>
        <p:nvSpPr>
          <p:cNvPr id="7" name="Rounded Rectangle 6">
            <a:extLst>
              <a:ext uri="{FF2B5EF4-FFF2-40B4-BE49-F238E27FC236}">
                <a16:creationId xmlns:a16="http://schemas.microsoft.com/office/drawing/2014/main" id="{678BBBD8-BE78-4FBB-866F-496D3D3D0006}"/>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026700"/>
            <a:ext cx="7962900" cy="5128450"/>
          </a:xfrm>
          <a:prstGeom prst="rect">
            <a:avLst/>
          </a:prstGeom>
        </p:spPr>
      </p:pic>
      <p:sp>
        <p:nvSpPr>
          <p:cNvPr id="9" name="Rectangle 8">
            <a:extLst>
              <a:ext uri="{FF2B5EF4-FFF2-40B4-BE49-F238E27FC236}">
                <a16:creationId xmlns:a16="http://schemas.microsoft.com/office/drawing/2014/main" id="{2BE91FFA-E1F8-4ED6-BF3B-9A9D325A46DE}"/>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40470FE5-9142-4023-AF39-CA993F70D2F6}"/>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Procurement spend by purchase month for the focused executive trend period.</a:t>
            </a:r>
          </a:p>
        </p:txBody>
      </p:sp>
      <p:sp>
        <p:nvSpPr>
          <p:cNvPr id="11" name="Rectangle 10">
            <a:extLst>
              <a:ext uri="{FF2B5EF4-FFF2-40B4-BE49-F238E27FC236}">
                <a16:creationId xmlns:a16="http://schemas.microsoft.com/office/drawing/2014/main" id="{3CE16579-D4DD-4024-A426-B60F03A8497E}"/>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451C8D03-0AFA-48CA-9886-C5AF3F988CCA}"/>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Valid positive spend is summed at month grain and plotted as a line, preserving the large month-to-month changes in the source.</a:t>
            </a:r>
          </a:p>
        </p:txBody>
      </p:sp>
      <p:sp>
        <p:nvSpPr>
          <p:cNvPr id="13" name="Rectangle 12">
            <a:extLst>
              <a:ext uri="{FF2B5EF4-FFF2-40B4-BE49-F238E27FC236}">
                <a16:creationId xmlns:a16="http://schemas.microsoft.com/office/drawing/2014/main" id="{9D79D025-18A9-469E-865A-CE8805B3509B}"/>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0F504C4C-07BD-400C-9413-3C419E888FAF}"/>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Spend rises sharply to about 10.6B in Jan 2019, then falls to 3.8B, rebounds to 6.4B and ends near 2.3B. The volatility requires concentration analysis.</a:t>
            </a:r>
          </a:p>
        </p:txBody>
      </p:sp>
    </p:spTree>
    <p:extLst>
      <p:ext uri="{BB962C8B-B14F-4D97-AF65-F5344CB8AC3E}">
        <p14:creationId xmlns:p14="http://schemas.microsoft.com/office/powerpoint/2010/main" val="170769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378CE25-203C-4B72-B456-24D5A03C315B}"/>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0AE04F9B-D8D8-48D2-9374-E5A5C4FEE0AD}"/>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RTR Profit &amp; Profit Margin Trend</a:t>
            </a:r>
          </a:p>
        </p:txBody>
      </p:sp>
      <p:sp>
        <p:nvSpPr>
          <p:cNvPr id="3" name="Rectangle 2">
            <a:extLst>
              <a:ext uri="{FF2B5EF4-FFF2-40B4-BE49-F238E27FC236}">
                <a16:creationId xmlns:a16="http://schemas.microsoft.com/office/drawing/2014/main" id="{E6B78D5F-2539-4687-803B-B8C4F43B6170}"/>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4</a:t>
            </a:r>
          </a:p>
        </p:txBody>
      </p:sp>
      <p:sp>
        <p:nvSpPr>
          <p:cNvPr id="4" name="Straight Connector 3">
            <a:extLst>
              <a:ext uri="{FF2B5EF4-FFF2-40B4-BE49-F238E27FC236}">
                <a16:creationId xmlns:a16="http://schemas.microsoft.com/office/drawing/2014/main" id="{29F4D16E-9CE4-4C6C-A642-95C0F8EC503F}"/>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EF772CD6-ABBE-40C0-A11F-486845C5AFB8}"/>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BE064488-3DE2-48AF-B5E9-E3E00B5369B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26</a:t>
            </a:r>
          </a:p>
        </p:txBody>
      </p:sp>
      <p:sp>
        <p:nvSpPr>
          <p:cNvPr id="7" name="Rounded Rectangle 6">
            <a:extLst>
              <a:ext uri="{FF2B5EF4-FFF2-40B4-BE49-F238E27FC236}">
                <a16:creationId xmlns:a16="http://schemas.microsoft.com/office/drawing/2014/main" id="{B76BA3D9-38CC-40F8-94A8-E922AC1F2D78}"/>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39456"/>
            <a:ext cx="7962900" cy="4902938"/>
          </a:xfrm>
          <a:prstGeom prst="rect">
            <a:avLst/>
          </a:prstGeom>
        </p:spPr>
      </p:pic>
      <p:sp>
        <p:nvSpPr>
          <p:cNvPr id="9" name="Rectangle 8">
            <a:extLst>
              <a:ext uri="{FF2B5EF4-FFF2-40B4-BE49-F238E27FC236}">
                <a16:creationId xmlns:a16="http://schemas.microsoft.com/office/drawing/2014/main" id="{57602006-AB00-4B56-99A7-3BD2325C2493}"/>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894CF4A4-2510-475C-85A4-631433BBEF34}"/>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Monthly profit bars with the average profit-margin percentage overlaid as a line.</a:t>
            </a:r>
          </a:p>
        </p:txBody>
      </p:sp>
      <p:sp>
        <p:nvSpPr>
          <p:cNvPr id="11" name="Rectangle 10">
            <a:extLst>
              <a:ext uri="{FF2B5EF4-FFF2-40B4-BE49-F238E27FC236}">
                <a16:creationId xmlns:a16="http://schemas.microsoft.com/office/drawing/2014/main" id="{CC3CC4A4-E513-4C5E-8302-C3B7DA75974F}"/>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18CC666F-D182-43EE-A3EF-D6DC2A3B9BA0}"/>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 zero reference line separates profit from loss. The secondary percentage axis keeps the margin trend comparable with absolute profit.</a:t>
            </a:r>
          </a:p>
        </p:txBody>
      </p:sp>
      <p:sp>
        <p:nvSpPr>
          <p:cNvPr id="13" name="Rectangle 12">
            <a:extLst>
              <a:ext uri="{FF2B5EF4-FFF2-40B4-BE49-F238E27FC236}">
                <a16:creationId xmlns:a16="http://schemas.microsoft.com/office/drawing/2014/main" id="{3C102856-7BEA-4BE5-9C47-1BA62EBEE1DA}"/>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C7DE4EE9-6E8D-47AA-BC27-DCFCE30ECCA6}"/>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Loss months appear intermittently, but profitability strengthens through late 2020. The highest profit is roughly 365K with margin above 30%.</a:t>
            </a:r>
          </a:p>
        </p:txBody>
      </p:sp>
    </p:spTree>
    <p:extLst>
      <p:ext uri="{BB962C8B-B14F-4D97-AF65-F5344CB8AC3E}">
        <p14:creationId xmlns:p14="http://schemas.microsoft.com/office/powerpoint/2010/main" val="1941512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2B35F3-5B30-4D84-A93F-2958FDFAD1AC}"/>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303CEEEA-5B6A-4360-95E0-7E6EAC3B7984}"/>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OTC Billing &amp; Overdue AR</a:t>
            </a:r>
          </a:p>
        </p:txBody>
      </p:sp>
      <p:sp>
        <p:nvSpPr>
          <p:cNvPr id="3" name="Rectangle 2">
            <a:extLst>
              <a:ext uri="{FF2B5EF4-FFF2-40B4-BE49-F238E27FC236}">
                <a16:creationId xmlns:a16="http://schemas.microsoft.com/office/drawing/2014/main" id="{0816947A-DED4-4CAB-9B43-DDE5BA448725}"/>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5</a:t>
            </a:r>
          </a:p>
        </p:txBody>
      </p:sp>
      <p:sp>
        <p:nvSpPr>
          <p:cNvPr id="4" name="Straight Connector 3">
            <a:extLst>
              <a:ext uri="{FF2B5EF4-FFF2-40B4-BE49-F238E27FC236}">
                <a16:creationId xmlns:a16="http://schemas.microsoft.com/office/drawing/2014/main" id="{171ED37F-C675-4C97-B493-1223D1204DC0}"/>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40E1956B-E05A-4654-8BC2-C68C1069CED8}"/>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B6A90521-287F-422F-8D0E-53BE7C64B54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27</a:t>
            </a:r>
          </a:p>
        </p:txBody>
      </p:sp>
      <p:sp>
        <p:nvSpPr>
          <p:cNvPr id="7" name="Rounded Rectangle 6">
            <a:extLst>
              <a:ext uri="{FF2B5EF4-FFF2-40B4-BE49-F238E27FC236}">
                <a16:creationId xmlns:a16="http://schemas.microsoft.com/office/drawing/2014/main" id="{CEB1DC05-67EE-44DC-941B-CAC1B8012E95}"/>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032532"/>
            <a:ext cx="7962900" cy="5116785"/>
          </a:xfrm>
          <a:prstGeom prst="rect">
            <a:avLst/>
          </a:prstGeom>
        </p:spPr>
      </p:pic>
      <p:sp>
        <p:nvSpPr>
          <p:cNvPr id="9" name="Rectangle 8">
            <a:extLst>
              <a:ext uri="{FF2B5EF4-FFF2-40B4-BE49-F238E27FC236}">
                <a16:creationId xmlns:a16="http://schemas.microsoft.com/office/drawing/2014/main" id="{98EFC96B-0CE0-450E-BC7D-AEB7BCE8D270}"/>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BE878F28-2125-4E9A-960E-10CDC152ACB3}"/>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Monthly billed amount as bars and overdue receivables as a red line.</a:t>
            </a:r>
          </a:p>
        </p:txBody>
      </p:sp>
      <p:sp>
        <p:nvSpPr>
          <p:cNvPr id="11" name="Rectangle 10">
            <a:extLst>
              <a:ext uri="{FF2B5EF4-FFF2-40B4-BE49-F238E27FC236}">
                <a16:creationId xmlns:a16="http://schemas.microsoft.com/office/drawing/2014/main" id="{CFF4A19A-B130-4257-A242-F55812C4E2B1}"/>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0333004C-AE78-42D2-8F24-989A5E39C97F}"/>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dual axes preserve the different scales. Active billing periods are retained so collection exposure is read in the context of invoice volume.</a:t>
            </a:r>
          </a:p>
        </p:txBody>
      </p:sp>
      <p:sp>
        <p:nvSpPr>
          <p:cNvPr id="13" name="Rectangle 12">
            <a:extLst>
              <a:ext uri="{FF2B5EF4-FFF2-40B4-BE49-F238E27FC236}">
                <a16:creationId xmlns:a16="http://schemas.microsoft.com/office/drawing/2014/main" id="{0EEB9223-305A-459C-B474-9D68FC2A4F40}"/>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5D2F4C21-CDCD-4D73-A422-0C78855EC47F}"/>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Overdue AR peaks near 20M in mid-2015 while billing remains around 60–70M, then overdue exposure falls rapidly toward zero by early 2016.</a:t>
            </a:r>
          </a:p>
        </p:txBody>
      </p:sp>
    </p:spTree>
    <p:extLst>
      <p:ext uri="{BB962C8B-B14F-4D97-AF65-F5344CB8AC3E}">
        <p14:creationId xmlns:p14="http://schemas.microsoft.com/office/powerpoint/2010/main" val="147684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7D9221E-8490-4300-A6ED-C3939C777B89}"/>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95C80FB2-2091-4585-AB6A-A085F0A7E03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OTC Days Sales Outstanding (DSO) Trend</a:t>
            </a:r>
          </a:p>
        </p:txBody>
      </p:sp>
      <p:sp>
        <p:nvSpPr>
          <p:cNvPr id="3" name="Rectangle 2">
            <a:extLst>
              <a:ext uri="{FF2B5EF4-FFF2-40B4-BE49-F238E27FC236}">
                <a16:creationId xmlns:a16="http://schemas.microsoft.com/office/drawing/2014/main" id="{1AAF5022-CAD0-4082-AFB9-F96A9DBA6FCD}"/>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6</a:t>
            </a:r>
          </a:p>
        </p:txBody>
      </p:sp>
      <p:sp>
        <p:nvSpPr>
          <p:cNvPr id="4" name="Straight Connector 3">
            <a:extLst>
              <a:ext uri="{FF2B5EF4-FFF2-40B4-BE49-F238E27FC236}">
                <a16:creationId xmlns:a16="http://schemas.microsoft.com/office/drawing/2014/main" id="{C270AD24-53BF-406C-81BE-619FE62E4ECF}"/>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EFF93075-C2DB-4CFA-9CA8-BDBC90726F94}"/>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33485E8D-E769-4143-93D7-BF5101A65124}"/>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28</a:t>
            </a:r>
          </a:p>
        </p:txBody>
      </p:sp>
      <p:sp>
        <p:nvSpPr>
          <p:cNvPr id="7" name="Rounded Rectangle 6">
            <a:extLst>
              <a:ext uri="{FF2B5EF4-FFF2-40B4-BE49-F238E27FC236}">
                <a16:creationId xmlns:a16="http://schemas.microsoft.com/office/drawing/2014/main" id="{F2D7CA4E-1ACD-48D3-A6ED-ED80B6C96581}"/>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35568"/>
            <a:ext cx="7962900" cy="4910714"/>
          </a:xfrm>
          <a:prstGeom prst="rect">
            <a:avLst/>
          </a:prstGeom>
        </p:spPr>
      </p:pic>
      <p:sp>
        <p:nvSpPr>
          <p:cNvPr id="9" name="Rectangle 8">
            <a:extLst>
              <a:ext uri="{FF2B5EF4-FFF2-40B4-BE49-F238E27FC236}">
                <a16:creationId xmlns:a16="http://schemas.microsoft.com/office/drawing/2014/main" id="{E48659D9-5A84-4241-8736-90A159F8BE4B}"/>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A2F1FC0F-D75B-4E8E-8743-4E8BAFDE0204}"/>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Approximate monthly DSO, a working-capital indicator of collection speed.</a:t>
            </a:r>
          </a:p>
        </p:txBody>
      </p:sp>
      <p:sp>
        <p:nvSpPr>
          <p:cNvPr id="11" name="Rectangle 10">
            <a:extLst>
              <a:ext uri="{FF2B5EF4-FFF2-40B4-BE49-F238E27FC236}">
                <a16:creationId xmlns:a16="http://schemas.microsoft.com/office/drawing/2014/main" id="{83BC2A33-0AD7-44AB-91F6-C0D1DE11D585}"/>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0855E1D1-9DCA-4D36-B8FB-BD0D804911B1}"/>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Average DSO is calculated at month end and plotted with markers so extreme periods and subsequent recovery are visible.</a:t>
            </a:r>
          </a:p>
        </p:txBody>
      </p:sp>
      <p:sp>
        <p:nvSpPr>
          <p:cNvPr id="13" name="Rectangle 12">
            <a:extLst>
              <a:ext uri="{FF2B5EF4-FFF2-40B4-BE49-F238E27FC236}">
                <a16:creationId xmlns:a16="http://schemas.microsoft.com/office/drawing/2014/main" id="{33C427A7-02AE-4C5F-ACD6-B6380645C350}"/>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BEB35D76-9D83-4CFE-AF71-1F592EE7CD53}"/>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DSO spikes to roughly 230 days in early 2015 before dropping below 30 days and approaching zero by Mar 2016, indicating a major collection improvement.</a:t>
            </a:r>
          </a:p>
        </p:txBody>
      </p:sp>
    </p:spTree>
    <p:extLst>
      <p:ext uri="{BB962C8B-B14F-4D97-AF65-F5344CB8AC3E}">
        <p14:creationId xmlns:p14="http://schemas.microsoft.com/office/powerpoint/2010/main" val="46142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ED9EE15-F2B3-4D87-A555-27FEA90C4422}"/>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37E62B4E-81C0-41AC-BB21-089A189FEC14}"/>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OTC Top 10 Customers by Billed Amount</a:t>
            </a:r>
          </a:p>
        </p:txBody>
      </p:sp>
      <p:sp>
        <p:nvSpPr>
          <p:cNvPr id="3" name="Rectangle 2">
            <a:extLst>
              <a:ext uri="{FF2B5EF4-FFF2-40B4-BE49-F238E27FC236}">
                <a16:creationId xmlns:a16="http://schemas.microsoft.com/office/drawing/2014/main" id="{8811306C-44C5-48CE-82D0-5B345F9D9ED4}"/>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7</a:t>
            </a:r>
          </a:p>
        </p:txBody>
      </p:sp>
      <p:sp>
        <p:nvSpPr>
          <p:cNvPr id="4" name="Straight Connector 3">
            <a:extLst>
              <a:ext uri="{FF2B5EF4-FFF2-40B4-BE49-F238E27FC236}">
                <a16:creationId xmlns:a16="http://schemas.microsoft.com/office/drawing/2014/main" id="{7FBC9D29-5CFD-4348-836E-6EDA7899163B}"/>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E4C0290C-D9C1-4665-BD97-97273C186A33}"/>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7F918BD8-24C0-4D1A-A7DC-AE0104E22E0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29</a:t>
            </a:r>
          </a:p>
        </p:txBody>
      </p:sp>
      <p:sp>
        <p:nvSpPr>
          <p:cNvPr id="7" name="Rounded Rectangle 6">
            <a:extLst>
              <a:ext uri="{FF2B5EF4-FFF2-40B4-BE49-F238E27FC236}">
                <a16:creationId xmlns:a16="http://schemas.microsoft.com/office/drawing/2014/main" id="{332B4445-DB30-42F8-83BF-8AF975AE3D25}"/>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20015"/>
            <a:ext cx="7962900" cy="4941819"/>
          </a:xfrm>
          <a:prstGeom prst="rect">
            <a:avLst/>
          </a:prstGeom>
        </p:spPr>
      </p:pic>
      <p:sp>
        <p:nvSpPr>
          <p:cNvPr id="9" name="Rectangle 8">
            <a:extLst>
              <a:ext uri="{FF2B5EF4-FFF2-40B4-BE49-F238E27FC236}">
                <a16:creationId xmlns:a16="http://schemas.microsoft.com/office/drawing/2014/main" id="{D5E1F8C0-42D4-4D84-BE2D-6CC644A28E88}"/>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ACD4105E-1061-4C40-8E1E-DF9A032E99D8}"/>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ten highest-billed customers, with bar colour representing average late-payment percentage.</a:t>
            </a:r>
          </a:p>
        </p:txBody>
      </p:sp>
      <p:sp>
        <p:nvSpPr>
          <p:cNvPr id="11" name="Rectangle 10">
            <a:extLst>
              <a:ext uri="{FF2B5EF4-FFF2-40B4-BE49-F238E27FC236}">
                <a16:creationId xmlns:a16="http://schemas.microsoft.com/office/drawing/2014/main" id="{CFBDC410-A523-4BBD-BAEC-F1F6F14DCCE9}"/>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A2DD5E6A-3269-4529-AC08-801CC7927C01}"/>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Customers are ranked by total billed and labelled in millions. The colour scale adds payment behaviour without changing the revenue ordering.</a:t>
            </a:r>
          </a:p>
        </p:txBody>
      </p:sp>
      <p:sp>
        <p:nvSpPr>
          <p:cNvPr id="13" name="Rectangle 12">
            <a:extLst>
              <a:ext uri="{FF2B5EF4-FFF2-40B4-BE49-F238E27FC236}">
                <a16:creationId xmlns:a16="http://schemas.microsoft.com/office/drawing/2014/main" id="{68442971-BE67-4601-B844-6CC85C19A961}"/>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E17FC00A-B11F-41EA-BC8F-4D0F700EE5FC}"/>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AA119 leads at 227.96M, followed by AA120 at 146.03M and AA102 at 131.14M. The top three account for about 62% of total invoice value.</a:t>
            </a:r>
          </a:p>
        </p:txBody>
      </p:sp>
    </p:spTree>
    <p:extLst>
      <p:ext uri="{BB962C8B-B14F-4D97-AF65-F5344CB8AC3E}">
        <p14:creationId xmlns:p14="http://schemas.microsoft.com/office/powerpoint/2010/main" val="1960815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296913-47F6-42EB-BDF5-46663C69CE2B}"/>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12136BF0-F625-4238-BE3E-CFE52A39131A}"/>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OTC Customer Payment Risk</a:t>
            </a:r>
          </a:p>
        </p:txBody>
      </p:sp>
      <p:sp>
        <p:nvSpPr>
          <p:cNvPr id="3" name="Rectangle 2">
            <a:extLst>
              <a:ext uri="{FF2B5EF4-FFF2-40B4-BE49-F238E27FC236}">
                <a16:creationId xmlns:a16="http://schemas.microsoft.com/office/drawing/2014/main" id="{4B028626-18FD-446B-A9CC-874D18C51FD9}"/>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8</a:t>
            </a:r>
          </a:p>
        </p:txBody>
      </p:sp>
      <p:sp>
        <p:nvSpPr>
          <p:cNvPr id="4" name="Straight Connector 3">
            <a:extLst>
              <a:ext uri="{FF2B5EF4-FFF2-40B4-BE49-F238E27FC236}">
                <a16:creationId xmlns:a16="http://schemas.microsoft.com/office/drawing/2014/main" id="{10DD33A8-20EC-4E1A-A6C7-5471A2D6F8E5}"/>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BFD70030-8CE8-40CA-AFC3-DF12177A9B91}"/>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90409E94-4FDB-46EA-877A-B0E9362F369C}"/>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30</a:t>
            </a:r>
          </a:p>
        </p:txBody>
      </p:sp>
      <p:sp>
        <p:nvSpPr>
          <p:cNvPr id="7" name="Rounded Rectangle 6">
            <a:extLst>
              <a:ext uri="{FF2B5EF4-FFF2-40B4-BE49-F238E27FC236}">
                <a16:creationId xmlns:a16="http://schemas.microsoft.com/office/drawing/2014/main" id="{E8EB61CD-5A3A-4C52-89C6-AACAD63AECD2}"/>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929497"/>
            <a:ext cx="7962900" cy="5322856"/>
          </a:xfrm>
          <a:prstGeom prst="rect">
            <a:avLst/>
          </a:prstGeom>
        </p:spPr>
      </p:pic>
      <p:sp>
        <p:nvSpPr>
          <p:cNvPr id="9" name="Rectangle 8">
            <a:extLst>
              <a:ext uri="{FF2B5EF4-FFF2-40B4-BE49-F238E27FC236}">
                <a16:creationId xmlns:a16="http://schemas.microsoft.com/office/drawing/2014/main" id="{2FD41E1D-275A-45B2-8C5D-76CA83548A2A}"/>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2B43DCAC-7D78-4ED6-B89F-D44369935C02}"/>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Customer payment timing versus late-payment rate. Bubble size indicates billed value and colour indicates investigation flags.</a:t>
            </a:r>
          </a:p>
        </p:txBody>
      </p:sp>
      <p:sp>
        <p:nvSpPr>
          <p:cNvPr id="11" name="Rectangle 10">
            <a:extLst>
              <a:ext uri="{FF2B5EF4-FFF2-40B4-BE49-F238E27FC236}">
                <a16:creationId xmlns:a16="http://schemas.microsoft.com/office/drawing/2014/main" id="{4CA01E5A-FA44-4E1C-AB3D-C34BC49E15DD}"/>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810B6867-C0B2-4114-A648-2E63F15E7663}"/>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Reference lines divide early/on-time versus late payment and lower versus higher late-rate behaviour, creating an action-oriented risk map.</a:t>
            </a:r>
          </a:p>
        </p:txBody>
      </p:sp>
      <p:sp>
        <p:nvSpPr>
          <p:cNvPr id="13" name="Rectangle 12">
            <a:extLst>
              <a:ext uri="{FF2B5EF4-FFF2-40B4-BE49-F238E27FC236}">
                <a16:creationId xmlns:a16="http://schemas.microsoft.com/office/drawing/2014/main" id="{78E4F54A-C966-4253-8216-3500D9EEBE0F}"/>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3754EFD3-6DE9-4B77-9A16-CBDE64AAA279}"/>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Priority customers sit in the upper-right or appear as large, dark bubbles near the centre: they combine value, lateness and investigation evidence.</a:t>
            </a:r>
          </a:p>
        </p:txBody>
      </p:sp>
    </p:spTree>
    <p:extLst>
      <p:ext uri="{BB962C8B-B14F-4D97-AF65-F5344CB8AC3E}">
        <p14:creationId xmlns:p14="http://schemas.microsoft.com/office/powerpoint/2010/main" val="170444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DCF76DD-EB00-468D-8E41-F7F751D793DD}"/>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8706AE52-8B7B-4B6F-912D-8DE9B87A067E}"/>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PTP Monthly Procurement Spend</a:t>
            </a:r>
          </a:p>
        </p:txBody>
      </p:sp>
      <p:sp>
        <p:nvSpPr>
          <p:cNvPr id="3" name="Rectangle 2">
            <a:extLst>
              <a:ext uri="{FF2B5EF4-FFF2-40B4-BE49-F238E27FC236}">
                <a16:creationId xmlns:a16="http://schemas.microsoft.com/office/drawing/2014/main" id="{52178654-F044-4D77-90DB-4538A1672CCF}"/>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9</a:t>
            </a:r>
          </a:p>
        </p:txBody>
      </p:sp>
      <p:sp>
        <p:nvSpPr>
          <p:cNvPr id="4" name="Straight Connector 3">
            <a:extLst>
              <a:ext uri="{FF2B5EF4-FFF2-40B4-BE49-F238E27FC236}">
                <a16:creationId xmlns:a16="http://schemas.microsoft.com/office/drawing/2014/main" id="{FA36FBCC-6F91-4DA3-B820-CB5DCA8B201C}"/>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E6679206-831F-4203-9DED-AB9BBF964CB9}"/>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9B7EA803-2365-47AD-A008-8CB88DA4E0DA}"/>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31</a:t>
            </a:r>
          </a:p>
        </p:txBody>
      </p:sp>
      <p:sp>
        <p:nvSpPr>
          <p:cNvPr id="7" name="Rounded Rectangle 6">
            <a:extLst>
              <a:ext uri="{FF2B5EF4-FFF2-40B4-BE49-F238E27FC236}">
                <a16:creationId xmlns:a16="http://schemas.microsoft.com/office/drawing/2014/main" id="{33BD9E6D-B855-4159-B278-395F5C68D7B8}"/>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35568"/>
            <a:ext cx="7962900" cy="4910714"/>
          </a:xfrm>
          <a:prstGeom prst="rect">
            <a:avLst/>
          </a:prstGeom>
        </p:spPr>
      </p:pic>
      <p:sp>
        <p:nvSpPr>
          <p:cNvPr id="9" name="Rectangle 8">
            <a:extLst>
              <a:ext uri="{FF2B5EF4-FFF2-40B4-BE49-F238E27FC236}">
                <a16:creationId xmlns:a16="http://schemas.microsoft.com/office/drawing/2014/main" id="{E1DBC43C-FB76-48BB-ACD8-0FA1CA0ABC15}"/>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9D3C20C0-0D36-41C6-9C92-835D3E4DBBDF}"/>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Full monthly valid procurement spend across the available PTP history.</a:t>
            </a:r>
          </a:p>
        </p:txBody>
      </p:sp>
      <p:sp>
        <p:nvSpPr>
          <p:cNvPr id="11" name="Rectangle 10">
            <a:extLst>
              <a:ext uri="{FF2B5EF4-FFF2-40B4-BE49-F238E27FC236}">
                <a16:creationId xmlns:a16="http://schemas.microsoft.com/office/drawing/2014/main" id="{5FD234E3-4CC0-44D0-BD27-8C33C760A385}"/>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1AA651BB-99CC-4D52-980D-EB0F23022682}"/>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Valid positive spend is summed at purchase-month grain. Markers preserve sparse periods and make the 2019 surge explicit.</a:t>
            </a:r>
          </a:p>
        </p:txBody>
      </p:sp>
      <p:sp>
        <p:nvSpPr>
          <p:cNvPr id="13" name="Rectangle 12">
            <a:extLst>
              <a:ext uri="{FF2B5EF4-FFF2-40B4-BE49-F238E27FC236}">
                <a16:creationId xmlns:a16="http://schemas.microsoft.com/office/drawing/2014/main" id="{9A8E7144-BBCD-406E-81F4-D44E7B804670}"/>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AE01AD33-DF70-417F-92AB-44999995642C}"/>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Most earlier months are small relative to 2019; Jan 2019 reaches about 10.6B, Mar 2019 about 6.4B and Apr 2019 about 2.3B.</a:t>
            </a:r>
          </a:p>
        </p:txBody>
      </p:sp>
    </p:spTree>
    <p:extLst>
      <p:ext uri="{BB962C8B-B14F-4D97-AF65-F5344CB8AC3E}">
        <p14:creationId xmlns:p14="http://schemas.microsoft.com/office/powerpoint/2010/main" val="2059841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4B7E51C-C0F7-4D15-B7D8-5AB3C3F9023A}"/>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4D6611B6-98C9-48D4-9C0E-BA5288D50933}"/>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PTP Monthly Spend Growth %</a:t>
            </a:r>
          </a:p>
        </p:txBody>
      </p:sp>
      <p:sp>
        <p:nvSpPr>
          <p:cNvPr id="3" name="Rectangle 2">
            <a:extLst>
              <a:ext uri="{FF2B5EF4-FFF2-40B4-BE49-F238E27FC236}">
                <a16:creationId xmlns:a16="http://schemas.microsoft.com/office/drawing/2014/main" id="{0EC9BFE1-E6EA-472E-BC0D-33D1FC687AA0}"/>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10</a:t>
            </a:r>
          </a:p>
        </p:txBody>
      </p:sp>
      <p:sp>
        <p:nvSpPr>
          <p:cNvPr id="4" name="Straight Connector 3">
            <a:extLst>
              <a:ext uri="{FF2B5EF4-FFF2-40B4-BE49-F238E27FC236}">
                <a16:creationId xmlns:a16="http://schemas.microsoft.com/office/drawing/2014/main" id="{661EE575-4313-42EC-B9CB-7A912EE0E7C0}"/>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62C036AE-F061-44A5-91FF-2559557901A4}"/>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5E17B149-67A2-4B82-99BB-BECA97E1B906}"/>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32</a:t>
            </a:r>
          </a:p>
        </p:txBody>
      </p:sp>
      <p:sp>
        <p:nvSpPr>
          <p:cNvPr id="7" name="Rounded Rectangle 6">
            <a:extLst>
              <a:ext uri="{FF2B5EF4-FFF2-40B4-BE49-F238E27FC236}">
                <a16:creationId xmlns:a16="http://schemas.microsoft.com/office/drawing/2014/main" id="{FEEEBD7C-A0EE-4183-B4F6-7323B63512C5}"/>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20015"/>
            <a:ext cx="7962900" cy="4941819"/>
          </a:xfrm>
          <a:prstGeom prst="rect">
            <a:avLst/>
          </a:prstGeom>
        </p:spPr>
      </p:pic>
      <p:sp>
        <p:nvSpPr>
          <p:cNvPr id="9" name="Rectangle 8">
            <a:extLst>
              <a:ext uri="{FF2B5EF4-FFF2-40B4-BE49-F238E27FC236}">
                <a16:creationId xmlns:a16="http://schemas.microsoft.com/office/drawing/2014/main" id="{101811C3-04E3-4BB1-8022-9DB5B865A2B4}"/>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A993C74F-CB54-4E36-9820-E719060E1F35}"/>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Month-over-month spend change classified as growth, decline or no change.</a:t>
            </a:r>
          </a:p>
        </p:txBody>
      </p:sp>
      <p:sp>
        <p:nvSpPr>
          <p:cNvPr id="11" name="Rectangle 10">
            <a:extLst>
              <a:ext uri="{FF2B5EF4-FFF2-40B4-BE49-F238E27FC236}">
                <a16:creationId xmlns:a16="http://schemas.microsoft.com/office/drawing/2014/main" id="{44ADE493-98E0-4EB0-B879-3309CB1BEE15}"/>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8EDBDCA0-9F9E-456A-BE67-75E2C694DD04}"/>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Growth is capped at 1,500% to prevent extreme low-base effects from destroying readability; positive and negative months use different colours.</a:t>
            </a:r>
          </a:p>
        </p:txBody>
      </p:sp>
      <p:sp>
        <p:nvSpPr>
          <p:cNvPr id="13" name="Rectangle 12">
            <a:extLst>
              <a:ext uri="{FF2B5EF4-FFF2-40B4-BE49-F238E27FC236}">
                <a16:creationId xmlns:a16="http://schemas.microsoft.com/office/drawing/2014/main" id="{8C570023-CE31-4F3F-A51B-095289291156}"/>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4301C410-9786-4A14-A208-2CF44322323A}"/>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Large orange spikes show high volatility, while repeated blue declines follow peaks. Growth should be interpreted together with absolute spend, not alone.</a:t>
            </a:r>
          </a:p>
        </p:txBody>
      </p:sp>
    </p:spTree>
    <p:extLst>
      <p:ext uri="{BB962C8B-B14F-4D97-AF65-F5344CB8AC3E}">
        <p14:creationId xmlns:p14="http://schemas.microsoft.com/office/powerpoint/2010/main" val="1469021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D93EF96-336A-42C5-A844-7906C01E06DA}"/>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A4410576-1C57-443C-ADA1-752CE8A1FCC3}"/>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PTP Top 10 Material Groups by Spend</a:t>
            </a:r>
          </a:p>
        </p:txBody>
      </p:sp>
      <p:sp>
        <p:nvSpPr>
          <p:cNvPr id="3" name="Rectangle 2">
            <a:extLst>
              <a:ext uri="{FF2B5EF4-FFF2-40B4-BE49-F238E27FC236}">
                <a16:creationId xmlns:a16="http://schemas.microsoft.com/office/drawing/2014/main" id="{8987B994-7A11-40D4-9F5E-4F4F30D44452}"/>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11</a:t>
            </a:r>
          </a:p>
        </p:txBody>
      </p:sp>
      <p:sp>
        <p:nvSpPr>
          <p:cNvPr id="4" name="Straight Connector 3">
            <a:extLst>
              <a:ext uri="{FF2B5EF4-FFF2-40B4-BE49-F238E27FC236}">
                <a16:creationId xmlns:a16="http://schemas.microsoft.com/office/drawing/2014/main" id="{9B9F9941-9957-4AC9-94CF-6B5AD18972EA}"/>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450259D6-051C-426F-8D47-3D05E46CED86}"/>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B05A12A1-B80A-4EBD-AFD1-7D112A8BD096}"/>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33</a:t>
            </a:r>
          </a:p>
        </p:txBody>
      </p:sp>
      <p:sp>
        <p:nvSpPr>
          <p:cNvPr id="7" name="Rounded Rectangle 6">
            <a:extLst>
              <a:ext uri="{FF2B5EF4-FFF2-40B4-BE49-F238E27FC236}">
                <a16:creationId xmlns:a16="http://schemas.microsoft.com/office/drawing/2014/main" id="{44B7DB06-6671-4927-9193-49DAFF78B6C1}"/>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20015"/>
            <a:ext cx="7962900" cy="4941819"/>
          </a:xfrm>
          <a:prstGeom prst="rect">
            <a:avLst/>
          </a:prstGeom>
        </p:spPr>
      </p:pic>
      <p:sp>
        <p:nvSpPr>
          <p:cNvPr id="9" name="Rectangle 8">
            <a:extLst>
              <a:ext uri="{FF2B5EF4-FFF2-40B4-BE49-F238E27FC236}">
                <a16:creationId xmlns:a16="http://schemas.microsoft.com/office/drawing/2014/main" id="{D93C5867-1538-4296-9C7D-3D0F992D6ECE}"/>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61064562-AD3F-4E31-84B3-5DA3341C34A2}"/>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ten largest material groups by valid total spend, coloured by investigation-flag count.</a:t>
            </a:r>
          </a:p>
        </p:txBody>
      </p:sp>
      <p:sp>
        <p:nvSpPr>
          <p:cNvPr id="11" name="Rectangle 10">
            <a:extLst>
              <a:ext uri="{FF2B5EF4-FFF2-40B4-BE49-F238E27FC236}">
                <a16:creationId xmlns:a16="http://schemas.microsoft.com/office/drawing/2014/main" id="{C3C45EFA-5F94-442C-9E53-B15B501C723B}"/>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8858B406-2DE5-4153-BEC5-B4F771CEE94D}"/>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Material groups are aggregated, ranked and labelled in billions; the colour scale adds an anomaly dimension to the concentration view.</a:t>
            </a:r>
          </a:p>
        </p:txBody>
      </p:sp>
      <p:sp>
        <p:nvSpPr>
          <p:cNvPr id="13" name="Rectangle 12">
            <a:extLst>
              <a:ext uri="{FF2B5EF4-FFF2-40B4-BE49-F238E27FC236}">
                <a16:creationId xmlns:a16="http://schemas.microsoft.com/office/drawing/2014/main" id="{B76E148B-1DF0-403C-B2DB-75E262628221}"/>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915C2D72-2006-40EC-9116-5EEB826A9F34}"/>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Group 1500 dominates at 15.78B, followed by 2003 at 2.97B and 2211 at 2.00B. The top three represent about 86% of valid procurement spend.</a:t>
            </a:r>
          </a:p>
        </p:txBody>
      </p:sp>
    </p:spTree>
    <p:extLst>
      <p:ext uri="{BB962C8B-B14F-4D97-AF65-F5344CB8AC3E}">
        <p14:creationId xmlns:p14="http://schemas.microsoft.com/office/powerpoint/2010/main" val="645650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C201092-844E-461A-83D6-7AA3B1090430}"/>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1F963788-0A19-49C3-8652-21F067DF2B80}"/>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PTP Material Group Spend &amp; Investigation Risk</a:t>
            </a:r>
          </a:p>
        </p:txBody>
      </p:sp>
      <p:sp>
        <p:nvSpPr>
          <p:cNvPr id="3" name="Rectangle 2">
            <a:extLst>
              <a:ext uri="{FF2B5EF4-FFF2-40B4-BE49-F238E27FC236}">
                <a16:creationId xmlns:a16="http://schemas.microsoft.com/office/drawing/2014/main" id="{30435F4B-DE5F-4C3A-ACC5-4B758B6D3EBF}"/>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12</a:t>
            </a:r>
          </a:p>
        </p:txBody>
      </p:sp>
      <p:sp>
        <p:nvSpPr>
          <p:cNvPr id="4" name="Straight Connector 3">
            <a:extLst>
              <a:ext uri="{FF2B5EF4-FFF2-40B4-BE49-F238E27FC236}">
                <a16:creationId xmlns:a16="http://schemas.microsoft.com/office/drawing/2014/main" id="{FE24C870-6279-41CA-816E-BFE7A372CFFC}"/>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82E4A11E-57F5-4A46-A744-733CDCB5F496}"/>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40687F2D-A440-444E-9CAE-BFC35EC9DAB0}"/>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34</a:t>
            </a:r>
          </a:p>
        </p:txBody>
      </p:sp>
      <p:sp>
        <p:nvSpPr>
          <p:cNvPr id="7" name="Rounded Rectangle 6">
            <a:extLst>
              <a:ext uri="{FF2B5EF4-FFF2-40B4-BE49-F238E27FC236}">
                <a16:creationId xmlns:a16="http://schemas.microsoft.com/office/drawing/2014/main" id="{9111FDA6-57C2-4DE2-94EC-C7C1486E87B3}"/>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073358"/>
            <a:ext cx="7962900" cy="5035135"/>
          </a:xfrm>
          <a:prstGeom prst="rect">
            <a:avLst/>
          </a:prstGeom>
        </p:spPr>
      </p:pic>
      <p:sp>
        <p:nvSpPr>
          <p:cNvPr id="9" name="Rectangle 8">
            <a:extLst>
              <a:ext uri="{FF2B5EF4-FFF2-40B4-BE49-F238E27FC236}">
                <a16:creationId xmlns:a16="http://schemas.microsoft.com/office/drawing/2014/main" id="{A822F951-FAD4-4E91-8B38-B854C80A7E16}"/>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113472B4-6149-4758-BC10-C937B0EE1F8A}"/>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Total spend versus investigation flags by material group. Bubble size represents PO lines and colour reinforces flag intensity.</a:t>
            </a:r>
          </a:p>
        </p:txBody>
      </p:sp>
      <p:sp>
        <p:nvSpPr>
          <p:cNvPr id="11" name="Rectangle 10">
            <a:extLst>
              <a:ext uri="{FF2B5EF4-FFF2-40B4-BE49-F238E27FC236}">
                <a16:creationId xmlns:a16="http://schemas.microsoft.com/office/drawing/2014/main" id="{B283CAA9-B0BF-4C58-B2D1-5191F8416A53}"/>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2DA38DA8-D901-4EB7-9F69-B502114B5F75}"/>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Spend and flags are capped for readable comparison while the original values remain available in the underlying data and tooltips.</a:t>
            </a:r>
          </a:p>
        </p:txBody>
      </p:sp>
      <p:sp>
        <p:nvSpPr>
          <p:cNvPr id="13" name="Rectangle 12">
            <a:extLst>
              <a:ext uri="{FF2B5EF4-FFF2-40B4-BE49-F238E27FC236}">
                <a16:creationId xmlns:a16="http://schemas.microsoft.com/office/drawing/2014/main" id="{66548243-C82A-48E0-8705-74F31CF95E9D}"/>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569F1D9F-C90B-45B8-BF11-5EE43716B7CF}"/>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top-right bubble combines very high spend, high transaction volume and 50 capped flags, making it the clearest procurement-review priority.</a:t>
            </a:r>
          </a:p>
        </p:txBody>
      </p:sp>
    </p:spTree>
    <p:extLst>
      <p:ext uri="{BB962C8B-B14F-4D97-AF65-F5344CB8AC3E}">
        <p14:creationId xmlns:p14="http://schemas.microsoft.com/office/powerpoint/2010/main" val="1353236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C938B7E-4BF0-44EF-AF5C-90F537CF1F75}"/>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8FF53909-37FF-45AE-AF22-0C174B1E9943}"/>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RTR Revenue vs Expenses Trend</a:t>
            </a:r>
          </a:p>
        </p:txBody>
      </p:sp>
      <p:sp>
        <p:nvSpPr>
          <p:cNvPr id="3" name="Rectangle 2">
            <a:extLst>
              <a:ext uri="{FF2B5EF4-FFF2-40B4-BE49-F238E27FC236}">
                <a16:creationId xmlns:a16="http://schemas.microsoft.com/office/drawing/2014/main" id="{4D0EA405-DC78-4BFF-B0AB-29116638FB21}"/>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13</a:t>
            </a:r>
          </a:p>
        </p:txBody>
      </p:sp>
      <p:sp>
        <p:nvSpPr>
          <p:cNvPr id="4" name="Straight Connector 3">
            <a:extLst>
              <a:ext uri="{FF2B5EF4-FFF2-40B4-BE49-F238E27FC236}">
                <a16:creationId xmlns:a16="http://schemas.microsoft.com/office/drawing/2014/main" id="{ED9FD49A-0E3A-4C5E-AB69-050508C02D55}"/>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E4E9CE47-8047-457F-9849-5DC02A0A65C1}"/>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07896CA2-4826-402C-BC55-07FD6BD18217}"/>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35</a:t>
            </a:r>
          </a:p>
        </p:txBody>
      </p:sp>
      <p:sp>
        <p:nvSpPr>
          <p:cNvPr id="7" name="Rounded Rectangle 6">
            <a:extLst>
              <a:ext uri="{FF2B5EF4-FFF2-40B4-BE49-F238E27FC236}">
                <a16:creationId xmlns:a16="http://schemas.microsoft.com/office/drawing/2014/main" id="{BE224C85-C32B-4D65-AB02-FD06827A3DBA}"/>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960602"/>
            <a:ext cx="7962900" cy="5260646"/>
          </a:xfrm>
          <a:prstGeom prst="rect">
            <a:avLst/>
          </a:prstGeom>
        </p:spPr>
      </p:pic>
      <p:sp>
        <p:nvSpPr>
          <p:cNvPr id="9" name="Rectangle 8">
            <a:extLst>
              <a:ext uri="{FF2B5EF4-FFF2-40B4-BE49-F238E27FC236}">
                <a16:creationId xmlns:a16="http://schemas.microsoft.com/office/drawing/2014/main" id="{8DC29EC1-28DB-4ED8-B4FF-B3040A6DA6D5}"/>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01CBF156-96B8-4130-8295-AF39EFF38BF7}"/>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Monthly revenue and expenses from Jan 2018 to Dec 2020.</a:t>
            </a:r>
          </a:p>
        </p:txBody>
      </p:sp>
      <p:sp>
        <p:nvSpPr>
          <p:cNvPr id="11" name="Rectangle 10">
            <a:extLst>
              <a:ext uri="{FF2B5EF4-FFF2-40B4-BE49-F238E27FC236}">
                <a16:creationId xmlns:a16="http://schemas.microsoft.com/office/drawing/2014/main" id="{84C82FDE-D1AC-45E5-9C11-50853F4018DF}"/>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FA00B50F-2514-41CB-9B73-5BC0553D6128}"/>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Both measures use a common axis and monthly markers so their gap can be read directly as the main driver of profit movement.</a:t>
            </a:r>
          </a:p>
        </p:txBody>
      </p:sp>
      <p:sp>
        <p:nvSpPr>
          <p:cNvPr id="13" name="Rectangle 12">
            <a:extLst>
              <a:ext uri="{FF2B5EF4-FFF2-40B4-BE49-F238E27FC236}">
                <a16:creationId xmlns:a16="http://schemas.microsoft.com/office/drawing/2014/main" id="{EBE406AB-207A-4CE2-85C6-97C3922BEE30}"/>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257F4027-D6D8-491F-AE78-2400CCCBD3A3}"/>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Revenue generally stays above expenses and grows over time. After an early-2020 dip, revenue peaks near 1.09M in Nov 2020 versus expenses near 0.76M.</a:t>
            </a:r>
          </a:p>
        </p:txBody>
      </p:sp>
    </p:spTree>
    <p:extLst>
      <p:ext uri="{BB962C8B-B14F-4D97-AF65-F5344CB8AC3E}">
        <p14:creationId xmlns:p14="http://schemas.microsoft.com/office/powerpoint/2010/main" val="692650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ED714F7-E9E9-4EEB-9DD6-B8E0BE05A4C8}"/>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C362682A-74EE-463C-9C71-E71BAE91EB60}"/>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RTR Profit &amp; Profit Margin Performance</a:t>
            </a:r>
          </a:p>
        </p:txBody>
      </p:sp>
      <p:sp>
        <p:nvSpPr>
          <p:cNvPr id="3" name="Rectangle 2">
            <a:extLst>
              <a:ext uri="{FF2B5EF4-FFF2-40B4-BE49-F238E27FC236}">
                <a16:creationId xmlns:a16="http://schemas.microsoft.com/office/drawing/2014/main" id="{7BDF1BCC-C5EE-4100-89AD-CCEF9666F448}"/>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14</a:t>
            </a:r>
          </a:p>
        </p:txBody>
      </p:sp>
      <p:sp>
        <p:nvSpPr>
          <p:cNvPr id="4" name="Straight Connector 3">
            <a:extLst>
              <a:ext uri="{FF2B5EF4-FFF2-40B4-BE49-F238E27FC236}">
                <a16:creationId xmlns:a16="http://schemas.microsoft.com/office/drawing/2014/main" id="{FB2802EA-C21E-4D1C-A847-EED1CF26A73C}"/>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65611DC4-98DB-44AF-A04A-81F09AB664BF}"/>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514FF721-6281-4C35-93D9-C3FACCDA5587}"/>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36</a:t>
            </a:r>
          </a:p>
        </p:txBody>
      </p:sp>
      <p:sp>
        <p:nvSpPr>
          <p:cNvPr id="7" name="Rounded Rectangle 6">
            <a:extLst>
              <a:ext uri="{FF2B5EF4-FFF2-40B4-BE49-F238E27FC236}">
                <a16:creationId xmlns:a16="http://schemas.microsoft.com/office/drawing/2014/main" id="{4EF88EAA-564B-48D9-B5E5-1401009CC121}"/>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139456"/>
            <a:ext cx="7962900" cy="4902938"/>
          </a:xfrm>
          <a:prstGeom prst="rect">
            <a:avLst/>
          </a:prstGeom>
        </p:spPr>
      </p:pic>
      <p:sp>
        <p:nvSpPr>
          <p:cNvPr id="9" name="Rectangle 8">
            <a:extLst>
              <a:ext uri="{FF2B5EF4-FFF2-40B4-BE49-F238E27FC236}">
                <a16:creationId xmlns:a16="http://schemas.microsoft.com/office/drawing/2014/main" id="{EBFD8CD7-89EB-45DF-8DC2-4EBE3A8F6353}"/>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D8AF76FF-3733-44D3-BB10-96AC495B7448}"/>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Monthly profit/loss bars plus the corresponding margin percentage.</a:t>
            </a:r>
          </a:p>
        </p:txBody>
      </p:sp>
      <p:sp>
        <p:nvSpPr>
          <p:cNvPr id="11" name="Rectangle 10">
            <a:extLst>
              <a:ext uri="{FF2B5EF4-FFF2-40B4-BE49-F238E27FC236}">
                <a16:creationId xmlns:a16="http://schemas.microsoft.com/office/drawing/2014/main" id="{F4D658F6-1F67-491F-921F-63E8B7BECCEA}"/>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0463FE82-5545-408B-9A27-F9910DF75E15}"/>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Profit months are orange, losses are blue, and the zero reference line makes sign changes explicit. Margin uses the secondary axis.</a:t>
            </a:r>
          </a:p>
        </p:txBody>
      </p:sp>
      <p:sp>
        <p:nvSpPr>
          <p:cNvPr id="13" name="Rectangle 12">
            <a:extLst>
              <a:ext uri="{FF2B5EF4-FFF2-40B4-BE49-F238E27FC236}">
                <a16:creationId xmlns:a16="http://schemas.microsoft.com/office/drawing/2014/main" id="{8C64BC17-2821-49AD-B8EA-E4EBF951086A}"/>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9E1E649F-1683-4FC6-A2BA-348EF35B7EA5}"/>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 deep loss appears in Feb 2020, followed by recovery and accelerating profitability. The strongest month reaches about 365K profit.</a:t>
            </a:r>
          </a:p>
        </p:txBody>
      </p:sp>
    </p:spTree>
    <p:extLst>
      <p:ext uri="{BB962C8B-B14F-4D97-AF65-F5344CB8AC3E}">
        <p14:creationId xmlns:p14="http://schemas.microsoft.com/office/powerpoint/2010/main" val="1034673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EC4DB0B-1779-4F70-8208-E9ED0A86EB17}"/>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1DC03BE8-C946-4398-8E6B-F0D94499148D}"/>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RTR Account Net Movement</a:t>
            </a:r>
          </a:p>
        </p:txBody>
      </p:sp>
      <p:sp>
        <p:nvSpPr>
          <p:cNvPr id="3" name="Rectangle 2">
            <a:extLst>
              <a:ext uri="{FF2B5EF4-FFF2-40B4-BE49-F238E27FC236}">
                <a16:creationId xmlns:a16="http://schemas.microsoft.com/office/drawing/2014/main" id="{368F82D0-6118-4B43-A9D2-0BA7BCB06F5B}"/>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15</a:t>
            </a:r>
          </a:p>
        </p:txBody>
      </p:sp>
      <p:sp>
        <p:nvSpPr>
          <p:cNvPr id="4" name="Straight Connector 3">
            <a:extLst>
              <a:ext uri="{FF2B5EF4-FFF2-40B4-BE49-F238E27FC236}">
                <a16:creationId xmlns:a16="http://schemas.microsoft.com/office/drawing/2014/main" id="{3C33BBEF-325E-4588-8AF2-D31DEFD8F3BD}"/>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629F23B6-9172-451E-BC62-00EF19E2399D}"/>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22F21C5C-6A83-441D-9B3E-7095A68CEE1C}"/>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37</a:t>
            </a:r>
          </a:p>
        </p:txBody>
      </p:sp>
      <p:sp>
        <p:nvSpPr>
          <p:cNvPr id="7" name="Rounded Rectangle 6">
            <a:extLst>
              <a:ext uri="{FF2B5EF4-FFF2-40B4-BE49-F238E27FC236}">
                <a16:creationId xmlns:a16="http://schemas.microsoft.com/office/drawing/2014/main" id="{8750C702-8F91-40E5-B9A9-A9791C88383F}"/>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1203610"/>
            <a:ext cx="7962900" cy="4774629"/>
          </a:xfrm>
          <a:prstGeom prst="rect">
            <a:avLst/>
          </a:prstGeom>
        </p:spPr>
      </p:pic>
      <p:sp>
        <p:nvSpPr>
          <p:cNvPr id="9" name="Rectangle 8">
            <a:extLst>
              <a:ext uri="{FF2B5EF4-FFF2-40B4-BE49-F238E27FC236}">
                <a16:creationId xmlns:a16="http://schemas.microsoft.com/office/drawing/2014/main" id="{87045956-8891-4F70-B0DD-3928435E0618}"/>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94D765DD-C6E6-4950-B085-09F9EF774AB5}"/>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Diverging account movements, coloured by financial-statement class.</a:t>
            </a:r>
          </a:p>
        </p:txBody>
      </p:sp>
      <p:sp>
        <p:nvSpPr>
          <p:cNvPr id="11" name="Rectangle 10">
            <a:extLst>
              <a:ext uri="{FF2B5EF4-FFF2-40B4-BE49-F238E27FC236}">
                <a16:creationId xmlns:a16="http://schemas.microsoft.com/office/drawing/2014/main" id="{5FE76955-E8A5-4A4A-BDFE-B81F0B9CC190}"/>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FE704660-AA55-4B95-89A5-AB1845CAD046}"/>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Accounts are ordered by net movement and plotted around a zero reference line, separating debit/credit direction while preserving class context.</a:t>
            </a:r>
          </a:p>
        </p:txBody>
      </p:sp>
      <p:sp>
        <p:nvSpPr>
          <p:cNvPr id="13" name="Rectangle 12">
            <a:extLst>
              <a:ext uri="{FF2B5EF4-FFF2-40B4-BE49-F238E27FC236}">
                <a16:creationId xmlns:a16="http://schemas.microsoft.com/office/drawing/2014/main" id="{C09120B0-C869-4AE5-B575-C893E5D3C749}"/>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7FAE66C6-3555-4C52-A816-4F7563308773}"/>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Sales is the largest positive movement at 17.6M; Share Capital adds 8.1M. Cost of Sales is the largest negative movement at −5.4M.</a:t>
            </a:r>
          </a:p>
        </p:txBody>
      </p:sp>
    </p:spTree>
    <p:extLst>
      <p:ext uri="{BB962C8B-B14F-4D97-AF65-F5344CB8AC3E}">
        <p14:creationId xmlns:p14="http://schemas.microsoft.com/office/powerpoint/2010/main" val="1349680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93B7BF1-FCE9-4AEA-B209-19F61FD898A0}"/>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998DF2EA-EE8F-420C-925C-D58532BC082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RTR Account Activity &amp; Investigation Risk</a:t>
            </a:r>
          </a:p>
        </p:txBody>
      </p:sp>
      <p:sp>
        <p:nvSpPr>
          <p:cNvPr id="3" name="Rectangle 2">
            <a:extLst>
              <a:ext uri="{FF2B5EF4-FFF2-40B4-BE49-F238E27FC236}">
                <a16:creationId xmlns:a16="http://schemas.microsoft.com/office/drawing/2014/main" id="{76CE032B-E059-48DC-854F-A4EEECB3FF58}"/>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TABLEAU WORKSHEET 16</a:t>
            </a:r>
          </a:p>
        </p:txBody>
      </p:sp>
      <p:sp>
        <p:nvSpPr>
          <p:cNvPr id="4" name="Straight Connector 3">
            <a:extLst>
              <a:ext uri="{FF2B5EF4-FFF2-40B4-BE49-F238E27FC236}">
                <a16:creationId xmlns:a16="http://schemas.microsoft.com/office/drawing/2014/main" id="{33BE16C3-8741-425F-B898-A58E3D88429E}"/>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B9A9C122-B4F8-441D-A41C-43855310F299}"/>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22F16EE7-6878-483D-B540-ACE4E518FE23}"/>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38</a:t>
            </a:r>
          </a:p>
        </p:txBody>
      </p:sp>
      <p:sp>
        <p:nvSpPr>
          <p:cNvPr id="7" name="Rounded Rectangle 6">
            <a:extLst>
              <a:ext uri="{FF2B5EF4-FFF2-40B4-BE49-F238E27FC236}">
                <a16:creationId xmlns:a16="http://schemas.microsoft.com/office/drawing/2014/main" id="{D4FCC6A5-675F-40F6-8D4F-0A8EFCFFD0FD}"/>
              </a:ext>
            </a:extLst>
          </p:cNvPr>
          <p:cNvSpPr>
            <a:spLocks noGrp="1"/>
          </p:cNvSpPr>
          <p:nvPr/>
        </p:nvSpPr>
        <p:spPr>
          <a:xfrm>
            <a:off x="552450" y="800100"/>
            <a:ext cx="8115300" cy="5581650"/>
          </a:xfrm>
          <a:prstGeom prst="roundRect">
            <a:avLst>
              <a:gd name="adj" fmla="val 1706"/>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22" name="Picture 21"/>
          <p:cNvPicPr>
            <a:picLocks noChangeAspect="1"/>
          </p:cNvPicPr>
          <p:nvPr/>
        </p:nvPicPr>
        <p:blipFill>
          <a:blip r:embed="rId3"/>
          <a:stretch/>
        </p:blipFill>
        <p:spPr>
          <a:xfrm>
            <a:off x="628650" y="960602"/>
            <a:ext cx="7962900" cy="5260646"/>
          </a:xfrm>
          <a:prstGeom prst="rect">
            <a:avLst/>
          </a:prstGeom>
        </p:spPr>
      </p:pic>
      <p:sp>
        <p:nvSpPr>
          <p:cNvPr id="9" name="Rectangle 8">
            <a:extLst>
              <a:ext uri="{FF2B5EF4-FFF2-40B4-BE49-F238E27FC236}">
                <a16:creationId xmlns:a16="http://schemas.microsoft.com/office/drawing/2014/main" id="{ECFAE085-B512-420A-BA16-ACC0549A5D1F}"/>
              </a:ext>
            </a:extLst>
          </p:cNvPr>
          <p:cNvSpPr>
            <a:spLocks noGrp="1"/>
          </p:cNvSpPr>
          <p:nvPr/>
        </p:nvSpPr>
        <p:spPr>
          <a:xfrm>
            <a:off x="8934450" y="990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WHAT IT SHOWS</a:t>
            </a:r>
          </a:p>
        </p:txBody>
      </p:sp>
      <p:sp>
        <p:nvSpPr>
          <p:cNvPr id="10" name="Rectangle 9">
            <a:extLst>
              <a:ext uri="{FF2B5EF4-FFF2-40B4-BE49-F238E27FC236}">
                <a16:creationId xmlns:a16="http://schemas.microsoft.com/office/drawing/2014/main" id="{71F77282-B3FC-44D2-9910-0C4C0F9A5965}"/>
              </a:ext>
            </a:extLst>
          </p:cNvPr>
          <p:cNvSpPr>
            <a:spLocks noGrp="1"/>
          </p:cNvSpPr>
          <p:nvPr/>
        </p:nvSpPr>
        <p:spPr>
          <a:xfrm>
            <a:off x="8934450" y="1219200"/>
            <a:ext cx="2571750" cy="1143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Journal-line volume versus the largest absolute posting. Bubble size represents absolute net movement and colour represents flags.</a:t>
            </a:r>
          </a:p>
        </p:txBody>
      </p:sp>
      <p:sp>
        <p:nvSpPr>
          <p:cNvPr id="11" name="Rectangle 10">
            <a:extLst>
              <a:ext uri="{FF2B5EF4-FFF2-40B4-BE49-F238E27FC236}">
                <a16:creationId xmlns:a16="http://schemas.microsoft.com/office/drawing/2014/main" id="{CCC22CA2-44E2-41B7-990B-9CD3418BDA7B}"/>
              </a:ext>
            </a:extLst>
          </p:cNvPr>
          <p:cNvSpPr>
            <a:spLocks noGrp="1"/>
          </p:cNvSpPr>
          <p:nvPr/>
        </p:nvSpPr>
        <p:spPr>
          <a:xfrm>
            <a:off x="8934450" y="25146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HOW IT WORKS</a:t>
            </a:r>
          </a:p>
        </p:txBody>
      </p:sp>
      <p:sp>
        <p:nvSpPr>
          <p:cNvPr id="12" name="Rectangle 11">
            <a:extLst>
              <a:ext uri="{FF2B5EF4-FFF2-40B4-BE49-F238E27FC236}">
                <a16:creationId xmlns:a16="http://schemas.microsoft.com/office/drawing/2014/main" id="{A56E2B48-8908-4DEA-8DA8-A49E6D22936F}"/>
              </a:ext>
            </a:extLst>
          </p:cNvPr>
          <p:cNvSpPr>
            <a:spLocks noGrp="1"/>
          </p:cNvSpPr>
          <p:nvPr/>
        </p:nvSpPr>
        <p:spPr>
          <a:xfrm>
            <a:off x="8934450" y="2743200"/>
            <a:ext cx="2571750" cy="12573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scatter distinguishes high-frequency accounts from accounts dominated by unusually large postings; reference lines anchor the baseline.</a:t>
            </a:r>
          </a:p>
        </p:txBody>
      </p:sp>
      <p:sp>
        <p:nvSpPr>
          <p:cNvPr id="13" name="Rectangle 12">
            <a:extLst>
              <a:ext uri="{FF2B5EF4-FFF2-40B4-BE49-F238E27FC236}">
                <a16:creationId xmlns:a16="http://schemas.microsoft.com/office/drawing/2014/main" id="{055D5B5D-CC5A-4AEC-9024-18EC80028398}"/>
              </a:ext>
            </a:extLst>
          </p:cNvPr>
          <p:cNvSpPr>
            <a:spLocks noGrp="1"/>
          </p:cNvSpPr>
          <p:nvPr/>
        </p:nvSpPr>
        <p:spPr>
          <a:xfrm>
            <a:off x="8934450" y="4152900"/>
            <a:ext cx="2571750" cy="209550"/>
          </a:xfrm>
          <a:prstGeom prst="rect">
            <a:avLst/>
          </a:prstGeom>
          <a:noFill/>
          <a:ln w="0">
            <a:noFill/>
            <a:prstDash val="solid"/>
          </a:ln>
        </p:spPr>
        <p:txBody>
          <a:bodyPr/>
          <a:lstStyle/>
          <a:p>
            <a:pPr algn="l">
              <a:defRPr sz="1000" b="1" i="0">
                <a:solidFill>
                  <a:srgbClr val="C2410C"/>
                </a:solidFill>
              </a:defRPr>
            </a:pPr>
            <a:r>
              <a:rPr sz="1000" b="1" i="0">
                <a:solidFill>
                  <a:srgbClr val="C2410C"/>
                </a:solidFill>
              </a:rPr>
              <a:t>INTERPRETATION</a:t>
            </a:r>
          </a:p>
        </p:txBody>
      </p:sp>
      <p:sp>
        <p:nvSpPr>
          <p:cNvPr id="14" name="Rectangle 13">
            <a:extLst>
              <a:ext uri="{FF2B5EF4-FFF2-40B4-BE49-F238E27FC236}">
                <a16:creationId xmlns:a16="http://schemas.microsoft.com/office/drawing/2014/main" id="{2471385A-55E4-4806-8823-00E14DDDB268}"/>
              </a:ext>
            </a:extLst>
          </p:cNvPr>
          <p:cNvSpPr>
            <a:spLocks noGrp="1"/>
          </p:cNvSpPr>
          <p:nvPr/>
        </p:nvSpPr>
        <p:spPr>
          <a:xfrm>
            <a:off x="8934450" y="4381500"/>
            <a:ext cx="2571750" cy="15240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Review is prioritised in two directions: high-volume/high-flag accounts and low-volume accounts with exceptionally large individual postings.</a:t>
            </a:r>
          </a:p>
        </p:txBody>
      </p:sp>
    </p:spTree>
    <p:extLst>
      <p:ext uri="{BB962C8B-B14F-4D97-AF65-F5344CB8AC3E}">
        <p14:creationId xmlns:p14="http://schemas.microsoft.com/office/powerpoint/2010/main" val="1111372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B2C93B-3530-4AE2-9884-96A16498D5C0}"/>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532074DB-3020-42BC-8774-DCFAA821B5EE}"/>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D01 Executive KPI Snapshot</a:t>
            </a:r>
          </a:p>
        </p:txBody>
      </p:sp>
      <p:sp>
        <p:nvSpPr>
          <p:cNvPr id="3" name="Rectangle 2">
            <a:extLst>
              <a:ext uri="{FF2B5EF4-FFF2-40B4-BE49-F238E27FC236}">
                <a16:creationId xmlns:a16="http://schemas.microsoft.com/office/drawing/2014/main" id="{4AA0C0D1-A6A3-4BBC-AC32-2E55C95EF20D}"/>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1 </a:t>
            </a:r>
            <a:r>
              <a:rPr lang="en-US" sz="1000" b="1" i="0" dirty="0">
                <a:solidFill>
                  <a:srgbClr val="C2410C"/>
                </a:solidFill>
              </a:rPr>
              <a:t>-</a:t>
            </a:r>
            <a:r>
              <a:rPr sz="1000" b="1" i="0" dirty="0">
                <a:solidFill>
                  <a:srgbClr val="C2410C"/>
                </a:solidFill>
              </a:rPr>
              <a:t> IMAGE</a:t>
            </a:r>
          </a:p>
        </p:txBody>
      </p:sp>
      <p:sp>
        <p:nvSpPr>
          <p:cNvPr id="4" name="Straight Connector 3">
            <a:extLst>
              <a:ext uri="{FF2B5EF4-FFF2-40B4-BE49-F238E27FC236}">
                <a16:creationId xmlns:a16="http://schemas.microsoft.com/office/drawing/2014/main" id="{4C444AFD-B888-455E-8432-4248F638D6A6}"/>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9EA31819-47C4-44E7-968A-87EB4CCA2056}"/>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7965DC63-8E7D-49F0-9310-81F1A1B4BD74}"/>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39</a:t>
            </a:r>
          </a:p>
        </p:txBody>
      </p:sp>
      <p:sp>
        <p:nvSpPr>
          <p:cNvPr id="7" name="Rounded Rectangle 6">
            <a:extLst>
              <a:ext uri="{FF2B5EF4-FFF2-40B4-BE49-F238E27FC236}">
                <a16:creationId xmlns:a16="http://schemas.microsoft.com/office/drawing/2014/main" id="{4954590C-7736-4255-8076-0CB2D30E3B5D}"/>
              </a:ext>
            </a:extLst>
          </p:cNvPr>
          <p:cNvSpPr>
            <a:spLocks noGrp="1"/>
          </p:cNvSpPr>
          <p:nvPr/>
        </p:nvSpPr>
        <p:spPr>
          <a:xfrm>
            <a:off x="552450" y="762000"/>
            <a:ext cx="11049000" cy="5695950"/>
          </a:xfrm>
          <a:prstGeom prst="roundRect">
            <a:avLst>
              <a:gd name="adj" fmla="val 167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16" name="Picture 15"/>
          <p:cNvPicPr>
            <a:picLocks noChangeAspect="1"/>
          </p:cNvPicPr>
          <p:nvPr/>
        </p:nvPicPr>
        <p:blipFill>
          <a:blip r:embed="rId3"/>
          <a:stretch/>
        </p:blipFill>
        <p:spPr>
          <a:xfrm>
            <a:off x="628650" y="1899400"/>
            <a:ext cx="10896600" cy="3421149"/>
          </a:xfrm>
          <a:prstGeom prst="rect">
            <a:avLst/>
          </a:prstGeom>
        </p:spPr>
      </p:pic>
    </p:spTree>
    <p:extLst>
      <p:ext uri="{BB962C8B-B14F-4D97-AF65-F5344CB8AC3E}">
        <p14:creationId xmlns:p14="http://schemas.microsoft.com/office/powerpoint/2010/main" val="2094757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3092AB4-3D44-4345-A34D-8575BFCE89D5}"/>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D92A359E-84BC-4562-A722-57DEC95F8B57}"/>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D01 explains the cross-process executive position</a:t>
            </a:r>
          </a:p>
        </p:txBody>
      </p:sp>
      <p:sp>
        <p:nvSpPr>
          <p:cNvPr id="3" name="Rectangle 2">
            <a:extLst>
              <a:ext uri="{FF2B5EF4-FFF2-40B4-BE49-F238E27FC236}">
                <a16:creationId xmlns:a16="http://schemas.microsoft.com/office/drawing/2014/main" id="{4BDB84DF-4440-4CBA-95C3-7D41EC0C18DE}"/>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1 </a:t>
            </a:r>
            <a:r>
              <a:rPr lang="en-US" sz="1000" b="1" i="0" dirty="0">
                <a:solidFill>
                  <a:srgbClr val="C2410C"/>
                </a:solidFill>
              </a:rPr>
              <a:t>-</a:t>
            </a:r>
            <a:r>
              <a:rPr sz="1000" b="1" i="0" dirty="0">
                <a:solidFill>
                  <a:srgbClr val="C2410C"/>
                </a:solidFill>
              </a:rPr>
              <a:t> EXPLANATION</a:t>
            </a:r>
          </a:p>
        </p:txBody>
      </p:sp>
      <p:sp>
        <p:nvSpPr>
          <p:cNvPr id="4" name="Straight Connector 3">
            <a:extLst>
              <a:ext uri="{FF2B5EF4-FFF2-40B4-BE49-F238E27FC236}">
                <a16:creationId xmlns:a16="http://schemas.microsoft.com/office/drawing/2014/main" id="{A86816A2-F88A-41E2-B21C-A434F8AACC6E}"/>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4D386B7A-5A62-4361-8E5D-786A32ED04D7}"/>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4C0A061F-4F0F-4293-8D20-2E5732A92E67}"/>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40</a:t>
            </a:r>
          </a:p>
        </p:txBody>
      </p:sp>
      <p:sp>
        <p:nvSpPr>
          <p:cNvPr id="7" name="Rectangle 6">
            <a:extLst>
              <a:ext uri="{FF2B5EF4-FFF2-40B4-BE49-F238E27FC236}">
                <a16:creationId xmlns:a16="http://schemas.microsoft.com/office/drawing/2014/main" id="{E0643E20-F0E8-4902-AF72-E3F84AD51ADC}"/>
              </a:ext>
            </a:extLst>
          </p:cNvPr>
          <p:cNvSpPr>
            <a:spLocks noGrp="1"/>
          </p:cNvSpPr>
          <p:nvPr/>
        </p:nvSpPr>
        <p:spPr>
          <a:xfrm>
            <a:off x="685800" y="990600"/>
            <a:ext cx="57150" cy="106680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A47CFF85-0B66-4BDA-9F52-5D0AC85D16EE}"/>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Business purpose</a:t>
            </a:r>
          </a:p>
        </p:txBody>
      </p:sp>
      <p:sp>
        <p:nvSpPr>
          <p:cNvPr id="9" name="Rectangle 8">
            <a:extLst>
              <a:ext uri="{FF2B5EF4-FFF2-40B4-BE49-F238E27FC236}">
                <a16:creationId xmlns:a16="http://schemas.microsoft.com/office/drawing/2014/main" id="{3E02C3BF-D7E5-465F-BED4-91379AEE0AE9}"/>
              </a:ext>
            </a:extLst>
          </p:cNvPr>
          <p:cNvSpPr>
            <a:spLocks noGrp="1"/>
          </p:cNvSpPr>
          <p:nvPr/>
        </p:nvSpPr>
        <p:spPr>
          <a:xfrm>
            <a:off x="3333750" y="1066800"/>
            <a:ext cx="7810500" cy="9525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Provide one management snapshot for billing, receivables, collection efficiency, procurement scale and financial performance.</a:t>
            </a:r>
          </a:p>
        </p:txBody>
      </p:sp>
      <p:sp>
        <p:nvSpPr>
          <p:cNvPr id="10" name="Rectangle 9">
            <a:extLst>
              <a:ext uri="{FF2B5EF4-FFF2-40B4-BE49-F238E27FC236}">
                <a16:creationId xmlns:a16="http://schemas.microsoft.com/office/drawing/2014/main" id="{BD94A8E2-3B16-4F5C-AA3A-BAEF933D9EFA}"/>
              </a:ext>
            </a:extLst>
          </p:cNvPr>
          <p:cNvSpPr>
            <a:spLocks noGrp="1"/>
          </p:cNvSpPr>
          <p:nvPr/>
        </p:nvSpPr>
        <p:spPr>
          <a:xfrm>
            <a:off x="685800" y="2286000"/>
            <a:ext cx="57150" cy="129540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88AB394E-0009-4687-A4D8-8BEECA311993}"/>
              </a:ext>
            </a:extLst>
          </p:cNvPr>
          <p:cNvSpPr>
            <a:spLocks noGrp="1"/>
          </p:cNvSpPr>
          <p:nvPr/>
        </p:nvSpPr>
        <p:spPr>
          <a:xfrm>
            <a:off x="914400" y="2362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Reading sequence</a:t>
            </a:r>
          </a:p>
        </p:txBody>
      </p:sp>
      <p:sp>
        <p:nvSpPr>
          <p:cNvPr id="12" name="Rectangle 11">
            <a:extLst>
              <a:ext uri="{FF2B5EF4-FFF2-40B4-BE49-F238E27FC236}">
                <a16:creationId xmlns:a16="http://schemas.microsoft.com/office/drawing/2014/main" id="{7EC76FCF-7DFE-4F8F-BD94-60E1427D38DA}"/>
              </a:ext>
            </a:extLst>
          </p:cNvPr>
          <p:cNvSpPr>
            <a:spLocks noGrp="1"/>
          </p:cNvSpPr>
          <p:nvPr/>
        </p:nvSpPr>
        <p:spPr>
          <a:xfrm>
            <a:off x="3333750" y="2362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Read left-to-right by process: OTC billing/AR/DSO/overdue exposure, PTP procurement spend, then RTR revenue/expenses/profit/margin. Colour identifies process ownership.</a:t>
            </a:r>
          </a:p>
        </p:txBody>
      </p:sp>
      <p:sp>
        <p:nvSpPr>
          <p:cNvPr id="13" name="Rectangle 12">
            <a:extLst>
              <a:ext uri="{FF2B5EF4-FFF2-40B4-BE49-F238E27FC236}">
                <a16:creationId xmlns:a16="http://schemas.microsoft.com/office/drawing/2014/main" id="{9D68C7F1-05E8-4251-8CFB-BD101FAD0FF6}"/>
              </a:ext>
            </a:extLst>
          </p:cNvPr>
          <p:cNvSpPr>
            <a:spLocks noGrp="1"/>
          </p:cNvSpPr>
          <p:nvPr/>
        </p:nvSpPr>
        <p:spPr>
          <a:xfrm>
            <a:off x="685800" y="3810000"/>
            <a:ext cx="57150" cy="129540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C86F4EB-4232-4BB4-8F58-C5764692C1A7}"/>
              </a:ext>
            </a:extLst>
          </p:cNvPr>
          <p:cNvSpPr>
            <a:spLocks noGrp="1"/>
          </p:cNvSpPr>
          <p:nvPr/>
        </p:nvSpPr>
        <p:spPr>
          <a:xfrm>
            <a:off x="914400" y="3886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Decision value</a:t>
            </a:r>
          </a:p>
        </p:txBody>
      </p:sp>
      <p:sp>
        <p:nvSpPr>
          <p:cNvPr id="15" name="Rectangle 14">
            <a:extLst>
              <a:ext uri="{FF2B5EF4-FFF2-40B4-BE49-F238E27FC236}">
                <a16:creationId xmlns:a16="http://schemas.microsoft.com/office/drawing/2014/main" id="{F8361ED4-6EA5-4E64-AE69-F565129A4848}"/>
              </a:ext>
            </a:extLst>
          </p:cNvPr>
          <p:cNvSpPr>
            <a:spLocks noGrp="1"/>
          </p:cNvSpPr>
          <p:nvPr/>
        </p:nvSpPr>
        <p:spPr>
          <a:xfrm>
            <a:off x="3333750" y="3886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The view sets scale and directs attention to the detailed dashboards. Because the three datasets do not share a common date window, each process represents its latest meaningful snapshot.</a:t>
            </a:r>
          </a:p>
        </p:txBody>
      </p:sp>
      <p:sp>
        <p:nvSpPr>
          <p:cNvPr id="16" name="Rounded Rectangle 15">
            <a:extLst>
              <a:ext uri="{FF2B5EF4-FFF2-40B4-BE49-F238E27FC236}">
                <a16:creationId xmlns:a16="http://schemas.microsoft.com/office/drawing/2014/main" id="{4B1E6465-64DD-4E3D-9101-32E3B2F52F55}"/>
              </a:ext>
            </a:extLst>
          </p:cNvPr>
          <p:cNvSpPr>
            <a:spLocks noGrp="1"/>
          </p:cNvSpPr>
          <p:nvPr/>
        </p:nvSpPr>
        <p:spPr>
          <a:xfrm>
            <a:off x="685800" y="54292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7" name="Rectangle 16">
            <a:extLst>
              <a:ext uri="{FF2B5EF4-FFF2-40B4-BE49-F238E27FC236}">
                <a16:creationId xmlns:a16="http://schemas.microsoft.com/office/drawing/2014/main" id="{DB9A1C0F-82CC-4393-BDCF-3755155B244F}"/>
              </a:ext>
            </a:extLst>
          </p:cNvPr>
          <p:cNvSpPr>
            <a:spLocks noGrp="1"/>
          </p:cNvSpPr>
          <p:nvPr/>
        </p:nvSpPr>
        <p:spPr>
          <a:xfrm>
            <a:off x="895350" y="5524500"/>
            <a:ext cx="10401300" cy="266700"/>
          </a:xfrm>
          <a:prstGeom prst="rect">
            <a:avLst/>
          </a:prstGeom>
          <a:noFill/>
          <a:ln w="0">
            <a:noFill/>
            <a:prstDash val="solid"/>
          </a:ln>
        </p:spPr>
        <p:txBody>
          <a:bodyPr/>
          <a:lstStyle/>
          <a:p>
            <a:pPr algn="l">
              <a:defRPr sz="1400" b="1" i="0">
                <a:solidFill>
                  <a:srgbClr val="C2410C"/>
                </a:solidFill>
              </a:defRPr>
            </a:pPr>
            <a:r>
              <a:rPr sz="1400" b="1" i="0" dirty="0">
                <a:solidFill>
                  <a:srgbClr val="C2410C"/>
                </a:solidFill>
              </a:rPr>
              <a:t>Use D01 for orientation and KPI scale</a:t>
            </a:r>
            <a:r>
              <a:rPr lang="en-US" sz="1400" b="1" i="0" dirty="0">
                <a:solidFill>
                  <a:srgbClr val="C2410C"/>
                </a:solidFill>
              </a:rPr>
              <a:t>-</a:t>
            </a:r>
            <a:r>
              <a:rPr sz="1400" b="1" i="0" dirty="0">
                <a:solidFill>
                  <a:srgbClr val="C2410C"/>
                </a:solidFill>
              </a:rPr>
              <a:t>not for same-period cross-process variance analysis.</a:t>
            </a:r>
          </a:p>
        </p:txBody>
      </p:sp>
    </p:spTree>
    <p:extLst>
      <p:ext uri="{BB962C8B-B14F-4D97-AF65-F5344CB8AC3E}">
        <p14:creationId xmlns:p14="http://schemas.microsoft.com/office/powerpoint/2010/main" val="372914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1D28E1-07C9-4831-8354-162168F91B0A}"/>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265517D1-CB80-491D-A33A-85C3C72B013D}"/>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D02 Order-to-Cash Performance &amp; Receivables</a:t>
            </a:r>
          </a:p>
        </p:txBody>
      </p:sp>
      <p:sp>
        <p:nvSpPr>
          <p:cNvPr id="3" name="Rectangle 2">
            <a:extLst>
              <a:ext uri="{FF2B5EF4-FFF2-40B4-BE49-F238E27FC236}">
                <a16:creationId xmlns:a16="http://schemas.microsoft.com/office/drawing/2014/main" id="{8D7078CC-3AEC-47F6-820E-0EE91F64B887}"/>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2 </a:t>
            </a:r>
            <a:r>
              <a:rPr lang="en-US" sz="1000" b="1" i="0" dirty="0">
                <a:solidFill>
                  <a:srgbClr val="C2410C"/>
                </a:solidFill>
              </a:rPr>
              <a:t>-</a:t>
            </a:r>
            <a:r>
              <a:rPr sz="1000" b="1" i="0" dirty="0">
                <a:solidFill>
                  <a:srgbClr val="C2410C"/>
                </a:solidFill>
              </a:rPr>
              <a:t> IMAGE</a:t>
            </a:r>
          </a:p>
        </p:txBody>
      </p:sp>
      <p:sp>
        <p:nvSpPr>
          <p:cNvPr id="4" name="Straight Connector 3">
            <a:extLst>
              <a:ext uri="{FF2B5EF4-FFF2-40B4-BE49-F238E27FC236}">
                <a16:creationId xmlns:a16="http://schemas.microsoft.com/office/drawing/2014/main" id="{B831655A-89C3-479B-9999-37869BD3E7B1}"/>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113A30B5-40E0-4950-A897-3528A89C510D}"/>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FDEE0DC9-65EA-4A34-B0C6-AA0B13A00145}"/>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41</a:t>
            </a:r>
          </a:p>
        </p:txBody>
      </p:sp>
      <p:sp>
        <p:nvSpPr>
          <p:cNvPr id="7" name="Rounded Rectangle 6">
            <a:extLst>
              <a:ext uri="{FF2B5EF4-FFF2-40B4-BE49-F238E27FC236}">
                <a16:creationId xmlns:a16="http://schemas.microsoft.com/office/drawing/2014/main" id="{6BFBC643-FA58-43AC-8120-617472F11093}"/>
              </a:ext>
            </a:extLst>
          </p:cNvPr>
          <p:cNvSpPr>
            <a:spLocks noGrp="1"/>
          </p:cNvSpPr>
          <p:nvPr/>
        </p:nvSpPr>
        <p:spPr>
          <a:xfrm>
            <a:off x="552450" y="762000"/>
            <a:ext cx="11049000" cy="5695950"/>
          </a:xfrm>
          <a:prstGeom prst="roundRect">
            <a:avLst>
              <a:gd name="adj" fmla="val 167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16" name="Picture 15"/>
          <p:cNvPicPr>
            <a:picLocks noChangeAspect="1"/>
          </p:cNvPicPr>
          <p:nvPr/>
        </p:nvPicPr>
        <p:blipFill>
          <a:blip r:embed="rId3"/>
          <a:stretch/>
        </p:blipFill>
        <p:spPr>
          <a:xfrm>
            <a:off x="1318698" y="838200"/>
            <a:ext cx="9516505" cy="5543550"/>
          </a:xfrm>
          <a:prstGeom prst="rect">
            <a:avLst/>
          </a:prstGeom>
        </p:spPr>
      </p:pic>
    </p:spTree>
    <p:extLst>
      <p:ext uri="{BB962C8B-B14F-4D97-AF65-F5344CB8AC3E}">
        <p14:creationId xmlns:p14="http://schemas.microsoft.com/office/powerpoint/2010/main" val="1186328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C0786-4D20-4046-AD6A-C9282E809276}"/>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4B2DC7C6-8609-47A8-9EBC-523F0093CD83}"/>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D02 turns receivables data into collection priorities</a:t>
            </a:r>
          </a:p>
        </p:txBody>
      </p:sp>
      <p:sp>
        <p:nvSpPr>
          <p:cNvPr id="3" name="Rectangle 2">
            <a:extLst>
              <a:ext uri="{FF2B5EF4-FFF2-40B4-BE49-F238E27FC236}">
                <a16:creationId xmlns:a16="http://schemas.microsoft.com/office/drawing/2014/main" id="{F00934B4-3617-4B84-8BD7-9DCC41524088}"/>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2 </a:t>
            </a:r>
            <a:r>
              <a:rPr lang="en-US" sz="1000" b="1" i="0" dirty="0">
                <a:solidFill>
                  <a:srgbClr val="C2410C"/>
                </a:solidFill>
              </a:rPr>
              <a:t>-</a:t>
            </a:r>
            <a:r>
              <a:rPr sz="1000" b="1" i="0" dirty="0">
                <a:solidFill>
                  <a:srgbClr val="C2410C"/>
                </a:solidFill>
              </a:rPr>
              <a:t>EXPLANATION</a:t>
            </a:r>
          </a:p>
        </p:txBody>
      </p:sp>
      <p:sp>
        <p:nvSpPr>
          <p:cNvPr id="4" name="Straight Connector 3">
            <a:extLst>
              <a:ext uri="{FF2B5EF4-FFF2-40B4-BE49-F238E27FC236}">
                <a16:creationId xmlns:a16="http://schemas.microsoft.com/office/drawing/2014/main" id="{430CC831-8FAB-422F-9C98-9B5856684462}"/>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F1A2292E-612C-407D-888B-D4FA13F53091}"/>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7374E73A-5EDF-4A69-9C5F-BFDE85BDA099}"/>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42</a:t>
            </a:r>
          </a:p>
        </p:txBody>
      </p:sp>
      <p:sp>
        <p:nvSpPr>
          <p:cNvPr id="7" name="Rectangle 6">
            <a:extLst>
              <a:ext uri="{FF2B5EF4-FFF2-40B4-BE49-F238E27FC236}">
                <a16:creationId xmlns:a16="http://schemas.microsoft.com/office/drawing/2014/main" id="{8D340934-E770-4FAF-81F7-B9BBABAE959A}"/>
              </a:ext>
            </a:extLst>
          </p:cNvPr>
          <p:cNvSpPr>
            <a:spLocks noGrp="1"/>
          </p:cNvSpPr>
          <p:nvPr/>
        </p:nvSpPr>
        <p:spPr>
          <a:xfrm>
            <a:off x="685800" y="990600"/>
            <a:ext cx="57150" cy="106680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553FE7FA-FEF2-4766-B755-742013A665E8}"/>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Business purpose</a:t>
            </a:r>
          </a:p>
        </p:txBody>
      </p:sp>
      <p:sp>
        <p:nvSpPr>
          <p:cNvPr id="9" name="Rectangle 8">
            <a:extLst>
              <a:ext uri="{FF2B5EF4-FFF2-40B4-BE49-F238E27FC236}">
                <a16:creationId xmlns:a16="http://schemas.microsoft.com/office/drawing/2014/main" id="{DB7A5BCE-9C0E-43E5-87FA-180A828FF410}"/>
              </a:ext>
            </a:extLst>
          </p:cNvPr>
          <p:cNvSpPr>
            <a:spLocks noGrp="1"/>
          </p:cNvSpPr>
          <p:nvPr/>
        </p:nvSpPr>
        <p:spPr>
          <a:xfrm>
            <a:off x="3333750" y="1066800"/>
            <a:ext cx="7810500" cy="9525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Explain how billing, overdue exposure, DSO, customer concentration and payment risk interact in the OTC cycle.</a:t>
            </a:r>
          </a:p>
        </p:txBody>
      </p:sp>
      <p:sp>
        <p:nvSpPr>
          <p:cNvPr id="10" name="Rectangle 9">
            <a:extLst>
              <a:ext uri="{FF2B5EF4-FFF2-40B4-BE49-F238E27FC236}">
                <a16:creationId xmlns:a16="http://schemas.microsoft.com/office/drawing/2014/main" id="{560079E9-3306-4F9E-BA48-0FB7995A156E}"/>
              </a:ext>
            </a:extLst>
          </p:cNvPr>
          <p:cNvSpPr>
            <a:spLocks noGrp="1"/>
          </p:cNvSpPr>
          <p:nvPr/>
        </p:nvSpPr>
        <p:spPr>
          <a:xfrm>
            <a:off x="685800" y="2286000"/>
            <a:ext cx="57150" cy="129540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F6ADAC3-B1C9-4676-9C25-EBE7586805B8}"/>
              </a:ext>
            </a:extLst>
          </p:cNvPr>
          <p:cNvSpPr>
            <a:spLocks noGrp="1"/>
          </p:cNvSpPr>
          <p:nvPr/>
        </p:nvSpPr>
        <p:spPr>
          <a:xfrm>
            <a:off x="914400" y="2362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Reading sequence</a:t>
            </a:r>
          </a:p>
        </p:txBody>
      </p:sp>
      <p:sp>
        <p:nvSpPr>
          <p:cNvPr id="12" name="Rectangle 11">
            <a:extLst>
              <a:ext uri="{FF2B5EF4-FFF2-40B4-BE49-F238E27FC236}">
                <a16:creationId xmlns:a16="http://schemas.microsoft.com/office/drawing/2014/main" id="{BC27482B-5E48-40FB-BD55-403584B4968E}"/>
              </a:ext>
            </a:extLst>
          </p:cNvPr>
          <p:cNvSpPr>
            <a:spLocks noGrp="1"/>
          </p:cNvSpPr>
          <p:nvPr/>
        </p:nvSpPr>
        <p:spPr>
          <a:xfrm>
            <a:off x="3333750" y="2362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Start with billed amount versus overdue AR, then confirm collection efficiency through DSO. Move to the Top 10 customers and finish with the payment-risk scatter to select accounts for action.</a:t>
            </a:r>
          </a:p>
        </p:txBody>
      </p:sp>
      <p:sp>
        <p:nvSpPr>
          <p:cNvPr id="13" name="Rectangle 12">
            <a:extLst>
              <a:ext uri="{FF2B5EF4-FFF2-40B4-BE49-F238E27FC236}">
                <a16:creationId xmlns:a16="http://schemas.microsoft.com/office/drawing/2014/main" id="{BAB7BC5E-6CEA-4AAF-8E2A-6FC9936F1B13}"/>
              </a:ext>
            </a:extLst>
          </p:cNvPr>
          <p:cNvSpPr>
            <a:spLocks noGrp="1"/>
          </p:cNvSpPr>
          <p:nvPr/>
        </p:nvSpPr>
        <p:spPr>
          <a:xfrm>
            <a:off x="685800" y="3810000"/>
            <a:ext cx="57150" cy="129540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1F5DAF28-2A15-46E1-A45A-E4061A8C40DC}"/>
              </a:ext>
            </a:extLst>
          </p:cNvPr>
          <p:cNvSpPr>
            <a:spLocks noGrp="1"/>
          </p:cNvSpPr>
          <p:nvPr/>
        </p:nvSpPr>
        <p:spPr>
          <a:xfrm>
            <a:off x="914400" y="3886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Decision value</a:t>
            </a:r>
          </a:p>
        </p:txBody>
      </p:sp>
      <p:sp>
        <p:nvSpPr>
          <p:cNvPr id="15" name="Rectangle 14">
            <a:extLst>
              <a:ext uri="{FF2B5EF4-FFF2-40B4-BE49-F238E27FC236}">
                <a16:creationId xmlns:a16="http://schemas.microsoft.com/office/drawing/2014/main" id="{B4567599-912F-47C3-98EB-A6051C36ECEF}"/>
              </a:ext>
            </a:extLst>
          </p:cNvPr>
          <p:cNvSpPr>
            <a:spLocks noGrp="1"/>
          </p:cNvSpPr>
          <p:nvPr/>
        </p:nvSpPr>
        <p:spPr>
          <a:xfrm>
            <a:off x="3333750" y="3886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Collections teams can prioritise large customers with high late-payment rates or investigation flags, while finance monitors whether DSO and overdue AR improve after intervention.</a:t>
            </a:r>
          </a:p>
        </p:txBody>
      </p:sp>
      <p:sp>
        <p:nvSpPr>
          <p:cNvPr id="16" name="Rounded Rectangle 15">
            <a:extLst>
              <a:ext uri="{FF2B5EF4-FFF2-40B4-BE49-F238E27FC236}">
                <a16:creationId xmlns:a16="http://schemas.microsoft.com/office/drawing/2014/main" id="{EE53D3AF-AAF5-4C27-B0A6-F3DF05EEF8D3}"/>
              </a:ext>
            </a:extLst>
          </p:cNvPr>
          <p:cNvSpPr>
            <a:spLocks noGrp="1"/>
          </p:cNvSpPr>
          <p:nvPr/>
        </p:nvSpPr>
        <p:spPr>
          <a:xfrm>
            <a:off x="685800" y="54292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7" name="Rectangle 16">
            <a:extLst>
              <a:ext uri="{FF2B5EF4-FFF2-40B4-BE49-F238E27FC236}">
                <a16:creationId xmlns:a16="http://schemas.microsoft.com/office/drawing/2014/main" id="{ACC9B604-4711-4F31-BFDD-5C078E0A4C9A}"/>
              </a:ext>
            </a:extLst>
          </p:cNvPr>
          <p:cNvSpPr>
            <a:spLocks noGrp="1"/>
          </p:cNvSpPr>
          <p:nvPr/>
        </p:nvSpPr>
        <p:spPr>
          <a:xfrm>
            <a:off x="895350" y="5524500"/>
            <a:ext cx="10401300" cy="2667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The dashboard moves from portfolio trend to customer-level action in one analytical path.</a:t>
            </a:r>
          </a:p>
        </p:txBody>
      </p:sp>
    </p:spTree>
    <p:extLst>
      <p:ext uri="{BB962C8B-B14F-4D97-AF65-F5344CB8AC3E}">
        <p14:creationId xmlns:p14="http://schemas.microsoft.com/office/powerpoint/2010/main" val="4733838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F460740-A492-44FE-8756-1A4F6EBED047}"/>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527D56C0-1E8A-4E27-AA3B-A943D8FE47E9}"/>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D03 Procure-to-Pay Spend Analytics</a:t>
            </a:r>
          </a:p>
        </p:txBody>
      </p:sp>
      <p:sp>
        <p:nvSpPr>
          <p:cNvPr id="3" name="Rectangle 2">
            <a:extLst>
              <a:ext uri="{FF2B5EF4-FFF2-40B4-BE49-F238E27FC236}">
                <a16:creationId xmlns:a16="http://schemas.microsoft.com/office/drawing/2014/main" id="{946D64BF-1562-4859-9A6B-82D806EDAFCF}"/>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3 </a:t>
            </a:r>
            <a:r>
              <a:rPr lang="en-US" sz="1000" b="1" i="0" dirty="0">
                <a:solidFill>
                  <a:srgbClr val="C2410C"/>
                </a:solidFill>
              </a:rPr>
              <a:t>-</a:t>
            </a:r>
            <a:r>
              <a:rPr sz="1000" b="1" i="0" dirty="0">
                <a:solidFill>
                  <a:srgbClr val="C2410C"/>
                </a:solidFill>
              </a:rPr>
              <a:t> IMAGE</a:t>
            </a:r>
          </a:p>
        </p:txBody>
      </p:sp>
      <p:sp>
        <p:nvSpPr>
          <p:cNvPr id="4" name="Straight Connector 3">
            <a:extLst>
              <a:ext uri="{FF2B5EF4-FFF2-40B4-BE49-F238E27FC236}">
                <a16:creationId xmlns:a16="http://schemas.microsoft.com/office/drawing/2014/main" id="{4F464FB9-D92D-4248-A3B2-E279E9439E38}"/>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A07E9A43-A6B4-40AB-AF0E-74A0405FB852}"/>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42AC13E1-25D3-47E8-8BAD-0687B3F5F63B}"/>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43</a:t>
            </a:r>
          </a:p>
        </p:txBody>
      </p:sp>
      <p:sp>
        <p:nvSpPr>
          <p:cNvPr id="7" name="Rounded Rectangle 6">
            <a:extLst>
              <a:ext uri="{FF2B5EF4-FFF2-40B4-BE49-F238E27FC236}">
                <a16:creationId xmlns:a16="http://schemas.microsoft.com/office/drawing/2014/main" id="{664D89A5-9414-4DEF-AE64-1C12CE50C523}"/>
              </a:ext>
            </a:extLst>
          </p:cNvPr>
          <p:cNvSpPr>
            <a:spLocks noGrp="1"/>
          </p:cNvSpPr>
          <p:nvPr/>
        </p:nvSpPr>
        <p:spPr>
          <a:xfrm>
            <a:off x="552450" y="762000"/>
            <a:ext cx="11049000" cy="5695950"/>
          </a:xfrm>
          <a:prstGeom prst="roundRect">
            <a:avLst>
              <a:gd name="adj" fmla="val 167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16" name="Picture 15"/>
          <p:cNvPicPr>
            <a:picLocks noChangeAspect="1"/>
          </p:cNvPicPr>
          <p:nvPr/>
        </p:nvPicPr>
        <p:blipFill>
          <a:blip r:embed="rId3"/>
          <a:stretch/>
        </p:blipFill>
        <p:spPr>
          <a:xfrm>
            <a:off x="1318698" y="838200"/>
            <a:ext cx="9516505" cy="5543550"/>
          </a:xfrm>
          <a:prstGeom prst="rect">
            <a:avLst/>
          </a:prstGeom>
        </p:spPr>
      </p:pic>
    </p:spTree>
    <p:extLst>
      <p:ext uri="{BB962C8B-B14F-4D97-AF65-F5344CB8AC3E}">
        <p14:creationId xmlns:p14="http://schemas.microsoft.com/office/powerpoint/2010/main" val="16121933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C1CDAF3-9B9F-4AEE-86C9-F4A449DE27B1}"/>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854AB98C-7AAE-4E7F-AB79-79ED4A94A7DF}"/>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D03 links spend volatility to concentration and risk</a:t>
            </a:r>
          </a:p>
        </p:txBody>
      </p:sp>
      <p:sp>
        <p:nvSpPr>
          <p:cNvPr id="3" name="Rectangle 2">
            <a:extLst>
              <a:ext uri="{FF2B5EF4-FFF2-40B4-BE49-F238E27FC236}">
                <a16:creationId xmlns:a16="http://schemas.microsoft.com/office/drawing/2014/main" id="{4D2C2E8C-FB9C-4C64-AAD6-6172FB40A023}"/>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3 </a:t>
            </a:r>
            <a:r>
              <a:rPr lang="en-US" sz="1000" b="1" i="0" dirty="0">
                <a:solidFill>
                  <a:srgbClr val="C2410C"/>
                </a:solidFill>
              </a:rPr>
              <a:t>-</a:t>
            </a:r>
            <a:r>
              <a:rPr sz="1000" b="1" i="0" dirty="0">
                <a:solidFill>
                  <a:srgbClr val="C2410C"/>
                </a:solidFill>
              </a:rPr>
              <a:t> EXPLANATION</a:t>
            </a:r>
          </a:p>
        </p:txBody>
      </p:sp>
      <p:sp>
        <p:nvSpPr>
          <p:cNvPr id="4" name="Straight Connector 3">
            <a:extLst>
              <a:ext uri="{FF2B5EF4-FFF2-40B4-BE49-F238E27FC236}">
                <a16:creationId xmlns:a16="http://schemas.microsoft.com/office/drawing/2014/main" id="{07F31CE9-B66F-45A6-A0D4-EE879CA2AC51}"/>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9EE99BEA-F34F-49AE-93B9-40600927CCEA}"/>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B64CA721-5DF4-4CEB-B816-9CAFE2889414}"/>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44</a:t>
            </a:r>
          </a:p>
        </p:txBody>
      </p:sp>
      <p:sp>
        <p:nvSpPr>
          <p:cNvPr id="7" name="Rectangle 6">
            <a:extLst>
              <a:ext uri="{FF2B5EF4-FFF2-40B4-BE49-F238E27FC236}">
                <a16:creationId xmlns:a16="http://schemas.microsoft.com/office/drawing/2014/main" id="{E0DAF959-B101-4680-8E6A-6EFD58845FC6}"/>
              </a:ext>
            </a:extLst>
          </p:cNvPr>
          <p:cNvSpPr>
            <a:spLocks noGrp="1"/>
          </p:cNvSpPr>
          <p:nvPr/>
        </p:nvSpPr>
        <p:spPr>
          <a:xfrm>
            <a:off x="685800" y="990600"/>
            <a:ext cx="57150" cy="106680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3727E305-CBD4-43AF-9042-8AF1893D81F7}"/>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Business purpose</a:t>
            </a:r>
          </a:p>
        </p:txBody>
      </p:sp>
      <p:sp>
        <p:nvSpPr>
          <p:cNvPr id="9" name="Rectangle 8">
            <a:extLst>
              <a:ext uri="{FF2B5EF4-FFF2-40B4-BE49-F238E27FC236}">
                <a16:creationId xmlns:a16="http://schemas.microsoft.com/office/drawing/2014/main" id="{46A58DDA-5A18-438C-B5FA-0EEB2B69DEA5}"/>
              </a:ext>
            </a:extLst>
          </p:cNvPr>
          <p:cNvSpPr>
            <a:spLocks noGrp="1"/>
          </p:cNvSpPr>
          <p:nvPr/>
        </p:nvSpPr>
        <p:spPr>
          <a:xfrm>
            <a:off x="3333750" y="1066800"/>
            <a:ext cx="7810500" cy="9525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Monitor valid procurement spend, distinguish structural growth from low-base volatility and identify dominant material groups.</a:t>
            </a:r>
          </a:p>
        </p:txBody>
      </p:sp>
      <p:sp>
        <p:nvSpPr>
          <p:cNvPr id="10" name="Rectangle 9">
            <a:extLst>
              <a:ext uri="{FF2B5EF4-FFF2-40B4-BE49-F238E27FC236}">
                <a16:creationId xmlns:a16="http://schemas.microsoft.com/office/drawing/2014/main" id="{A0BF8DD3-8A72-42D0-A90B-DD0522CBAC97}"/>
              </a:ext>
            </a:extLst>
          </p:cNvPr>
          <p:cNvSpPr>
            <a:spLocks noGrp="1"/>
          </p:cNvSpPr>
          <p:nvPr/>
        </p:nvSpPr>
        <p:spPr>
          <a:xfrm>
            <a:off x="685800" y="2286000"/>
            <a:ext cx="57150" cy="129540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0CE60CB-A0F6-4862-BE8A-77E108F36FC2}"/>
              </a:ext>
            </a:extLst>
          </p:cNvPr>
          <p:cNvSpPr>
            <a:spLocks noGrp="1"/>
          </p:cNvSpPr>
          <p:nvPr/>
        </p:nvSpPr>
        <p:spPr>
          <a:xfrm>
            <a:off x="914400" y="2362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Reading sequence</a:t>
            </a:r>
          </a:p>
        </p:txBody>
      </p:sp>
      <p:sp>
        <p:nvSpPr>
          <p:cNvPr id="12" name="Rectangle 11">
            <a:extLst>
              <a:ext uri="{FF2B5EF4-FFF2-40B4-BE49-F238E27FC236}">
                <a16:creationId xmlns:a16="http://schemas.microsoft.com/office/drawing/2014/main" id="{88D9B47C-C6F5-44C7-AACA-F1965D71BEAC}"/>
              </a:ext>
            </a:extLst>
          </p:cNvPr>
          <p:cNvSpPr>
            <a:spLocks noGrp="1"/>
          </p:cNvSpPr>
          <p:nvPr/>
        </p:nvSpPr>
        <p:spPr>
          <a:xfrm>
            <a:off x="3333750" y="2362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Read the monthly spend trend first, then use growth status to locate unusual changes. The Top 10 view explains concentration, and the risk scatter identifies groups combining spend, PO volume and flags.</a:t>
            </a:r>
          </a:p>
        </p:txBody>
      </p:sp>
      <p:sp>
        <p:nvSpPr>
          <p:cNvPr id="13" name="Rectangle 12">
            <a:extLst>
              <a:ext uri="{FF2B5EF4-FFF2-40B4-BE49-F238E27FC236}">
                <a16:creationId xmlns:a16="http://schemas.microsoft.com/office/drawing/2014/main" id="{A54663AC-3672-4D01-A7C8-7EB9C918CA85}"/>
              </a:ext>
            </a:extLst>
          </p:cNvPr>
          <p:cNvSpPr>
            <a:spLocks noGrp="1"/>
          </p:cNvSpPr>
          <p:nvPr/>
        </p:nvSpPr>
        <p:spPr>
          <a:xfrm>
            <a:off x="685800" y="3810000"/>
            <a:ext cx="57150" cy="129540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7A17129-6223-4E5C-962C-C2CB8A2262D6}"/>
              </a:ext>
            </a:extLst>
          </p:cNvPr>
          <p:cNvSpPr>
            <a:spLocks noGrp="1"/>
          </p:cNvSpPr>
          <p:nvPr/>
        </p:nvSpPr>
        <p:spPr>
          <a:xfrm>
            <a:off x="914400" y="3886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Decision value</a:t>
            </a:r>
          </a:p>
        </p:txBody>
      </p:sp>
      <p:sp>
        <p:nvSpPr>
          <p:cNvPr id="15" name="Rectangle 14">
            <a:extLst>
              <a:ext uri="{FF2B5EF4-FFF2-40B4-BE49-F238E27FC236}">
                <a16:creationId xmlns:a16="http://schemas.microsoft.com/office/drawing/2014/main" id="{787E3BB6-FB2D-4587-8E73-04B6B1319B8D}"/>
              </a:ext>
            </a:extLst>
          </p:cNvPr>
          <p:cNvSpPr>
            <a:spLocks noGrp="1"/>
          </p:cNvSpPr>
          <p:nvPr/>
        </p:nvSpPr>
        <p:spPr>
          <a:xfrm>
            <a:off x="3333750" y="3886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Procurement can focus category reviews on material group 1500 and other high-spend/high-risk groups while keeping zero-spend rows outside KPI totals but inside the audit trail.</a:t>
            </a:r>
          </a:p>
        </p:txBody>
      </p:sp>
      <p:sp>
        <p:nvSpPr>
          <p:cNvPr id="16" name="Rounded Rectangle 15">
            <a:extLst>
              <a:ext uri="{FF2B5EF4-FFF2-40B4-BE49-F238E27FC236}">
                <a16:creationId xmlns:a16="http://schemas.microsoft.com/office/drawing/2014/main" id="{D47C76BD-1D7E-42A0-96D6-F568060F82BA}"/>
              </a:ext>
            </a:extLst>
          </p:cNvPr>
          <p:cNvSpPr>
            <a:spLocks noGrp="1"/>
          </p:cNvSpPr>
          <p:nvPr/>
        </p:nvSpPr>
        <p:spPr>
          <a:xfrm>
            <a:off x="685800" y="54292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7" name="Rectangle 16">
            <a:extLst>
              <a:ext uri="{FF2B5EF4-FFF2-40B4-BE49-F238E27FC236}">
                <a16:creationId xmlns:a16="http://schemas.microsoft.com/office/drawing/2014/main" id="{9E825EE9-4519-4048-8F0A-662F722EE58B}"/>
              </a:ext>
            </a:extLst>
          </p:cNvPr>
          <p:cNvSpPr>
            <a:spLocks noGrp="1"/>
          </p:cNvSpPr>
          <p:nvPr/>
        </p:nvSpPr>
        <p:spPr>
          <a:xfrm>
            <a:off x="895350" y="5524500"/>
            <a:ext cx="10401300" cy="2667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The dashboard converts a volatile spend history into a ranked category-review agenda.</a:t>
            </a:r>
          </a:p>
        </p:txBody>
      </p:sp>
    </p:spTree>
    <p:extLst>
      <p:ext uri="{BB962C8B-B14F-4D97-AF65-F5344CB8AC3E}">
        <p14:creationId xmlns:p14="http://schemas.microsoft.com/office/powerpoint/2010/main" val="2470691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BD5F2D-37C1-4E43-96EE-22CC08DF4E42}"/>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3851CC47-D38F-42D4-A4EB-BE6054D28E36}"/>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D04 Record-to-Report Financial Performance</a:t>
            </a:r>
          </a:p>
        </p:txBody>
      </p:sp>
      <p:sp>
        <p:nvSpPr>
          <p:cNvPr id="3" name="Rectangle 2">
            <a:extLst>
              <a:ext uri="{FF2B5EF4-FFF2-40B4-BE49-F238E27FC236}">
                <a16:creationId xmlns:a16="http://schemas.microsoft.com/office/drawing/2014/main" id="{26222A66-EDF2-4AEB-8D55-7674DA1841E7}"/>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4 </a:t>
            </a:r>
            <a:r>
              <a:rPr lang="en-US" sz="1000" b="1" i="0" dirty="0">
                <a:solidFill>
                  <a:srgbClr val="C2410C"/>
                </a:solidFill>
              </a:rPr>
              <a:t>-</a:t>
            </a:r>
            <a:r>
              <a:rPr sz="1000" b="1" i="0" dirty="0">
                <a:solidFill>
                  <a:srgbClr val="C2410C"/>
                </a:solidFill>
              </a:rPr>
              <a:t> IMAGE</a:t>
            </a:r>
          </a:p>
        </p:txBody>
      </p:sp>
      <p:sp>
        <p:nvSpPr>
          <p:cNvPr id="4" name="Straight Connector 3">
            <a:extLst>
              <a:ext uri="{FF2B5EF4-FFF2-40B4-BE49-F238E27FC236}">
                <a16:creationId xmlns:a16="http://schemas.microsoft.com/office/drawing/2014/main" id="{44C042C1-2CD7-4C10-9B62-0B2F086D1E59}"/>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20A63048-AEC8-4040-BA88-A9A72E2D1EFD}"/>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544BC386-C5A0-44C0-98FC-EF343B13078C}"/>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45</a:t>
            </a:r>
          </a:p>
        </p:txBody>
      </p:sp>
      <p:sp>
        <p:nvSpPr>
          <p:cNvPr id="7" name="Rounded Rectangle 6">
            <a:extLst>
              <a:ext uri="{FF2B5EF4-FFF2-40B4-BE49-F238E27FC236}">
                <a16:creationId xmlns:a16="http://schemas.microsoft.com/office/drawing/2014/main" id="{CE6EF58F-F8B1-4F73-8EC5-0F5BB0A4617E}"/>
              </a:ext>
            </a:extLst>
          </p:cNvPr>
          <p:cNvSpPr>
            <a:spLocks noGrp="1"/>
          </p:cNvSpPr>
          <p:nvPr/>
        </p:nvSpPr>
        <p:spPr>
          <a:xfrm>
            <a:off x="552450" y="762000"/>
            <a:ext cx="11049000" cy="5695950"/>
          </a:xfrm>
          <a:prstGeom prst="roundRect">
            <a:avLst>
              <a:gd name="adj" fmla="val 1672"/>
            </a:avLst>
          </a:prstGeom>
          <a:solidFill>
            <a:srgbClr val="FFFDF9"/>
          </a:solidFill>
          <a:ln w="9525">
            <a:solidFill>
              <a:srgbClr val="F2C39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16" name="Picture 15"/>
          <p:cNvPicPr>
            <a:picLocks noChangeAspect="1"/>
          </p:cNvPicPr>
          <p:nvPr/>
        </p:nvPicPr>
        <p:blipFill>
          <a:blip r:embed="rId3"/>
          <a:stretch/>
        </p:blipFill>
        <p:spPr>
          <a:xfrm>
            <a:off x="1318698" y="838200"/>
            <a:ext cx="9516505" cy="5543550"/>
          </a:xfrm>
          <a:prstGeom prst="rect">
            <a:avLst/>
          </a:prstGeom>
        </p:spPr>
      </p:pic>
    </p:spTree>
    <p:extLst>
      <p:ext uri="{BB962C8B-B14F-4D97-AF65-F5344CB8AC3E}">
        <p14:creationId xmlns:p14="http://schemas.microsoft.com/office/powerpoint/2010/main" val="106101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3CA55EC-F025-4008-9CC7-F637919CC91E}"/>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3C684D53-EF8C-463E-8C94-DA51CC17ABE5}"/>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D04 explains performance and the accounts behind it</a:t>
            </a:r>
          </a:p>
        </p:txBody>
      </p:sp>
      <p:sp>
        <p:nvSpPr>
          <p:cNvPr id="3" name="Rectangle 2">
            <a:extLst>
              <a:ext uri="{FF2B5EF4-FFF2-40B4-BE49-F238E27FC236}">
                <a16:creationId xmlns:a16="http://schemas.microsoft.com/office/drawing/2014/main" id="{C318F4D0-92A7-40D5-98EB-9AABE0378ACB}"/>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dirty="0">
                <a:solidFill>
                  <a:srgbClr val="C2410C"/>
                </a:solidFill>
              </a:rPr>
              <a:t>DASHBOARD 4 </a:t>
            </a:r>
            <a:r>
              <a:rPr lang="en-US" sz="1000" b="1" i="0" dirty="0">
                <a:solidFill>
                  <a:srgbClr val="C2410C"/>
                </a:solidFill>
              </a:rPr>
              <a:t>-</a:t>
            </a:r>
            <a:r>
              <a:rPr sz="1000" b="1" i="0" dirty="0">
                <a:solidFill>
                  <a:srgbClr val="C2410C"/>
                </a:solidFill>
              </a:rPr>
              <a:t> EXPLANATION</a:t>
            </a:r>
          </a:p>
        </p:txBody>
      </p:sp>
      <p:sp>
        <p:nvSpPr>
          <p:cNvPr id="4" name="Straight Connector 3">
            <a:extLst>
              <a:ext uri="{FF2B5EF4-FFF2-40B4-BE49-F238E27FC236}">
                <a16:creationId xmlns:a16="http://schemas.microsoft.com/office/drawing/2014/main" id="{A52E19A6-C1E8-4C00-A50D-AE72B2057422}"/>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6C948D32-1F83-4E64-98DF-B8C439F42BD2}"/>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D4C242B8-298C-41E8-8E63-1C625AAA5BF6}"/>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46</a:t>
            </a:r>
          </a:p>
        </p:txBody>
      </p:sp>
      <p:sp>
        <p:nvSpPr>
          <p:cNvPr id="7" name="Rectangle 6">
            <a:extLst>
              <a:ext uri="{FF2B5EF4-FFF2-40B4-BE49-F238E27FC236}">
                <a16:creationId xmlns:a16="http://schemas.microsoft.com/office/drawing/2014/main" id="{3C481C67-9EAF-4C46-9F76-142280DA1755}"/>
              </a:ext>
            </a:extLst>
          </p:cNvPr>
          <p:cNvSpPr>
            <a:spLocks noGrp="1"/>
          </p:cNvSpPr>
          <p:nvPr/>
        </p:nvSpPr>
        <p:spPr>
          <a:xfrm>
            <a:off x="685800" y="990600"/>
            <a:ext cx="57150" cy="106680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8C8C45A7-10C4-4B8E-88DE-39B9052938C3}"/>
              </a:ext>
            </a:extLst>
          </p:cNvPr>
          <p:cNvSpPr>
            <a:spLocks noGrp="1"/>
          </p:cNvSpPr>
          <p:nvPr/>
        </p:nvSpPr>
        <p:spPr>
          <a:xfrm>
            <a:off x="914400" y="10668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Business purpose</a:t>
            </a:r>
          </a:p>
        </p:txBody>
      </p:sp>
      <p:sp>
        <p:nvSpPr>
          <p:cNvPr id="9" name="Rectangle 8">
            <a:extLst>
              <a:ext uri="{FF2B5EF4-FFF2-40B4-BE49-F238E27FC236}">
                <a16:creationId xmlns:a16="http://schemas.microsoft.com/office/drawing/2014/main" id="{545FC59E-1D2A-4E5D-B9B0-BC0CB4BDDAF0}"/>
              </a:ext>
            </a:extLst>
          </p:cNvPr>
          <p:cNvSpPr>
            <a:spLocks noGrp="1"/>
          </p:cNvSpPr>
          <p:nvPr/>
        </p:nvSpPr>
        <p:spPr>
          <a:xfrm>
            <a:off x="3333750" y="1066800"/>
            <a:ext cx="7810500" cy="9525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Connect revenue and expense movements to profit, margin, account contributions and journal-level investigation risk.</a:t>
            </a:r>
          </a:p>
        </p:txBody>
      </p:sp>
      <p:sp>
        <p:nvSpPr>
          <p:cNvPr id="10" name="Rectangle 9">
            <a:extLst>
              <a:ext uri="{FF2B5EF4-FFF2-40B4-BE49-F238E27FC236}">
                <a16:creationId xmlns:a16="http://schemas.microsoft.com/office/drawing/2014/main" id="{5A72B02C-D06D-4828-B155-FE90A03460CD}"/>
              </a:ext>
            </a:extLst>
          </p:cNvPr>
          <p:cNvSpPr>
            <a:spLocks noGrp="1"/>
          </p:cNvSpPr>
          <p:nvPr/>
        </p:nvSpPr>
        <p:spPr>
          <a:xfrm>
            <a:off x="685800" y="2286000"/>
            <a:ext cx="57150" cy="129540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CD001852-5ADC-4E16-B4D0-61C67EDF3E0B}"/>
              </a:ext>
            </a:extLst>
          </p:cNvPr>
          <p:cNvSpPr>
            <a:spLocks noGrp="1"/>
          </p:cNvSpPr>
          <p:nvPr/>
        </p:nvSpPr>
        <p:spPr>
          <a:xfrm>
            <a:off x="914400" y="2362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Reading sequence</a:t>
            </a:r>
          </a:p>
        </p:txBody>
      </p:sp>
      <p:sp>
        <p:nvSpPr>
          <p:cNvPr id="12" name="Rectangle 11">
            <a:extLst>
              <a:ext uri="{FF2B5EF4-FFF2-40B4-BE49-F238E27FC236}">
                <a16:creationId xmlns:a16="http://schemas.microsoft.com/office/drawing/2014/main" id="{67D75FF4-9BDF-415B-999E-F7D0FBADF1D8}"/>
              </a:ext>
            </a:extLst>
          </p:cNvPr>
          <p:cNvSpPr>
            <a:spLocks noGrp="1"/>
          </p:cNvSpPr>
          <p:nvPr/>
        </p:nvSpPr>
        <p:spPr>
          <a:xfrm>
            <a:off x="3333750" y="2362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Begin with revenue versus expenses, then verify the effect on profit and margin. Use net movement to identify the main financial drivers and the risk scatter to locate accounts needing review.</a:t>
            </a:r>
          </a:p>
        </p:txBody>
      </p:sp>
      <p:sp>
        <p:nvSpPr>
          <p:cNvPr id="13" name="Rectangle 12">
            <a:extLst>
              <a:ext uri="{FF2B5EF4-FFF2-40B4-BE49-F238E27FC236}">
                <a16:creationId xmlns:a16="http://schemas.microsoft.com/office/drawing/2014/main" id="{C22BC0AF-9476-4B0C-9696-CCCD2C0744E4}"/>
              </a:ext>
            </a:extLst>
          </p:cNvPr>
          <p:cNvSpPr>
            <a:spLocks noGrp="1"/>
          </p:cNvSpPr>
          <p:nvPr/>
        </p:nvSpPr>
        <p:spPr>
          <a:xfrm>
            <a:off x="685800" y="3810000"/>
            <a:ext cx="57150" cy="129540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D764C82-AC0E-449F-B85D-F5C21B47941F}"/>
              </a:ext>
            </a:extLst>
          </p:cNvPr>
          <p:cNvSpPr>
            <a:spLocks noGrp="1"/>
          </p:cNvSpPr>
          <p:nvPr/>
        </p:nvSpPr>
        <p:spPr>
          <a:xfrm>
            <a:off x="914400" y="3886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Decision value</a:t>
            </a:r>
          </a:p>
        </p:txBody>
      </p:sp>
      <p:sp>
        <p:nvSpPr>
          <p:cNvPr id="15" name="Rectangle 14">
            <a:extLst>
              <a:ext uri="{FF2B5EF4-FFF2-40B4-BE49-F238E27FC236}">
                <a16:creationId xmlns:a16="http://schemas.microsoft.com/office/drawing/2014/main" id="{71C00999-D7F6-48D5-8DE5-C9F4672CF88F}"/>
              </a:ext>
            </a:extLst>
          </p:cNvPr>
          <p:cNvSpPr>
            <a:spLocks noGrp="1"/>
          </p:cNvSpPr>
          <p:nvPr/>
        </p:nvSpPr>
        <p:spPr>
          <a:xfrm>
            <a:off x="3333750" y="3886200"/>
            <a:ext cx="7810500" cy="118110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Controllers can distinguish operating performance from accounting-driver effects and prioritise accounts with large postings, high volume or elevated investigation flags.</a:t>
            </a:r>
          </a:p>
        </p:txBody>
      </p:sp>
      <p:sp>
        <p:nvSpPr>
          <p:cNvPr id="16" name="Rounded Rectangle 15">
            <a:extLst>
              <a:ext uri="{FF2B5EF4-FFF2-40B4-BE49-F238E27FC236}">
                <a16:creationId xmlns:a16="http://schemas.microsoft.com/office/drawing/2014/main" id="{1A60DEC3-FB65-490D-AE72-861EEC545866}"/>
              </a:ext>
            </a:extLst>
          </p:cNvPr>
          <p:cNvSpPr>
            <a:spLocks noGrp="1"/>
          </p:cNvSpPr>
          <p:nvPr/>
        </p:nvSpPr>
        <p:spPr>
          <a:xfrm>
            <a:off x="685800" y="542925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17" name="Rectangle 16">
            <a:extLst>
              <a:ext uri="{FF2B5EF4-FFF2-40B4-BE49-F238E27FC236}">
                <a16:creationId xmlns:a16="http://schemas.microsoft.com/office/drawing/2014/main" id="{037ADE05-63C3-4FEE-BA6B-710B432DD92B}"/>
              </a:ext>
            </a:extLst>
          </p:cNvPr>
          <p:cNvSpPr>
            <a:spLocks noGrp="1"/>
          </p:cNvSpPr>
          <p:nvPr/>
        </p:nvSpPr>
        <p:spPr>
          <a:xfrm>
            <a:off x="895350" y="5524500"/>
            <a:ext cx="10401300" cy="2667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The dashboard progresses from P&amp;L outcome to account-level explanation and control review.</a:t>
            </a:r>
          </a:p>
        </p:txBody>
      </p:sp>
    </p:spTree>
    <p:extLst>
      <p:ext uri="{BB962C8B-B14F-4D97-AF65-F5344CB8AC3E}">
        <p14:creationId xmlns:p14="http://schemas.microsoft.com/office/powerpoint/2010/main" val="1686865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0E2"/>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ABECCFB-3497-491B-97A6-6A4838E9A813}"/>
              </a:ext>
            </a:extLst>
          </p:cNvPr>
          <p:cNvSpPr>
            <a:spLocks noGrp="1"/>
          </p:cNvSpPr>
          <p:nvPr/>
        </p:nvSpPr>
        <p:spPr>
          <a:xfrm>
            <a:off x="0" y="0"/>
            <a:ext cx="114300" cy="6858000"/>
          </a:xfrm>
          <a:prstGeom prst="rect">
            <a:avLst/>
          </a:prstGeom>
          <a:solidFill>
            <a:srgbClr val="F97316"/>
          </a:solidFill>
          <a:ln w="0">
            <a:noFill/>
            <a:prstDash val="solid"/>
          </a:ln>
        </p:spPr>
        <p:txBody>
          <a:bodyPr/>
          <a:lstStyle/>
          <a:p>
            <a:endParaRPr lang="en-US"/>
          </a:p>
        </p:txBody>
      </p:sp>
      <p:sp>
        <p:nvSpPr>
          <p:cNvPr id="2" name="Rectangle 1">
            <a:extLst>
              <a:ext uri="{FF2B5EF4-FFF2-40B4-BE49-F238E27FC236}">
                <a16:creationId xmlns:a16="http://schemas.microsoft.com/office/drawing/2014/main" id="{87F239C3-069F-4283-9E0A-3EBCAE7BE8D1}"/>
              </a:ext>
            </a:extLst>
          </p:cNvPr>
          <p:cNvSpPr>
            <a:spLocks noGrp="1"/>
          </p:cNvSpPr>
          <p:nvPr/>
        </p:nvSpPr>
        <p:spPr>
          <a:xfrm>
            <a:off x="495300" y="209550"/>
            <a:ext cx="8858250" cy="323850"/>
          </a:xfrm>
          <a:prstGeom prst="rect">
            <a:avLst/>
          </a:prstGeom>
          <a:noFill/>
          <a:ln w="0">
            <a:noFill/>
            <a:prstDash val="solid"/>
          </a:ln>
        </p:spPr>
        <p:txBody>
          <a:bodyPr/>
          <a:lstStyle/>
          <a:p>
            <a:pPr algn="l">
              <a:defRPr sz="1600" b="1" i="0">
                <a:solidFill>
                  <a:srgbClr val="252525"/>
                </a:solidFill>
              </a:defRPr>
            </a:pPr>
            <a:r>
              <a:rPr sz="1600" b="1" i="0">
                <a:solidFill>
                  <a:srgbClr val="252525"/>
                </a:solidFill>
              </a:rPr>
              <a:t>The project delivers a traceable finance analytics pipeline</a:t>
            </a:r>
          </a:p>
        </p:txBody>
      </p:sp>
      <p:sp>
        <p:nvSpPr>
          <p:cNvPr id="3" name="Rectangle 2">
            <a:extLst>
              <a:ext uri="{FF2B5EF4-FFF2-40B4-BE49-F238E27FC236}">
                <a16:creationId xmlns:a16="http://schemas.microsoft.com/office/drawing/2014/main" id="{4E55B5A4-1052-4FDF-9FDF-C8EF3C57D0C8}"/>
              </a:ext>
            </a:extLst>
          </p:cNvPr>
          <p:cNvSpPr>
            <a:spLocks noGrp="1"/>
          </p:cNvSpPr>
          <p:nvPr/>
        </p:nvSpPr>
        <p:spPr>
          <a:xfrm>
            <a:off x="9525000" y="228600"/>
            <a:ext cx="2095500" cy="22860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CONCLUSION</a:t>
            </a:r>
          </a:p>
        </p:txBody>
      </p:sp>
      <p:sp>
        <p:nvSpPr>
          <p:cNvPr id="4" name="Straight Connector 3">
            <a:extLst>
              <a:ext uri="{FF2B5EF4-FFF2-40B4-BE49-F238E27FC236}">
                <a16:creationId xmlns:a16="http://schemas.microsoft.com/office/drawing/2014/main" id="{AA015206-7758-4E39-B00C-72D459D9D287}"/>
              </a:ext>
            </a:extLst>
          </p:cNvPr>
          <p:cNvSpPr>
            <a:spLocks noGrp="1"/>
          </p:cNvSpPr>
          <p:nvPr/>
        </p:nvSpPr>
        <p:spPr>
          <a:xfrm>
            <a:off x="495300" y="600075"/>
            <a:ext cx="11125200" cy="0"/>
          </a:xfrm>
          <a:prstGeom prst="line">
            <a:avLst/>
          </a:prstGeom>
          <a:noFill/>
          <a:ln w="9525">
            <a:solidFill>
              <a:srgbClr val="F2C39E"/>
            </a:solidFill>
            <a:prstDash val="solid"/>
          </a:ln>
        </p:spPr>
        <p:txBody>
          <a:bodyPr/>
          <a:lstStyle/>
          <a:p>
            <a:endParaRPr lang="en-US"/>
          </a:p>
        </p:txBody>
      </p:sp>
      <p:sp>
        <p:nvSpPr>
          <p:cNvPr id="5" name="Rectangle 4">
            <a:extLst>
              <a:ext uri="{FF2B5EF4-FFF2-40B4-BE49-F238E27FC236}">
                <a16:creationId xmlns:a16="http://schemas.microsoft.com/office/drawing/2014/main" id="{BD2378AB-E02F-41C3-A608-A6A4B293C280}"/>
              </a:ext>
            </a:extLst>
          </p:cNvPr>
          <p:cNvSpPr>
            <a:spLocks noGrp="1"/>
          </p:cNvSpPr>
          <p:nvPr/>
        </p:nvSpPr>
        <p:spPr>
          <a:xfrm>
            <a:off x="495300" y="6572250"/>
            <a:ext cx="3429000" cy="171450"/>
          </a:xfrm>
          <a:prstGeom prst="rect">
            <a:avLst/>
          </a:prstGeom>
          <a:noFill/>
          <a:ln w="0">
            <a:noFill/>
            <a:prstDash val="solid"/>
          </a:ln>
        </p:spPr>
        <p:txBody>
          <a:bodyPr/>
          <a:lstStyle/>
          <a:p>
            <a:pPr algn="l">
              <a:defRPr sz="1000" b="0" i="0">
                <a:solidFill>
                  <a:srgbClr val="666666"/>
                </a:solidFill>
              </a:defRPr>
            </a:pPr>
            <a:r>
              <a:rPr sz="1000" b="0" i="0">
                <a:solidFill>
                  <a:srgbClr val="666666"/>
                </a:solidFill>
              </a:rPr>
              <a:t>Global Finance Operations Analytics</a:t>
            </a:r>
          </a:p>
        </p:txBody>
      </p:sp>
      <p:sp>
        <p:nvSpPr>
          <p:cNvPr id="6" name="Rectangle 5">
            <a:extLst>
              <a:ext uri="{FF2B5EF4-FFF2-40B4-BE49-F238E27FC236}">
                <a16:creationId xmlns:a16="http://schemas.microsoft.com/office/drawing/2014/main" id="{5E886777-4C42-4608-9EFF-60DC7FDF78DC}"/>
              </a:ext>
            </a:extLst>
          </p:cNvPr>
          <p:cNvSpPr>
            <a:spLocks noGrp="1"/>
          </p:cNvSpPr>
          <p:nvPr/>
        </p:nvSpPr>
        <p:spPr>
          <a:xfrm>
            <a:off x="11125200" y="6572250"/>
            <a:ext cx="495300" cy="171450"/>
          </a:xfrm>
          <a:prstGeom prst="rect">
            <a:avLst/>
          </a:prstGeom>
          <a:noFill/>
          <a:ln w="0">
            <a:noFill/>
            <a:prstDash val="solid"/>
          </a:ln>
        </p:spPr>
        <p:txBody>
          <a:bodyPr/>
          <a:lstStyle/>
          <a:p>
            <a:pPr algn="r">
              <a:defRPr sz="1000" b="1" i="0">
                <a:solidFill>
                  <a:srgbClr val="C2410C"/>
                </a:solidFill>
              </a:defRPr>
            </a:pPr>
            <a:r>
              <a:rPr sz="1000" b="1" i="0">
                <a:solidFill>
                  <a:srgbClr val="C2410C"/>
                </a:solidFill>
              </a:rPr>
              <a:t>47</a:t>
            </a:r>
          </a:p>
        </p:txBody>
      </p:sp>
      <p:sp>
        <p:nvSpPr>
          <p:cNvPr id="7" name="Rectangle 6">
            <a:extLst>
              <a:ext uri="{FF2B5EF4-FFF2-40B4-BE49-F238E27FC236}">
                <a16:creationId xmlns:a16="http://schemas.microsoft.com/office/drawing/2014/main" id="{4C9E244C-2C11-44B3-98A5-31EB213A0B52}"/>
              </a:ext>
            </a:extLst>
          </p:cNvPr>
          <p:cNvSpPr>
            <a:spLocks noGrp="1"/>
          </p:cNvSpPr>
          <p:nvPr/>
        </p:nvSpPr>
        <p:spPr>
          <a:xfrm>
            <a:off x="685800" y="1066800"/>
            <a:ext cx="57150" cy="933450"/>
          </a:xfrm>
          <a:prstGeom prst="rect">
            <a:avLst/>
          </a:prstGeom>
          <a:solidFill>
            <a:srgbClr val="F97316"/>
          </a:solidFill>
          <a:ln w="0">
            <a:noFill/>
            <a:prstDash val="solid"/>
          </a:ln>
        </p:spPr>
        <p:txBody>
          <a:bodyPr/>
          <a:lstStyle/>
          <a:p>
            <a:endParaRPr lang="en-US"/>
          </a:p>
        </p:txBody>
      </p:sp>
      <p:sp>
        <p:nvSpPr>
          <p:cNvPr id="8" name="Rectangle 7">
            <a:extLst>
              <a:ext uri="{FF2B5EF4-FFF2-40B4-BE49-F238E27FC236}">
                <a16:creationId xmlns:a16="http://schemas.microsoft.com/office/drawing/2014/main" id="{8DCFD14A-1545-4B4F-B787-D94ECDF32306}"/>
              </a:ext>
            </a:extLst>
          </p:cNvPr>
          <p:cNvSpPr>
            <a:spLocks noGrp="1"/>
          </p:cNvSpPr>
          <p:nvPr/>
        </p:nvSpPr>
        <p:spPr>
          <a:xfrm>
            <a:off x="914400" y="11430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Analytical integrity</a:t>
            </a:r>
          </a:p>
        </p:txBody>
      </p:sp>
      <p:sp>
        <p:nvSpPr>
          <p:cNvPr id="9" name="Rectangle 8">
            <a:extLst>
              <a:ext uri="{FF2B5EF4-FFF2-40B4-BE49-F238E27FC236}">
                <a16:creationId xmlns:a16="http://schemas.microsoft.com/office/drawing/2014/main" id="{86523F34-F98A-4974-B654-DBE77729687C}"/>
              </a:ext>
            </a:extLst>
          </p:cNvPr>
          <p:cNvSpPr>
            <a:spLocks noGrp="1"/>
          </p:cNvSpPr>
          <p:nvPr/>
        </p:nvSpPr>
        <p:spPr>
          <a:xfrm>
            <a:off x="3333750" y="1143000"/>
            <a:ext cx="7810500" cy="8191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Source-specific date coverage is respected, unusual records are flagged rather than hidden, and processed totals reconcile to source data.</a:t>
            </a:r>
          </a:p>
        </p:txBody>
      </p:sp>
      <p:sp>
        <p:nvSpPr>
          <p:cNvPr id="10" name="Rectangle 9">
            <a:extLst>
              <a:ext uri="{FF2B5EF4-FFF2-40B4-BE49-F238E27FC236}">
                <a16:creationId xmlns:a16="http://schemas.microsoft.com/office/drawing/2014/main" id="{B94988B4-6936-4146-9206-9EBDFF5C8603}"/>
              </a:ext>
            </a:extLst>
          </p:cNvPr>
          <p:cNvSpPr>
            <a:spLocks noGrp="1"/>
          </p:cNvSpPr>
          <p:nvPr/>
        </p:nvSpPr>
        <p:spPr>
          <a:xfrm>
            <a:off x="685800" y="2247900"/>
            <a:ext cx="57150" cy="933450"/>
          </a:xfrm>
          <a:prstGeom prst="rect">
            <a:avLst/>
          </a:prstGeom>
          <a:solidFill>
            <a:srgbClr val="FDBA7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FBC3B918-28EE-4C1B-BD2A-717D752754E7}"/>
              </a:ext>
            </a:extLst>
          </p:cNvPr>
          <p:cNvSpPr>
            <a:spLocks noGrp="1"/>
          </p:cNvSpPr>
          <p:nvPr/>
        </p:nvSpPr>
        <p:spPr>
          <a:xfrm>
            <a:off x="914400" y="23241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Governed data layer</a:t>
            </a:r>
          </a:p>
        </p:txBody>
      </p:sp>
      <p:sp>
        <p:nvSpPr>
          <p:cNvPr id="12" name="Rectangle 11">
            <a:extLst>
              <a:ext uri="{FF2B5EF4-FFF2-40B4-BE49-F238E27FC236}">
                <a16:creationId xmlns:a16="http://schemas.microsoft.com/office/drawing/2014/main" id="{40F7D242-7415-41FB-988D-41C335C71D1A}"/>
              </a:ext>
            </a:extLst>
          </p:cNvPr>
          <p:cNvSpPr>
            <a:spLocks noGrp="1"/>
          </p:cNvSpPr>
          <p:nvPr/>
        </p:nvSpPr>
        <p:spPr>
          <a:xfrm>
            <a:off x="3333750" y="2324100"/>
            <a:ext cx="7810500" cy="8191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PostgreSQL schemas, keys, indexes and reusable analytical views provide a controlled interface for downstream reporting.</a:t>
            </a:r>
          </a:p>
        </p:txBody>
      </p:sp>
      <p:sp>
        <p:nvSpPr>
          <p:cNvPr id="13" name="Rectangle 12">
            <a:extLst>
              <a:ext uri="{FF2B5EF4-FFF2-40B4-BE49-F238E27FC236}">
                <a16:creationId xmlns:a16="http://schemas.microsoft.com/office/drawing/2014/main" id="{402826DC-27FB-4D95-884F-5DB1DF9EE15E}"/>
              </a:ext>
            </a:extLst>
          </p:cNvPr>
          <p:cNvSpPr>
            <a:spLocks noGrp="1"/>
          </p:cNvSpPr>
          <p:nvPr/>
        </p:nvSpPr>
        <p:spPr>
          <a:xfrm>
            <a:off x="685800" y="3429000"/>
            <a:ext cx="57150" cy="933450"/>
          </a:xfrm>
          <a:prstGeom prst="rect">
            <a:avLst/>
          </a:prstGeom>
          <a:solidFill>
            <a:srgbClr val="C2410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DF23A9C-6A9F-4743-94C8-98516E619074}"/>
              </a:ext>
            </a:extLst>
          </p:cNvPr>
          <p:cNvSpPr>
            <a:spLocks noGrp="1"/>
          </p:cNvSpPr>
          <p:nvPr/>
        </p:nvSpPr>
        <p:spPr>
          <a:xfrm>
            <a:off x="914400" y="35052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Decision-ready reporting</a:t>
            </a:r>
          </a:p>
        </p:txBody>
      </p:sp>
      <p:sp>
        <p:nvSpPr>
          <p:cNvPr id="15" name="Rectangle 14">
            <a:extLst>
              <a:ext uri="{FF2B5EF4-FFF2-40B4-BE49-F238E27FC236}">
                <a16:creationId xmlns:a16="http://schemas.microsoft.com/office/drawing/2014/main" id="{1FAE9F73-A317-4116-97F5-39AD11D7EA0C}"/>
              </a:ext>
            </a:extLst>
          </p:cNvPr>
          <p:cNvSpPr>
            <a:spLocks noGrp="1"/>
          </p:cNvSpPr>
          <p:nvPr/>
        </p:nvSpPr>
        <p:spPr>
          <a:xfrm>
            <a:off x="3333750" y="3505200"/>
            <a:ext cx="7810500" cy="8191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Sixteen worksheets and four dashboards translate finance operations into trends, concentration, profitability and investigation priorities.</a:t>
            </a:r>
          </a:p>
        </p:txBody>
      </p:sp>
      <p:sp>
        <p:nvSpPr>
          <p:cNvPr id="16" name="Rectangle 15">
            <a:extLst>
              <a:ext uri="{FF2B5EF4-FFF2-40B4-BE49-F238E27FC236}">
                <a16:creationId xmlns:a16="http://schemas.microsoft.com/office/drawing/2014/main" id="{64DCF6A2-E657-4DB9-AA5C-C7E5047E86B1}"/>
              </a:ext>
            </a:extLst>
          </p:cNvPr>
          <p:cNvSpPr>
            <a:spLocks noGrp="1"/>
          </p:cNvSpPr>
          <p:nvPr/>
        </p:nvSpPr>
        <p:spPr>
          <a:xfrm>
            <a:off x="685800" y="4610100"/>
            <a:ext cx="57150" cy="933450"/>
          </a:xfrm>
          <a:prstGeom prst="rect">
            <a:avLst/>
          </a:prstGeom>
          <a:solidFill>
            <a:srgbClr val="76B7B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50AC0CBE-5A42-455B-890F-F976B3784785}"/>
              </a:ext>
            </a:extLst>
          </p:cNvPr>
          <p:cNvSpPr>
            <a:spLocks noGrp="1"/>
          </p:cNvSpPr>
          <p:nvPr/>
        </p:nvSpPr>
        <p:spPr>
          <a:xfrm>
            <a:off x="914400" y="4686300"/>
            <a:ext cx="2333625" cy="266700"/>
          </a:xfrm>
          <a:prstGeom prst="rect">
            <a:avLst/>
          </a:prstGeom>
          <a:noFill/>
          <a:ln w="0">
            <a:noFill/>
            <a:prstDash val="solid"/>
          </a:ln>
        </p:spPr>
        <p:txBody>
          <a:bodyPr/>
          <a:lstStyle/>
          <a:p>
            <a:pPr algn="l">
              <a:defRPr sz="1400" b="1" i="0">
                <a:solidFill>
                  <a:srgbClr val="252525"/>
                </a:solidFill>
              </a:defRPr>
            </a:pPr>
            <a:r>
              <a:rPr sz="1400" b="1" i="0">
                <a:solidFill>
                  <a:srgbClr val="252525"/>
                </a:solidFill>
              </a:rPr>
              <a:t>Reusable handoff</a:t>
            </a:r>
          </a:p>
        </p:txBody>
      </p:sp>
      <p:sp>
        <p:nvSpPr>
          <p:cNvPr id="18" name="Rectangle 17">
            <a:extLst>
              <a:ext uri="{FF2B5EF4-FFF2-40B4-BE49-F238E27FC236}">
                <a16:creationId xmlns:a16="http://schemas.microsoft.com/office/drawing/2014/main" id="{9F3EB545-FF55-455A-B536-77C9DBF30401}"/>
              </a:ext>
            </a:extLst>
          </p:cNvPr>
          <p:cNvSpPr>
            <a:spLocks noGrp="1"/>
          </p:cNvSpPr>
          <p:nvPr/>
        </p:nvSpPr>
        <p:spPr>
          <a:xfrm>
            <a:off x="3333750" y="4686300"/>
            <a:ext cx="7810500" cy="819150"/>
          </a:xfrm>
          <a:prstGeom prst="rect">
            <a:avLst/>
          </a:prstGeom>
          <a:noFill/>
          <a:ln w="0">
            <a:noFill/>
            <a:prstDash val="solid"/>
          </a:ln>
        </p:spPr>
        <p:txBody>
          <a:bodyPr/>
          <a:lstStyle/>
          <a:p>
            <a:pPr algn="l">
              <a:defRPr sz="1400" b="0" i="0">
                <a:solidFill>
                  <a:srgbClr val="666666"/>
                </a:solidFill>
              </a:defRPr>
            </a:pPr>
            <a:r>
              <a:rPr sz="1400" b="0" i="0">
                <a:solidFill>
                  <a:srgbClr val="666666"/>
                </a:solidFill>
              </a:rPr>
              <a:t>Seven view extracts can be moved to another device or connected in Tableau, while the notebook and SQL report preserve the full technical evidence trail.</a:t>
            </a:r>
          </a:p>
        </p:txBody>
      </p:sp>
      <p:sp>
        <p:nvSpPr>
          <p:cNvPr id="19" name="Rounded Rectangle 18">
            <a:extLst>
              <a:ext uri="{FF2B5EF4-FFF2-40B4-BE49-F238E27FC236}">
                <a16:creationId xmlns:a16="http://schemas.microsoft.com/office/drawing/2014/main" id="{D023B4BE-AE13-474E-A370-72B65CE7E20D}"/>
              </a:ext>
            </a:extLst>
          </p:cNvPr>
          <p:cNvSpPr>
            <a:spLocks noGrp="1"/>
          </p:cNvSpPr>
          <p:nvPr/>
        </p:nvSpPr>
        <p:spPr>
          <a:xfrm>
            <a:off x="685800" y="5753100"/>
            <a:ext cx="10820400" cy="457200"/>
          </a:xfrm>
          <a:prstGeom prst="roundRect">
            <a:avLst>
              <a:gd name="adj" fmla="val 20833"/>
            </a:avLst>
          </a:prstGeom>
          <a:solidFill>
            <a:srgbClr val="FFE0C2"/>
          </a:solidFill>
          <a:ln w="9525">
            <a:solidFill>
              <a:srgbClr val="FDBA74"/>
            </a:solidFill>
            <a:prstDash val="solid"/>
          </a:ln>
        </p:spPr>
        <p:txBody>
          <a:bodyPr/>
          <a:lstStyle/>
          <a:p>
            <a:endParaRPr lang="en-US"/>
          </a:p>
        </p:txBody>
      </p:sp>
      <p:sp>
        <p:nvSpPr>
          <p:cNvPr id="20" name="Rectangle 19">
            <a:extLst>
              <a:ext uri="{FF2B5EF4-FFF2-40B4-BE49-F238E27FC236}">
                <a16:creationId xmlns:a16="http://schemas.microsoft.com/office/drawing/2014/main" id="{DE52EA09-C254-4BBF-A2CB-4BCAA288610B}"/>
              </a:ext>
            </a:extLst>
          </p:cNvPr>
          <p:cNvSpPr>
            <a:spLocks noGrp="1"/>
          </p:cNvSpPr>
          <p:nvPr/>
        </p:nvSpPr>
        <p:spPr>
          <a:xfrm>
            <a:off x="895350" y="5848350"/>
            <a:ext cx="10401300" cy="266700"/>
          </a:xfrm>
          <a:prstGeom prst="rect">
            <a:avLst/>
          </a:prstGeom>
          <a:noFill/>
          <a:ln w="0">
            <a:noFill/>
            <a:prstDash val="solid"/>
          </a:ln>
        </p:spPr>
        <p:txBody>
          <a:bodyPr/>
          <a:lstStyle/>
          <a:p>
            <a:pPr algn="l">
              <a:defRPr sz="1400" b="1" i="0">
                <a:solidFill>
                  <a:srgbClr val="C2410C"/>
                </a:solidFill>
              </a:defRPr>
            </a:pPr>
            <a:r>
              <a:rPr sz="1400" b="1" i="0">
                <a:solidFill>
                  <a:srgbClr val="C2410C"/>
                </a:solidFill>
              </a:rPr>
              <a:t>Outcome: an end-to-end portfolio project spanning Python, PostgreSQL and Tableau.</a:t>
            </a:r>
          </a:p>
        </p:txBody>
      </p:sp>
    </p:spTree>
    <p:extLst>
      <p:ext uri="{BB962C8B-B14F-4D97-AF65-F5344CB8AC3E}">
        <p14:creationId xmlns:p14="http://schemas.microsoft.com/office/powerpoint/2010/main" val="16399749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4587</Words>
  <Application>Microsoft Macintosh PowerPoint</Application>
  <DocSecurity>0</DocSecurity>
  <PresentationFormat>Widescreen</PresentationFormat>
  <Paragraphs>622</Paragraphs>
  <Slides>47</Slides>
  <Notes>47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47</vt:i4>
      </vt:variant>
    </vt:vector>
  </HeadingPairs>
  <TitlesOfParts>
    <vt:vector size="4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Tanishk Shinde</cp:lastModifiedBy>
  <cp:revision>1</cp:revision>
  <dcterms:created xsi:type="dcterms:W3CDTF">2026-08-16T11:11:19Z</dcterms:created>
  <dcterms:modified xsi:type="dcterms:W3CDTF">2026-08-16T16:20:57Z</dcterms:modified>
</cp:coreProperties>
</file>